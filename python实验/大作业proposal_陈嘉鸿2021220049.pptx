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49" r:id="rId3"/>
  </p:sldMasterIdLst>
  <p:notesMasterIdLst>
    <p:notesMasterId r:id="rId5"/>
  </p:notesMasterIdLst>
  <p:sldIdLst>
    <p:sldId id="364" r:id="rId4"/>
    <p:sldId id="342" r:id="rId6"/>
    <p:sldId id="344" r:id="rId7"/>
    <p:sldId id="365" r:id="rId8"/>
    <p:sldId id="346" r:id="rId9"/>
    <p:sldId id="367" r:id="rId10"/>
    <p:sldId id="347" r:id="rId11"/>
    <p:sldId id="330" r:id="rId12"/>
    <p:sldId id="386" r:id="rId13"/>
    <p:sldId id="348" r:id="rId14"/>
    <p:sldId id="377" r:id="rId15"/>
    <p:sldId id="378" r:id="rId16"/>
    <p:sldId id="379" r:id="rId17"/>
    <p:sldId id="380" r:id="rId18"/>
    <p:sldId id="381" r:id="rId19"/>
    <p:sldId id="382" r:id="rId20"/>
    <p:sldId id="376" r:id="rId21"/>
    <p:sldId id="368" r:id="rId22"/>
    <p:sldId id="366" r:id="rId23"/>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0F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64" d="100"/>
          <a:sy n="64" d="100"/>
        </p:scale>
        <p:origin x="486" y="192"/>
      </p:cViewPr>
      <p:guideLst>
        <p:guide orient="horz" pos="2160"/>
        <p:guide pos="385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gs" Target="tags/tag9.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A3340-C542-46E3-BB6B-1E3F28D53E8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EAA4AF-B0AE-42C7-9AD8-C74E868F580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16" name="Picture Placeholder 15"/>
          <p:cNvSpPr>
            <a:spLocks noGrp="1"/>
          </p:cNvSpPr>
          <p:nvPr>
            <p:ph type="pic" sz="quarter" idx="14"/>
          </p:nvPr>
        </p:nvSpPr>
        <p:spPr>
          <a:xfrm>
            <a:off x="996950" y="1933575"/>
            <a:ext cx="2382838" cy="4010025"/>
          </a:xfrm>
          <a:prstGeom prst="rect">
            <a:avLst/>
          </a:prstGeom>
        </p:spPr>
        <p:txBody>
          <a:bodyPr/>
          <a:lstStyle/>
          <a:p>
            <a:endParaRPr lang="en-US"/>
          </a:p>
        </p:txBody>
      </p:sp>
      <p:sp>
        <p:nvSpPr>
          <p:cNvPr id="17" name="Picture Placeholder 15"/>
          <p:cNvSpPr>
            <a:spLocks noGrp="1"/>
          </p:cNvSpPr>
          <p:nvPr>
            <p:ph type="pic" sz="quarter" idx="15"/>
          </p:nvPr>
        </p:nvSpPr>
        <p:spPr>
          <a:xfrm>
            <a:off x="3499010" y="3995928"/>
            <a:ext cx="4151855" cy="1947672"/>
          </a:xfrm>
          <a:prstGeom prst="rect">
            <a:avLst/>
          </a:prstGeom>
        </p:spPr>
        <p:txBody>
          <a:bodyPr/>
          <a:lstStyle/>
          <a:p>
            <a:endParaRPr lang="en-US"/>
          </a:p>
        </p:txBody>
      </p:sp>
      <p:sp>
        <p:nvSpPr>
          <p:cNvPr id="18" name="Picture Placeholder 15"/>
          <p:cNvSpPr>
            <a:spLocks noGrp="1"/>
          </p:cNvSpPr>
          <p:nvPr>
            <p:ph type="pic" sz="quarter" idx="16"/>
          </p:nvPr>
        </p:nvSpPr>
        <p:spPr>
          <a:xfrm>
            <a:off x="3499010" y="1948344"/>
            <a:ext cx="2011680" cy="1947672"/>
          </a:xfrm>
          <a:prstGeom prst="rect">
            <a:avLst/>
          </a:prstGeom>
        </p:spPr>
        <p:txBody>
          <a:bodyPr/>
          <a:lstStyle/>
          <a:p>
            <a:endParaRPr lang="en-US"/>
          </a:p>
        </p:txBody>
      </p:sp>
      <p:sp>
        <p:nvSpPr>
          <p:cNvPr id="19" name="Picture Placeholder 15"/>
          <p:cNvSpPr>
            <a:spLocks noGrp="1"/>
          </p:cNvSpPr>
          <p:nvPr>
            <p:ph type="pic" sz="quarter" idx="17"/>
          </p:nvPr>
        </p:nvSpPr>
        <p:spPr>
          <a:xfrm>
            <a:off x="5629912" y="1948344"/>
            <a:ext cx="2011680" cy="1947672"/>
          </a:xfrm>
          <a:prstGeom prst="rect">
            <a:avLst/>
          </a:prstGeom>
        </p:spPr>
        <p:txBody>
          <a:bodyPr/>
          <a:lstStyle/>
          <a:p>
            <a:endParaRPr lang="en-US"/>
          </a:p>
        </p:txBody>
      </p:sp>
      <p:sp>
        <p:nvSpPr>
          <p:cNvPr id="20" name="Picture Placeholder 15"/>
          <p:cNvSpPr>
            <a:spLocks noGrp="1"/>
          </p:cNvSpPr>
          <p:nvPr>
            <p:ph type="pic" sz="quarter" idx="18"/>
          </p:nvPr>
        </p:nvSpPr>
        <p:spPr>
          <a:xfrm>
            <a:off x="7760813" y="1948344"/>
            <a:ext cx="3433835" cy="3995256"/>
          </a:xfrm>
          <a:prstGeom prst="rect">
            <a:avLst/>
          </a:prstGeom>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8" name="Picture Placeholder 2"/>
          <p:cNvSpPr>
            <a:spLocks noGrp="1"/>
          </p:cNvSpPr>
          <p:nvPr>
            <p:ph type="pic" sz="quarter" idx="14"/>
          </p:nvPr>
        </p:nvSpPr>
        <p:spPr>
          <a:xfrm>
            <a:off x="1303020" y="3673372"/>
            <a:ext cx="1371600" cy="1371600"/>
          </a:xfrm>
          <a:prstGeom prst="ellipse">
            <a:avLst/>
          </a:prstGeom>
          <a:noFill/>
          <a:ln w="12700">
            <a:solidFill>
              <a:schemeClr val="tx1">
                <a:lumMod val="60000"/>
                <a:lumOff val="40000"/>
              </a:schemeClr>
            </a:solidFill>
            <a:prstDash val="sysDot"/>
          </a:ln>
        </p:spPr>
        <p:txBody>
          <a:bodyPr/>
          <a:lstStyle>
            <a:lvl1pPr marL="0" indent="0">
              <a:buNone/>
              <a:defRPr sz="1000"/>
            </a:lvl1pPr>
          </a:lstStyle>
          <a:p>
            <a:endParaRPr lang="en-US"/>
          </a:p>
        </p:txBody>
      </p:sp>
      <p:sp>
        <p:nvSpPr>
          <p:cNvPr id="9" name="Picture Placeholder 2"/>
          <p:cNvSpPr>
            <a:spLocks noGrp="1"/>
          </p:cNvSpPr>
          <p:nvPr>
            <p:ph type="pic" sz="quarter" idx="15"/>
          </p:nvPr>
        </p:nvSpPr>
        <p:spPr>
          <a:xfrm>
            <a:off x="3352800" y="2078487"/>
            <a:ext cx="1371600" cy="1371600"/>
          </a:xfrm>
          <a:prstGeom prst="ellipse">
            <a:avLst/>
          </a:prstGeom>
          <a:noFill/>
          <a:ln w="12700">
            <a:solidFill>
              <a:schemeClr val="bg1">
                <a:lumMod val="75000"/>
              </a:schemeClr>
            </a:solidFill>
          </a:ln>
        </p:spPr>
        <p:txBody>
          <a:bodyPr/>
          <a:lstStyle>
            <a:lvl1pPr marL="0" indent="0">
              <a:buNone/>
              <a:defRPr sz="1000"/>
            </a:lvl1pPr>
          </a:lstStyle>
          <a:p>
            <a:endParaRPr lang="en-US"/>
          </a:p>
        </p:txBody>
      </p:sp>
      <p:sp>
        <p:nvSpPr>
          <p:cNvPr id="10" name="Picture Placeholder 2"/>
          <p:cNvSpPr>
            <a:spLocks noGrp="1"/>
          </p:cNvSpPr>
          <p:nvPr>
            <p:ph type="pic" sz="quarter" idx="16"/>
          </p:nvPr>
        </p:nvSpPr>
        <p:spPr>
          <a:xfrm>
            <a:off x="5402580" y="3673372"/>
            <a:ext cx="1371600" cy="1371600"/>
          </a:xfrm>
          <a:prstGeom prst="ellipse">
            <a:avLst/>
          </a:prstGeom>
          <a:noFill/>
          <a:ln w="12700">
            <a:solidFill>
              <a:schemeClr val="bg1">
                <a:lumMod val="75000"/>
              </a:schemeClr>
            </a:solidFill>
          </a:ln>
        </p:spPr>
        <p:txBody>
          <a:bodyPr/>
          <a:lstStyle>
            <a:lvl1pPr marL="0" indent="0">
              <a:buNone/>
              <a:defRPr sz="1000"/>
            </a:lvl1pPr>
          </a:lstStyle>
          <a:p>
            <a:endParaRPr lang="en-US" dirty="0"/>
          </a:p>
        </p:txBody>
      </p:sp>
      <p:sp>
        <p:nvSpPr>
          <p:cNvPr id="11" name="Picture Placeholder 2"/>
          <p:cNvSpPr>
            <a:spLocks noGrp="1"/>
          </p:cNvSpPr>
          <p:nvPr>
            <p:ph type="pic" sz="quarter" idx="17"/>
          </p:nvPr>
        </p:nvSpPr>
        <p:spPr>
          <a:xfrm>
            <a:off x="7452360" y="2078487"/>
            <a:ext cx="1371600" cy="1371600"/>
          </a:xfrm>
          <a:prstGeom prst="ellipse">
            <a:avLst/>
          </a:prstGeom>
          <a:noFill/>
          <a:ln w="12700">
            <a:solidFill>
              <a:schemeClr val="bg1">
                <a:lumMod val="75000"/>
              </a:schemeClr>
            </a:solidFill>
          </a:ln>
        </p:spPr>
        <p:txBody>
          <a:bodyPr/>
          <a:lstStyle>
            <a:lvl1pPr marL="0" indent="0">
              <a:buNone/>
              <a:defRPr sz="1000"/>
            </a:lvl1pPr>
          </a:lstStyle>
          <a:p>
            <a:endParaRPr lang="en-US"/>
          </a:p>
        </p:txBody>
      </p:sp>
      <p:sp>
        <p:nvSpPr>
          <p:cNvPr id="12" name="Picture Placeholder 2"/>
          <p:cNvSpPr>
            <a:spLocks noGrp="1"/>
          </p:cNvSpPr>
          <p:nvPr>
            <p:ph type="pic" sz="quarter" idx="18"/>
          </p:nvPr>
        </p:nvSpPr>
        <p:spPr>
          <a:xfrm>
            <a:off x="9502140" y="3673372"/>
            <a:ext cx="1371600" cy="1371600"/>
          </a:xfrm>
          <a:prstGeom prst="ellipse">
            <a:avLst/>
          </a:prstGeom>
          <a:noFill/>
          <a:ln w="12700">
            <a:solidFill>
              <a:schemeClr val="tx1">
                <a:lumMod val="60000"/>
                <a:lumOff val="40000"/>
              </a:schemeClr>
            </a:solidFill>
            <a:prstDash val="sysDot"/>
          </a:ln>
        </p:spPr>
        <p:txBody>
          <a:bodyPr/>
          <a:lstStyle>
            <a:lvl1pPr marL="0" indent="0">
              <a:buNone/>
              <a:defRPr sz="1000"/>
            </a:lvl1p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18" name="Picture Placeholder 17"/>
          <p:cNvSpPr>
            <a:spLocks noGrp="1"/>
          </p:cNvSpPr>
          <p:nvPr>
            <p:ph type="pic" sz="quarter" idx="18"/>
          </p:nvPr>
        </p:nvSpPr>
        <p:spPr>
          <a:xfrm>
            <a:off x="1022117" y="2037568"/>
            <a:ext cx="3646403" cy="2479705"/>
          </a:xfrm>
          <a:custGeom>
            <a:avLst/>
            <a:gdLst>
              <a:gd name="connsiteX0" fmla="*/ 1486454 w 3785967"/>
              <a:gd name="connsiteY0" fmla="*/ 0 h 2574614"/>
              <a:gd name="connsiteX1" fmla="*/ 3785967 w 3785967"/>
              <a:gd name="connsiteY1" fmla="*/ 0 h 2574614"/>
              <a:gd name="connsiteX2" fmla="*/ 2299514 w 3785967"/>
              <a:gd name="connsiteY2" fmla="*/ 2574614 h 2574614"/>
              <a:gd name="connsiteX3" fmla="*/ 0 w 3785967"/>
              <a:gd name="connsiteY3" fmla="*/ 2574614 h 2574614"/>
            </a:gdLst>
            <a:ahLst/>
            <a:cxnLst>
              <a:cxn ang="0">
                <a:pos x="connsiteX0" y="connsiteY0"/>
              </a:cxn>
              <a:cxn ang="0">
                <a:pos x="connsiteX1" y="connsiteY1"/>
              </a:cxn>
              <a:cxn ang="0">
                <a:pos x="connsiteX2" y="connsiteY2"/>
              </a:cxn>
              <a:cxn ang="0">
                <a:pos x="connsiteX3" y="connsiteY3"/>
              </a:cxn>
            </a:cxnLst>
            <a:rect l="l" t="t" r="r" b="b"/>
            <a:pathLst>
              <a:path w="3785967" h="2574614">
                <a:moveTo>
                  <a:pt x="1486454" y="0"/>
                </a:moveTo>
                <a:lnTo>
                  <a:pt x="3785967" y="0"/>
                </a:lnTo>
                <a:lnTo>
                  <a:pt x="2299514" y="2574614"/>
                </a:lnTo>
                <a:lnTo>
                  <a:pt x="0" y="2574614"/>
                </a:lnTo>
                <a:close/>
              </a:path>
            </a:pathLst>
          </a:custGeom>
        </p:spPr>
        <p:txBody>
          <a:bodyPr wrap="square">
            <a:noAutofit/>
          </a:bodyPr>
          <a:lstStyle/>
          <a:p>
            <a:endParaRPr lang="en-US"/>
          </a:p>
        </p:txBody>
      </p:sp>
      <p:sp>
        <p:nvSpPr>
          <p:cNvPr id="21" name="Picture Placeholder 20"/>
          <p:cNvSpPr>
            <a:spLocks noGrp="1"/>
          </p:cNvSpPr>
          <p:nvPr>
            <p:ph type="pic" sz="quarter" idx="19"/>
          </p:nvPr>
        </p:nvSpPr>
        <p:spPr>
          <a:xfrm>
            <a:off x="2728997" y="3238251"/>
            <a:ext cx="3646403" cy="2479705"/>
          </a:xfrm>
          <a:custGeom>
            <a:avLst/>
            <a:gdLst>
              <a:gd name="connsiteX0" fmla="*/ 1486454 w 3785967"/>
              <a:gd name="connsiteY0" fmla="*/ 0 h 2574614"/>
              <a:gd name="connsiteX1" fmla="*/ 3785967 w 3785967"/>
              <a:gd name="connsiteY1" fmla="*/ 0 h 2574614"/>
              <a:gd name="connsiteX2" fmla="*/ 2299514 w 3785967"/>
              <a:gd name="connsiteY2" fmla="*/ 2574614 h 2574614"/>
              <a:gd name="connsiteX3" fmla="*/ 0 w 3785967"/>
              <a:gd name="connsiteY3" fmla="*/ 2574614 h 2574614"/>
            </a:gdLst>
            <a:ahLst/>
            <a:cxnLst>
              <a:cxn ang="0">
                <a:pos x="connsiteX0" y="connsiteY0"/>
              </a:cxn>
              <a:cxn ang="0">
                <a:pos x="connsiteX1" y="connsiteY1"/>
              </a:cxn>
              <a:cxn ang="0">
                <a:pos x="connsiteX2" y="connsiteY2"/>
              </a:cxn>
              <a:cxn ang="0">
                <a:pos x="connsiteX3" y="connsiteY3"/>
              </a:cxn>
            </a:cxnLst>
            <a:rect l="l" t="t" r="r" b="b"/>
            <a:pathLst>
              <a:path w="3785967" h="2574614">
                <a:moveTo>
                  <a:pt x="1486454" y="0"/>
                </a:moveTo>
                <a:lnTo>
                  <a:pt x="3785967" y="0"/>
                </a:lnTo>
                <a:lnTo>
                  <a:pt x="2299514" y="2574614"/>
                </a:lnTo>
                <a:lnTo>
                  <a:pt x="0" y="2574614"/>
                </a:lnTo>
                <a:close/>
              </a:path>
            </a:pathLst>
          </a:custGeom>
        </p:spPr>
        <p:txBody>
          <a:bodyPr wrap="square">
            <a:noAutofit/>
          </a:bodyPr>
          <a:lstStyle/>
          <a:p>
            <a:endParaRPr lang="en-US"/>
          </a:p>
        </p:txBody>
      </p:sp>
      <p:sp>
        <p:nvSpPr>
          <p:cNvPr id="22" name="Picture Placeholder 21"/>
          <p:cNvSpPr>
            <a:spLocks noGrp="1"/>
          </p:cNvSpPr>
          <p:nvPr>
            <p:ph type="pic" sz="quarter" idx="20"/>
          </p:nvPr>
        </p:nvSpPr>
        <p:spPr>
          <a:xfrm>
            <a:off x="5807477" y="2090492"/>
            <a:ext cx="3646403" cy="2479705"/>
          </a:xfrm>
          <a:custGeom>
            <a:avLst/>
            <a:gdLst>
              <a:gd name="connsiteX0" fmla="*/ 1486454 w 3785967"/>
              <a:gd name="connsiteY0" fmla="*/ 0 h 2574614"/>
              <a:gd name="connsiteX1" fmla="*/ 3785967 w 3785967"/>
              <a:gd name="connsiteY1" fmla="*/ 0 h 2574614"/>
              <a:gd name="connsiteX2" fmla="*/ 2299514 w 3785967"/>
              <a:gd name="connsiteY2" fmla="*/ 2574614 h 2574614"/>
              <a:gd name="connsiteX3" fmla="*/ 0 w 3785967"/>
              <a:gd name="connsiteY3" fmla="*/ 2574614 h 2574614"/>
            </a:gdLst>
            <a:ahLst/>
            <a:cxnLst>
              <a:cxn ang="0">
                <a:pos x="connsiteX0" y="connsiteY0"/>
              </a:cxn>
              <a:cxn ang="0">
                <a:pos x="connsiteX1" y="connsiteY1"/>
              </a:cxn>
              <a:cxn ang="0">
                <a:pos x="connsiteX2" y="connsiteY2"/>
              </a:cxn>
              <a:cxn ang="0">
                <a:pos x="connsiteX3" y="connsiteY3"/>
              </a:cxn>
            </a:cxnLst>
            <a:rect l="l" t="t" r="r" b="b"/>
            <a:pathLst>
              <a:path w="3785967" h="2574614">
                <a:moveTo>
                  <a:pt x="1486454" y="0"/>
                </a:moveTo>
                <a:lnTo>
                  <a:pt x="3785967" y="0"/>
                </a:lnTo>
                <a:lnTo>
                  <a:pt x="2299514" y="2574614"/>
                </a:lnTo>
                <a:lnTo>
                  <a:pt x="0" y="2574614"/>
                </a:lnTo>
                <a:close/>
              </a:path>
            </a:pathLst>
          </a:custGeom>
        </p:spPr>
        <p:txBody>
          <a:bodyPr wrap="square">
            <a:noAutofit/>
          </a:bodyPr>
          <a:lstStyle/>
          <a:p>
            <a:endParaRPr lang="en-US"/>
          </a:p>
        </p:txBody>
      </p:sp>
      <p:sp>
        <p:nvSpPr>
          <p:cNvPr id="23" name="Picture Placeholder 22"/>
          <p:cNvSpPr>
            <a:spLocks noGrp="1"/>
          </p:cNvSpPr>
          <p:nvPr>
            <p:ph type="pic" sz="quarter" idx="21"/>
          </p:nvPr>
        </p:nvSpPr>
        <p:spPr>
          <a:xfrm>
            <a:off x="7554997" y="3291175"/>
            <a:ext cx="3646403" cy="2479705"/>
          </a:xfrm>
          <a:custGeom>
            <a:avLst/>
            <a:gdLst>
              <a:gd name="connsiteX0" fmla="*/ 1486454 w 3785967"/>
              <a:gd name="connsiteY0" fmla="*/ 0 h 2574614"/>
              <a:gd name="connsiteX1" fmla="*/ 3785967 w 3785967"/>
              <a:gd name="connsiteY1" fmla="*/ 0 h 2574614"/>
              <a:gd name="connsiteX2" fmla="*/ 2299514 w 3785967"/>
              <a:gd name="connsiteY2" fmla="*/ 2574614 h 2574614"/>
              <a:gd name="connsiteX3" fmla="*/ 0 w 3785967"/>
              <a:gd name="connsiteY3" fmla="*/ 2574614 h 2574614"/>
            </a:gdLst>
            <a:ahLst/>
            <a:cxnLst>
              <a:cxn ang="0">
                <a:pos x="connsiteX0" y="connsiteY0"/>
              </a:cxn>
              <a:cxn ang="0">
                <a:pos x="connsiteX1" y="connsiteY1"/>
              </a:cxn>
              <a:cxn ang="0">
                <a:pos x="connsiteX2" y="connsiteY2"/>
              </a:cxn>
              <a:cxn ang="0">
                <a:pos x="connsiteX3" y="connsiteY3"/>
              </a:cxn>
            </a:cxnLst>
            <a:rect l="l" t="t" r="r" b="b"/>
            <a:pathLst>
              <a:path w="3785967" h="2574614">
                <a:moveTo>
                  <a:pt x="1486454" y="0"/>
                </a:moveTo>
                <a:lnTo>
                  <a:pt x="3785967" y="0"/>
                </a:lnTo>
                <a:lnTo>
                  <a:pt x="2299514" y="2574614"/>
                </a:lnTo>
                <a:lnTo>
                  <a:pt x="0" y="2574614"/>
                </a:lnTo>
                <a:close/>
              </a:path>
            </a:pathLst>
          </a:custGeom>
        </p:spPr>
        <p:txBody>
          <a:bodyPr wrap="square">
            <a:noAutofit/>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90% Picture Left">
    <p:spTree>
      <p:nvGrpSpPr>
        <p:cNvPr id="1" name=""/>
        <p:cNvGrpSpPr/>
        <p:nvPr/>
      </p:nvGrpSpPr>
      <p:grpSpPr>
        <a:xfrm>
          <a:off x="0" y="0"/>
          <a:ext cx="0" cy="0"/>
          <a:chOff x="0" y="0"/>
          <a:chExt cx="0" cy="0"/>
        </a:xfrm>
      </p:grpSpPr>
      <p:sp>
        <p:nvSpPr>
          <p:cNvPr id="8" name="Picture Placeholder 3"/>
          <p:cNvSpPr>
            <a:spLocks noGrp="1"/>
          </p:cNvSpPr>
          <p:nvPr>
            <p:ph type="pic" sz="quarter" idx="15"/>
          </p:nvPr>
        </p:nvSpPr>
        <p:spPr>
          <a:xfrm>
            <a:off x="0" y="2206606"/>
            <a:ext cx="12192000" cy="2997854"/>
          </a:xfrm>
          <a:prstGeom prst="rect">
            <a:avLst/>
          </a:prstGeom>
        </p:spPr>
        <p:txBody>
          <a:bodyPr>
            <a:normAutofit/>
          </a:bodyPr>
          <a:lstStyle>
            <a:lvl1pPr>
              <a:defRPr sz="1600">
                <a:solidFill>
                  <a:schemeClr val="tx1"/>
                </a:solidFill>
              </a:defRPr>
            </a:lvl1pPr>
          </a:lstStyle>
          <a:p>
            <a:endParaRPr lang="id-ID"/>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icture Right">
    <p:spTree>
      <p:nvGrpSpPr>
        <p:cNvPr id="1" name=""/>
        <p:cNvGrpSpPr/>
        <p:nvPr/>
      </p:nvGrpSpPr>
      <p:grpSpPr>
        <a:xfrm>
          <a:off x="0" y="0"/>
          <a:ext cx="0" cy="0"/>
          <a:chOff x="0" y="0"/>
          <a:chExt cx="0" cy="0"/>
        </a:xfrm>
      </p:grpSpPr>
      <p:sp>
        <p:nvSpPr>
          <p:cNvPr id="8" name="Picture Placeholder 5"/>
          <p:cNvSpPr>
            <a:spLocks noGrp="1"/>
          </p:cNvSpPr>
          <p:nvPr>
            <p:ph type="pic" sz="quarter" idx="14"/>
          </p:nvPr>
        </p:nvSpPr>
        <p:spPr>
          <a:xfrm>
            <a:off x="6248400" y="2142698"/>
            <a:ext cx="5943600" cy="3383280"/>
          </a:xfrm>
          <a:prstGeom prst="rect">
            <a:avLst/>
          </a:prstGeom>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Picture Placeholder 2"/>
          <p:cNvSpPr>
            <a:spLocks noGrp="1"/>
          </p:cNvSpPr>
          <p:nvPr>
            <p:ph type="pic" sz="quarter" idx="14"/>
          </p:nvPr>
        </p:nvSpPr>
        <p:spPr>
          <a:xfrm>
            <a:off x="5044440" y="2145280"/>
            <a:ext cx="2103120" cy="2103120"/>
          </a:xfrm>
          <a:prstGeom prst="ellipse">
            <a:avLst/>
          </a:prstGeom>
          <a:solidFill>
            <a:schemeClr val="tx1">
              <a:lumMod val="60000"/>
              <a:lumOff val="40000"/>
            </a:schemeClr>
          </a:solidFill>
          <a:ln w="31750">
            <a:solidFill>
              <a:schemeClr val="bg1"/>
            </a:solidFill>
          </a:ln>
        </p:spPr>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rot="14907182">
            <a:off x="6298599" y="-1307132"/>
            <a:ext cx="7476018"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r="68219" b="25754"/>
          <a:stretch>
            <a:fillRect/>
          </a:stretch>
        </p:blipFill>
        <p:spPr>
          <a:xfrm rot="16200000">
            <a:off x="8458136" y="-1357901"/>
            <a:ext cx="2375965" cy="509176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2.xml"/><Relationship Id="rId12" Type="http://schemas.microsoft.com/office/2007/relationships/hdphoto" Target="../media/image5.wdp"/><Relationship Id="rId11" Type="http://schemas.openxmlformats.org/officeDocument/2006/relationships/image" Target="../media/image4.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11" cstate="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r="68219" b="25754"/>
          <a:stretch>
            <a:fillRect/>
          </a:stretch>
        </p:blipFill>
        <p:spPr>
          <a:xfrm rot="16200000">
            <a:off x="10301224" y="-687622"/>
            <a:ext cx="1203156" cy="2578400"/>
          </a:xfrm>
          <a:prstGeom prst="rect">
            <a:avLst/>
          </a:prstGeom>
        </p:spPr>
      </p:pic>
      <p:pic>
        <p:nvPicPr>
          <p:cNvPr id="3" name="图片 2"/>
          <p:cNvPicPr>
            <a:picLocks noChangeAspect="1"/>
          </p:cNvPicPr>
          <p:nvPr userDrawn="1"/>
        </p:nvPicPr>
        <p:blipFill rotWithShape="1">
          <a:blip r:embed="rId11" cstate="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r="68219" b="25754"/>
          <a:stretch>
            <a:fillRect/>
          </a:stretch>
        </p:blipFill>
        <p:spPr>
          <a:xfrm rot="5400000">
            <a:off x="687622" y="4967222"/>
            <a:ext cx="1203156" cy="257840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8.xml"/><Relationship Id="rId3" Type="http://schemas.openxmlformats.org/officeDocument/2006/relationships/image" Target="../media/image6.png"/><Relationship Id="rId2" Type="http://schemas.microsoft.com/office/2007/relationships/media" Target="../media/media1.mp3"/><Relationship Id="rId1" Type="http://schemas.openxmlformats.org/officeDocument/2006/relationships/audio" Target="../media/media1.mp3"/></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tags" Target="../tags/tag3.xml"/><Relationship Id="rId4" Type="http://schemas.openxmlformats.org/officeDocument/2006/relationships/image" Target="../media/image8.png"/><Relationship Id="rId3" Type="http://schemas.openxmlformats.org/officeDocument/2006/relationships/tags" Target="../tags/tag2.xml"/><Relationship Id="rId2" Type="http://schemas.openxmlformats.org/officeDocument/2006/relationships/image" Target="../media/image7.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tags" Target="../tags/tag5.xml"/><Relationship Id="rId2" Type="http://schemas.openxmlformats.org/officeDocument/2006/relationships/image" Target="../media/image10.png"/><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9.xml"/><Relationship Id="rId2" Type="http://schemas.openxmlformats.org/officeDocument/2006/relationships/image" Target="../media/image13.png"/><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9.xml"/><Relationship Id="rId2" Type="http://schemas.openxmlformats.org/officeDocument/2006/relationships/image" Target="../media/image16.jpeg"/><Relationship Id="rId1" Type="http://schemas.openxmlformats.org/officeDocument/2006/relationships/image" Target="../media/image15.jpe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9.xml"/><Relationship Id="rId4" Type="http://schemas.openxmlformats.org/officeDocument/2006/relationships/image" Target="../media/image19.png"/><Relationship Id="rId3" Type="http://schemas.openxmlformats.org/officeDocument/2006/relationships/tags" Target="../tags/tag7.xml"/><Relationship Id="rId2" Type="http://schemas.openxmlformats.org/officeDocument/2006/relationships/image" Target="../media/image18.png"/><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9.xml"/><Relationship Id="rId2" Type="http://schemas.openxmlformats.org/officeDocument/2006/relationships/image" Target="../media/image20.png"/><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30924" y="3171522"/>
            <a:ext cx="2385695" cy="570865"/>
          </a:xfrm>
          <a:prstGeom prst="rect">
            <a:avLst/>
          </a:prstGeom>
          <a:noFill/>
        </p:spPr>
        <p:txBody>
          <a:bodyPr wrap="none" rtlCol="0">
            <a:spAutoFit/>
          </a:bodyPr>
          <a:lstStyle/>
          <a:p>
            <a:pPr>
              <a:lnSpc>
                <a:spcPct val="130000"/>
              </a:lnSpc>
            </a:pPr>
            <a:r>
              <a:rPr lang="zh-CN" altLang="en-US" sz="2400" dirty="0">
                <a:solidFill>
                  <a:schemeClr val="tx2"/>
                </a:solidFill>
                <a:cs typeface="+mn-ea"/>
                <a:sym typeface="+mn-lt"/>
              </a:rPr>
              <a:t>大作业</a:t>
            </a:r>
            <a:r>
              <a:rPr lang="en-US" altLang="zh-CN" sz="2400" dirty="0">
                <a:solidFill>
                  <a:schemeClr val="tx2"/>
                </a:solidFill>
                <a:cs typeface="+mn-ea"/>
                <a:sym typeface="+mn-lt"/>
              </a:rPr>
              <a:t>proposal</a:t>
            </a:r>
            <a:endParaRPr lang="en-US" altLang="zh-CN" sz="2400" dirty="0">
              <a:solidFill>
                <a:schemeClr val="tx2"/>
              </a:solidFill>
              <a:cs typeface="+mn-ea"/>
              <a:sym typeface="+mn-lt"/>
            </a:endParaRPr>
          </a:p>
        </p:txBody>
      </p:sp>
      <p:sp>
        <p:nvSpPr>
          <p:cNvPr id="8" name="文本框 7"/>
          <p:cNvSpPr txBox="1"/>
          <p:nvPr/>
        </p:nvSpPr>
        <p:spPr>
          <a:xfrm>
            <a:off x="139704" y="925445"/>
            <a:ext cx="7193280" cy="2011045"/>
          </a:xfrm>
          <a:prstGeom prst="rect">
            <a:avLst/>
          </a:prstGeom>
          <a:noFill/>
        </p:spPr>
        <p:txBody>
          <a:bodyPr wrap="none" rtlCol="0">
            <a:spAutoFit/>
          </a:bodyPr>
          <a:lstStyle/>
          <a:p>
            <a:pPr algn="l">
              <a:lnSpc>
                <a:spcPct val="130000"/>
              </a:lnSpc>
            </a:pPr>
            <a:r>
              <a:rPr lang="zh-CN" altLang="en-US" sz="4800" spc="-200" dirty="0">
                <a:solidFill>
                  <a:schemeClr val="accent1"/>
                </a:solidFill>
                <a:cs typeface="+mn-ea"/>
                <a:sym typeface="+mn-lt"/>
              </a:rPr>
              <a:t>基于YOLOV5的</a:t>
            </a:r>
            <a:endParaRPr lang="zh-CN" altLang="en-US" sz="4800" spc="-200" dirty="0">
              <a:solidFill>
                <a:schemeClr val="accent1"/>
              </a:solidFill>
              <a:cs typeface="+mn-ea"/>
              <a:sym typeface="+mn-lt"/>
            </a:endParaRPr>
          </a:p>
          <a:p>
            <a:pPr algn="l">
              <a:lnSpc>
                <a:spcPct val="130000"/>
              </a:lnSpc>
            </a:pPr>
            <a:r>
              <a:rPr lang="zh-CN" altLang="en-US" sz="4800" spc="-200" dirty="0">
                <a:solidFill>
                  <a:schemeClr val="accent1"/>
                </a:solidFill>
                <a:cs typeface="+mn-ea"/>
                <a:sym typeface="+mn-lt"/>
              </a:rPr>
              <a:t>结直肠息肉智能检测与诊断</a:t>
            </a:r>
            <a:endParaRPr lang="zh-CN" altLang="en-US" sz="4800" spc="-200" dirty="0">
              <a:solidFill>
                <a:schemeClr val="accent1"/>
              </a:solidFill>
              <a:cs typeface="+mn-ea"/>
              <a:sym typeface="+mn-lt"/>
            </a:endParaRPr>
          </a:p>
        </p:txBody>
      </p:sp>
      <p:sp>
        <p:nvSpPr>
          <p:cNvPr id="14" name="矩形 13"/>
          <p:cNvSpPr/>
          <p:nvPr/>
        </p:nvSpPr>
        <p:spPr>
          <a:xfrm>
            <a:off x="800688" y="5054444"/>
            <a:ext cx="6258153" cy="400050"/>
          </a:xfrm>
          <a:prstGeom prst="rect">
            <a:avLst/>
          </a:prstGeom>
        </p:spPr>
        <p:txBody>
          <a:bodyPr wrap="square">
            <a:spAutoFit/>
          </a:bodyPr>
          <a:lstStyle/>
          <a:p>
            <a:pPr>
              <a:lnSpc>
                <a:spcPct val="150000"/>
              </a:lnSpc>
            </a:pPr>
            <a:r>
              <a:rPr lang="zh-CN" altLang="en-US" sz="1335" spc="-200" dirty="0">
                <a:solidFill>
                  <a:schemeClr val="accent1"/>
                </a:solidFill>
                <a:cs typeface="+mn-ea"/>
                <a:sym typeface="+mn-lt"/>
              </a:rPr>
              <a:t>2021220049_</a:t>
            </a:r>
            <a:r>
              <a:rPr lang="en-US" altLang="zh-CN" sz="1335" spc="-200" dirty="0">
                <a:solidFill>
                  <a:schemeClr val="accent1"/>
                </a:solidFill>
                <a:cs typeface="+mn-ea"/>
                <a:sym typeface="+mn-lt"/>
              </a:rPr>
              <a:t>         </a:t>
            </a:r>
            <a:r>
              <a:rPr lang="zh-CN" altLang="en-US" sz="1335" spc="-200" dirty="0">
                <a:solidFill>
                  <a:schemeClr val="accent1"/>
                </a:solidFill>
                <a:cs typeface="+mn-ea"/>
                <a:sym typeface="+mn-lt"/>
              </a:rPr>
              <a:t>陈嘉鸿</a:t>
            </a:r>
            <a:endParaRPr lang="zh-CN" altLang="en-US" sz="1335" dirty="0">
              <a:solidFill>
                <a:schemeClr val="tx2"/>
              </a:solidFill>
              <a:cs typeface="+mn-ea"/>
              <a:sym typeface="+mn-lt"/>
            </a:endParaRPr>
          </a:p>
        </p:txBody>
      </p:sp>
      <p:pic>
        <p:nvPicPr>
          <p:cNvPr id="6" name="59be99c660774">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60214" y="-554506"/>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5"/>
          <p:cNvSpPr txBox="1">
            <a:spLocks noChangeArrowheads="1"/>
          </p:cNvSpPr>
          <p:nvPr/>
        </p:nvSpPr>
        <p:spPr bwMode="auto">
          <a:xfrm>
            <a:off x="854815" y="719549"/>
            <a:ext cx="18261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3200" dirty="0">
                <a:solidFill>
                  <a:schemeClr val="accent1"/>
                </a:solidFill>
                <a:latin typeface="+mn-lt"/>
                <a:ea typeface="+mn-ea"/>
                <a:cs typeface="+mn-ea"/>
                <a:sym typeface="+mn-lt"/>
              </a:rPr>
              <a:t>演示目录</a:t>
            </a:r>
            <a:endParaRPr lang="zh-CN" altLang="en-US" sz="3200" dirty="0">
              <a:solidFill>
                <a:schemeClr val="accent1"/>
              </a:solidFill>
              <a:latin typeface="+mn-lt"/>
              <a:ea typeface="+mn-ea"/>
              <a:cs typeface="+mn-ea"/>
              <a:sym typeface="+mn-lt"/>
            </a:endParaRPr>
          </a:p>
        </p:txBody>
      </p:sp>
      <p:cxnSp>
        <p:nvCxnSpPr>
          <p:cNvPr id="30" name="直接连接符 29"/>
          <p:cNvCxnSpPr/>
          <p:nvPr/>
        </p:nvCxnSpPr>
        <p:spPr>
          <a:xfrm>
            <a:off x="970344" y="1382679"/>
            <a:ext cx="50781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1782535" y="2641665"/>
            <a:ext cx="2085340" cy="420370"/>
          </a:xfrm>
          <a:prstGeom prst="rect">
            <a:avLst/>
          </a:prstGeom>
        </p:spPr>
        <p:txBody>
          <a:bodyPr wrap="none">
            <a:spAutoFit/>
          </a:bodyPr>
          <a:lstStyle/>
          <a:p>
            <a:pPr algn="l"/>
            <a:r>
              <a:rPr lang="zh-CN" altLang="id-ID" sz="2135" noProof="0" dirty="0">
                <a:ln>
                  <a:noFill/>
                </a:ln>
                <a:solidFill>
                  <a:srgbClr val="3F3F3F"/>
                </a:solidFill>
                <a:effectLst/>
                <a:uLnTx/>
                <a:uFillTx/>
                <a:latin typeface="Lato"/>
                <a:sym typeface="+mn-ea"/>
              </a:rPr>
              <a:t>项目</a:t>
            </a:r>
            <a:r>
              <a:rPr lang="zh-CN" altLang="id-ID" sz="2135" noProof="0" dirty="0">
                <a:ln>
                  <a:noFill/>
                </a:ln>
                <a:solidFill>
                  <a:srgbClr val="3F3F3F"/>
                </a:solidFill>
                <a:effectLst/>
                <a:uLnTx/>
                <a:uFillTx/>
                <a:latin typeface="Lato"/>
                <a:sym typeface="+mn-ea"/>
              </a:rPr>
              <a:t>背景</a:t>
            </a:r>
            <a:r>
              <a:rPr lang="zh-CN" altLang="id-ID" sz="2135" noProof="0" dirty="0">
                <a:ln>
                  <a:noFill/>
                </a:ln>
                <a:solidFill>
                  <a:srgbClr val="3F3F3F"/>
                </a:solidFill>
                <a:effectLst/>
                <a:uLnTx/>
                <a:uFillTx/>
                <a:latin typeface="Lato"/>
                <a:sym typeface="+mn-ea"/>
              </a:rPr>
              <a:t>与目标</a:t>
            </a:r>
            <a:endParaRPr lang="zh-CN" altLang="id-ID" sz="2135" noProof="0" dirty="0">
              <a:ln>
                <a:noFill/>
              </a:ln>
              <a:solidFill>
                <a:srgbClr val="3F3F3F"/>
              </a:solidFill>
              <a:effectLst/>
              <a:uLnTx/>
              <a:uFillTx/>
              <a:latin typeface="Lato"/>
              <a:sym typeface="+mn-ea"/>
            </a:endParaRPr>
          </a:p>
        </p:txBody>
      </p:sp>
      <p:sp>
        <p:nvSpPr>
          <p:cNvPr id="88" name="矩形 87"/>
          <p:cNvSpPr/>
          <p:nvPr/>
        </p:nvSpPr>
        <p:spPr>
          <a:xfrm>
            <a:off x="1782535" y="4342115"/>
            <a:ext cx="1270000" cy="420370"/>
          </a:xfrm>
          <a:prstGeom prst="rect">
            <a:avLst/>
          </a:prstGeom>
        </p:spPr>
        <p:txBody>
          <a:bodyPr wrap="none">
            <a:spAutoFit/>
          </a:bodyPr>
          <a:lstStyle/>
          <a:p>
            <a:pPr algn="l"/>
            <a:r>
              <a:rPr lang="zh-CN" altLang="en-US" sz="2135" dirty="0">
                <a:solidFill>
                  <a:schemeClr val="tx1">
                    <a:lumMod val="85000"/>
                    <a:lumOff val="15000"/>
                  </a:schemeClr>
                </a:solidFill>
                <a:cs typeface="+mn-ea"/>
                <a:sym typeface="+mn-lt"/>
              </a:rPr>
              <a:t>技术难点</a:t>
            </a:r>
            <a:endParaRPr lang="zh-CN" altLang="en-US" sz="2135" dirty="0">
              <a:solidFill>
                <a:schemeClr val="tx1">
                  <a:lumMod val="85000"/>
                  <a:lumOff val="15000"/>
                </a:schemeClr>
              </a:solidFill>
              <a:cs typeface="+mn-ea"/>
              <a:sym typeface="+mn-lt"/>
            </a:endParaRPr>
          </a:p>
        </p:txBody>
      </p:sp>
      <p:sp>
        <p:nvSpPr>
          <p:cNvPr id="93" name="矩形 92"/>
          <p:cNvSpPr/>
          <p:nvPr/>
        </p:nvSpPr>
        <p:spPr>
          <a:xfrm>
            <a:off x="7731880" y="2641664"/>
            <a:ext cx="1270000" cy="420370"/>
          </a:xfrm>
          <a:prstGeom prst="rect">
            <a:avLst/>
          </a:prstGeom>
        </p:spPr>
        <p:txBody>
          <a:bodyPr wrap="none">
            <a:spAutoFit/>
          </a:bodyPr>
          <a:lstStyle/>
          <a:p>
            <a:r>
              <a:rPr lang="zh-CN" altLang="en-US" sz="2135" dirty="0">
                <a:solidFill>
                  <a:schemeClr val="tx1">
                    <a:lumMod val="85000"/>
                    <a:lumOff val="15000"/>
                  </a:schemeClr>
                </a:solidFill>
                <a:cs typeface="+mn-ea"/>
                <a:sym typeface="+mn-lt"/>
              </a:rPr>
              <a:t>程序</a:t>
            </a:r>
            <a:r>
              <a:rPr lang="zh-CN" altLang="en-US" sz="2135" dirty="0">
                <a:solidFill>
                  <a:schemeClr val="tx1">
                    <a:lumMod val="85000"/>
                    <a:lumOff val="15000"/>
                  </a:schemeClr>
                </a:solidFill>
                <a:cs typeface="+mn-ea"/>
                <a:sym typeface="+mn-lt"/>
              </a:rPr>
              <a:t>框架</a:t>
            </a:r>
            <a:endParaRPr lang="zh-CN" altLang="en-US" sz="2135" dirty="0">
              <a:solidFill>
                <a:schemeClr val="tx1">
                  <a:lumMod val="85000"/>
                  <a:lumOff val="15000"/>
                </a:schemeClr>
              </a:solidFill>
              <a:cs typeface="+mn-ea"/>
              <a:sym typeface="+mn-lt"/>
            </a:endParaRPr>
          </a:p>
        </p:txBody>
      </p:sp>
      <p:sp>
        <p:nvSpPr>
          <p:cNvPr id="98" name="矩形 97"/>
          <p:cNvSpPr/>
          <p:nvPr/>
        </p:nvSpPr>
        <p:spPr>
          <a:xfrm>
            <a:off x="7731880" y="4342115"/>
            <a:ext cx="1270000" cy="420370"/>
          </a:xfrm>
          <a:prstGeom prst="rect">
            <a:avLst/>
          </a:prstGeom>
        </p:spPr>
        <p:txBody>
          <a:bodyPr wrap="none">
            <a:spAutoFit/>
          </a:bodyPr>
          <a:lstStyle/>
          <a:p>
            <a:r>
              <a:rPr lang="zh-CN" altLang="en-US" sz="2135" dirty="0">
                <a:solidFill>
                  <a:schemeClr val="tx1">
                    <a:lumMod val="85000"/>
                    <a:lumOff val="15000"/>
                  </a:schemeClr>
                </a:solidFill>
                <a:cs typeface="+mn-ea"/>
                <a:sym typeface="+mn-lt"/>
              </a:rPr>
              <a:t>项目</a:t>
            </a:r>
            <a:r>
              <a:rPr lang="zh-CN" altLang="en-US" sz="2135" dirty="0">
                <a:solidFill>
                  <a:schemeClr val="tx1">
                    <a:lumMod val="85000"/>
                    <a:lumOff val="15000"/>
                  </a:schemeClr>
                </a:solidFill>
                <a:cs typeface="+mn-ea"/>
                <a:sym typeface="+mn-lt"/>
              </a:rPr>
              <a:t>总结</a:t>
            </a:r>
            <a:endParaRPr lang="zh-CN" altLang="en-US" sz="2135" dirty="0">
              <a:solidFill>
                <a:schemeClr val="tx1">
                  <a:lumMod val="85000"/>
                  <a:lumOff val="15000"/>
                </a:schemeClr>
              </a:solidFill>
              <a:cs typeface="+mn-ea"/>
              <a:sym typeface="+mn-lt"/>
            </a:endParaRPr>
          </a:p>
        </p:txBody>
      </p:sp>
      <p:cxnSp>
        <p:nvCxnSpPr>
          <p:cNvPr id="21" name="直接连接符 20"/>
          <p:cNvCxnSpPr/>
          <p:nvPr/>
        </p:nvCxnSpPr>
        <p:spPr>
          <a:xfrm>
            <a:off x="1927346" y="3155977"/>
            <a:ext cx="28575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927346" y="4856427"/>
            <a:ext cx="28575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876691" y="3155976"/>
            <a:ext cx="28575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876691" y="4856427"/>
            <a:ext cx="28575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菱形 24"/>
          <p:cNvSpPr/>
          <p:nvPr/>
        </p:nvSpPr>
        <p:spPr>
          <a:xfrm>
            <a:off x="824336" y="2633083"/>
            <a:ext cx="924696" cy="926392"/>
          </a:xfrm>
          <a:prstGeom prst="diamond">
            <a:avLst/>
          </a:prstGeom>
          <a:solidFill>
            <a:schemeClr val="accent1"/>
          </a:solidFill>
        </p:spPr>
        <p:txBody>
          <a:bodyPr wrap="none" anchor="ctr" anchorCtr="1">
            <a:noAutofit/>
          </a:bodyPr>
          <a:lstStyle/>
          <a:p>
            <a:pPr algn="ctr"/>
            <a:r>
              <a:rPr lang="en-US" altLang="zh-CN" sz="2665" dirty="0">
                <a:solidFill>
                  <a:schemeClr val="bg1"/>
                </a:solidFill>
                <a:cs typeface="+mn-ea"/>
                <a:sym typeface="+mn-lt"/>
              </a:rPr>
              <a:t>01</a:t>
            </a:r>
            <a:endParaRPr lang="zh-CN" altLang="en-US" sz="2135" dirty="0">
              <a:solidFill>
                <a:schemeClr val="bg1"/>
              </a:solidFill>
              <a:cs typeface="+mn-ea"/>
              <a:sym typeface="+mn-lt"/>
            </a:endParaRPr>
          </a:p>
        </p:txBody>
      </p:sp>
      <p:sp>
        <p:nvSpPr>
          <p:cNvPr id="26" name="菱形 25"/>
          <p:cNvSpPr/>
          <p:nvPr/>
        </p:nvSpPr>
        <p:spPr>
          <a:xfrm>
            <a:off x="824336" y="4333532"/>
            <a:ext cx="924696" cy="926392"/>
          </a:xfrm>
          <a:prstGeom prst="diamond">
            <a:avLst/>
          </a:prstGeom>
          <a:solidFill>
            <a:schemeClr val="accent1"/>
          </a:solidFill>
        </p:spPr>
        <p:txBody>
          <a:bodyPr wrap="none" anchor="ctr" anchorCtr="1">
            <a:noAutofit/>
          </a:bodyPr>
          <a:lstStyle/>
          <a:p>
            <a:pPr algn="ctr"/>
            <a:r>
              <a:rPr lang="en-US" altLang="zh-CN" sz="2665" dirty="0">
                <a:solidFill>
                  <a:schemeClr val="bg1"/>
                </a:solidFill>
                <a:cs typeface="+mn-ea"/>
                <a:sym typeface="+mn-lt"/>
              </a:rPr>
              <a:t>03</a:t>
            </a:r>
            <a:endParaRPr lang="zh-CN" altLang="en-US" sz="2135" dirty="0">
              <a:solidFill>
                <a:schemeClr val="bg1"/>
              </a:solidFill>
              <a:cs typeface="+mn-ea"/>
              <a:sym typeface="+mn-lt"/>
            </a:endParaRPr>
          </a:p>
        </p:txBody>
      </p:sp>
      <p:sp>
        <p:nvSpPr>
          <p:cNvPr id="27" name="菱形 26"/>
          <p:cNvSpPr/>
          <p:nvPr/>
        </p:nvSpPr>
        <p:spPr>
          <a:xfrm>
            <a:off x="6773681" y="2633081"/>
            <a:ext cx="924696" cy="926392"/>
          </a:xfrm>
          <a:prstGeom prst="diamond">
            <a:avLst/>
          </a:prstGeom>
          <a:solidFill>
            <a:schemeClr val="accent1"/>
          </a:solidFill>
        </p:spPr>
        <p:txBody>
          <a:bodyPr wrap="none" anchor="ctr" anchorCtr="1">
            <a:noAutofit/>
          </a:bodyPr>
          <a:lstStyle/>
          <a:p>
            <a:pPr algn="ctr"/>
            <a:r>
              <a:rPr lang="en-US" altLang="zh-CN" sz="2665" dirty="0">
                <a:solidFill>
                  <a:schemeClr val="bg1"/>
                </a:solidFill>
                <a:cs typeface="+mn-ea"/>
                <a:sym typeface="+mn-lt"/>
              </a:rPr>
              <a:t>02</a:t>
            </a:r>
            <a:endParaRPr lang="zh-CN" altLang="en-US" sz="2135" dirty="0">
              <a:solidFill>
                <a:schemeClr val="bg1"/>
              </a:solidFill>
              <a:cs typeface="+mn-ea"/>
              <a:sym typeface="+mn-lt"/>
            </a:endParaRPr>
          </a:p>
        </p:txBody>
      </p:sp>
      <p:sp>
        <p:nvSpPr>
          <p:cNvPr id="31" name="菱形 30"/>
          <p:cNvSpPr/>
          <p:nvPr/>
        </p:nvSpPr>
        <p:spPr>
          <a:xfrm>
            <a:off x="6773681" y="4333532"/>
            <a:ext cx="924696" cy="926392"/>
          </a:xfrm>
          <a:prstGeom prst="diamond">
            <a:avLst/>
          </a:prstGeom>
          <a:solidFill>
            <a:schemeClr val="accent1"/>
          </a:solidFill>
        </p:spPr>
        <p:txBody>
          <a:bodyPr wrap="none" anchor="ctr" anchorCtr="1">
            <a:noAutofit/>
          </a:bodyPr>
          <a:lstStyle/>
          <a:p>
            <a:pPr algn="ctr"/>
            <a:r>
              <a:rPr lang="en-US" altLang="zh-CN" sz="2665" dirty="0">
                <a:solidFill>
                  <a:schemeClr val="bg1"/>
                </a:solidFill>
                <a:cs typeface="+mn-ea"/>
                <a:sym typeface="+mn-lt"/>
              </a:rPr>
              <a:t>04</a:t>
            </a:r>
            <a:endParaRPr lang="zh-CN" altLang="en-US" sz="2135"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文本框 6"/>
          <p:cNvSpPr txBox="1">
            <a:spLocks noChangeArrowheads="1"/>
          </p:cNvSpPr>
          <p:nvPr/>
        </p:nvSpPr>
        <p:spPr bwMode="auto">
          <a:xfrm>
            <a:off x="4817746" y="2941545"/>
            <a:ext cx="255651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defTabSz="685800" fontAlgn="base">
              <a:lnSpc>
                <a:spcPct val="130000"/>
              </a:lnSpc>
              <a:spcBef>
                <a:spcPct val="0"/>
              </a:spcBef>
              <a:spcAft>
                <a:spcPct val="0"/>
              </a:spcAft>
              <a:defRPr/>
            </a:pPr>
            <a:r>
              <a:rPr lang="en-US" altLang="zh-CN" sz="2665" dirty="0">
                <a:solidFill>
                  <a:schemeClr val="tx2"/>
                </a:solidFill>
                <a:latin typeface="+mn-lt"/>
                <a:ea typeface="+mn-ea"/>
                <a:cs typeface="+mn-ea"/>
                <a:sym typeface="+mn-lt"/>
              </a:rPr>
              <a:t>项目背景与目标</a:t>
            </a:r>
            <a:endParaRPr lang="en-US" altLang="zh-CN" sz="2665" dirty="0">
              <a:solidFill>
                <a:schemeClr val="tx2"/>
              </a:solidFill>
              <a:latin typeface="+mn-lt"/>
              <a:ea typeface="+mn-ea"/>
              <a:cs typeface="+mn-ea"/>
              <a:sym typeface="+mn-lt"/>
            </a:endParaRPr>
          </a:p>
        </p:txBody>
      </p:sp>
      <p:sp>
        <p:nvSpPr>
          <p:cNvPr id="180" name="文本框 6"/>
          <p:cNvSpPr txBox="1">
            <a:spLocks noChangeArrowheads="1"/>
          </p:cNvSpPr>
          <p:nvPr/>
        </p:nvSpPr>
        <p:spPr bwMode="auto">
          <a:xfrm>
            <a:off x="4958080" y="2293434"/>
            <a:ext cx="2275840" cy="625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dist" defTabSz="685800" fontAlgn="base">
              <a:lnSpc>
                <a:spcPct val="130000"/>
              </a:lnSpc>
              <a:spcBef>
                <a:spcPct val="0"/>
              </a:spcBef>
              <a:spcAft>
                <a:spcPct val="0"/>
              </a:spcAft>
              <a:defRPr/>
            </a:pPr>
            <a:r>
              <a:rPr lang="en-US" altLang="zh-CN" sz="2665" dirty="0">
                <a:solidFill>
                  <a:schemeClr val="accent1"/>
                </a:solidFill>
                <a:latin typeface="+mn-lt"/>
                <a:ea typeface="+mn-ea"/>
                <a:cs typeface="+mn-ea"/>
                <a:sym typeface="+mn-lt"/>
              </a:rPr>
              <a:t>/ </a:t>
            </a:r>
            <a:r>
              <a:rPr lang="zh-CN" altLang="en-US" sz="2665" dirty="0">
                <a:solidFill>
                  <a:schemeClr val="accent1"/>
                </a:solidFill>
                <a:latin typeface="+mn-lt"/>
                <a:ea typeface="+mn-ea"/>
                <a:cs typeface="+mn-ea"/>
                <a:sym typeface="+mn-lt"/>
              </a:rPr>
              <a:t>第</a:t>
            </a:r>
            <a:r>
              <a:rPr lang="en-US" altLang="zh-CN" sz="2665" dirty="0">
                <a:solidFill>
                  <a:schemeClr val="accent1"/>
                </a:solidFill>
                <a:latin typeface="+mn-lt"/>
                <a:ea typeface="+mn-ea"/>
                <a:cs typeface="+mn-ea"/>
                <a:sym typeface="+mn-lt"/>
              </a:rPr>
              <a:t>1</a:t>
            </a:r>
            <a:r>
              <a:rPr lang="zh-CN" altLang="en-US" sz="2665" dirty="0">
                <a:solidFill>
                  <a:schemeClr val="accent1"/>
                </a:solidFill>
                <a:latin typeface="+mn-lt"/>
                <a:ea typeface="+mn-ea"/>
                <a:cs typeface="+mn-ea"/>
                <a:sym typeface="+mn-lt"/>
              </a:rPr>
              <a:t>章 </a:t>
            </a:r>
            <a:r>
              <a:rPr lang="en-US" altLang="zh-CN" sz="2665" dirty="0">
                <a:solidFill>
                  <a:schemeClr val="accent1"/>
                </a:solidFill>
                <a:latin typeface="+mn-lt"/>
                <a:ea typeface="+mn-ea"/>
                <a:cs typeface="+mn-ea"/>
                <a:sym typeface="+mn-lt"/>
              </a:rPr>
              <a:t>/</a:t>
            </a:r>
            <a:endParaRPr lang="zh-CN" altLang="en-US" sz="2665" dirty="0">
              <a:solidFill>
                <a:schemeClr val="accent1"/>
              </a:solidFill>
              <a:latin typeface="+mn-lt"/>
              <a:ea typeface="+mn-ea"/>
              <a:cs typeface="+mn-ea"/>
              <a:sym typeface="+mn-lt"/>
            </a:endParaRPr>
          </a:p>
        </p:txBody>
      </p:sp>
      <p:sp>
        <p:nvSpPr>
          <p:cNvPr id="3" name="矩形 2"/>
          <p:cNvSpPr/>
          <p:nvPr/>
        </p:nvSpPr>
        <p:spPr>
          <a:xfrm>
            <a:off x="5301553" y="3677612"/>
            <a:ext cx="1588897" cy="502766"/>
          </a:xfrm>
          <a:prstGeom prst="rect">
            <a:avLst/>
          </a:prstGeom>
        </p:spPr>
        <p:txBody>
          <a:bodyPr wrap="none">
            <a:spAutoFit/>
          </a:bodyPr>
          <a:lstStyle/>
          <a:p>
            <a:pPr lvl="0" algn="ctr"/>
            <a:r>
              <a:rPr lang="en-US" altLang="zh-CN" sz="2665" spc="800" dirty="0">
                <a:solidFill>
                  <a:schemeClr val="accent1"/>
                </a:solidFill>
                <a:cs typeface="+mn-ea"/>
                <a:sym typeface="+mn-lt"/>
              </a:rPr>
              <a:t>//////</a:t>
            </a:r>
            <a:endParaRPr lang="zh-CN" altLang="en-US" sz="2400"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267460" y="1677035"/>
            <a:ext cx="154622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pc="400" noProof="0" dirty="0">
                <a:ln>
                  <a:noFill/>
                </a:ln>
                <a:solidFill>
                  <a:srgbClr val="313C41"/>
                </a:solidFill>
                <a:effectLst/>
                <a:uLnTx/>
                <a:uFillTx/>
                <a:latin typeface="Arvo"/>
                <a:cs typeface="Arvo"/>
                <a:sym typeface="+mn-ea"/>
              </a:rPr>
              <a:t>项目背景</a:t>
            </a:r>
            <a:endParaRPr kumimoji="0" lang="id-ID" sz="1800" b="0" i="0" u="none" strike="noStrike" kern="1200" cap="none" spc="0" normalizeH="0" baseline="0" noProof="0" dirty="0">
              <a:ln>
                <a:noFill/>
              </a:ln>
              <a:solidFill>
                <a:srgbClr val="3F3F3F"/>
              </a:solidFill>
              <a:effectLst/>
              <a:uLnTx/>
              <a:uFillTx/>
              <a:latin typeface="Lato"/>
              <a:ea typeface="+mn-ea"/>
              <a:cs typeface="+mn-cs"/>
            </a:endParaRPr>
          </a:p>
        </p:txBody>
      </p:sp>
      <p:sp>
        <p:nvSpPr>
          <p:cNvPr id="9" name="Rectangle 8"/>
          <p:cNvSpPr/>
          <p:nvPr/>
        </p:nvSpPr>
        <p:spPr>
          <a:xfrm>
            <a:off x="825500" y="2125980"/>
            <a:ext cx="3936365" cy="3681730"/>
          </a:xfrm>
          <a:prstGeom prst="rect">
            <a:avLst/>
          </a:prstGeom>
        </p:spPr>
        <p:txBody>
          <a:bodyPr wrap="square">
            <a:spAutoFit/>
          </a:bodyPr>
          <a:lstStyle/>
          <a:p>
            <a:pPr marL="0" marR="0" lvl="0" indent="0" algn="just" defTabSz="914400" rtl="0" eaLnBrk="1" fontAlgn="auto" latinLnBrk="0" hangingPunct="1">
              <a:lnSpc>
                <a:spcPts val="2000"/>
              </a:lnSpc>
              <a:spcBef>
                <a:spcPts val="0"/>
              </a:spcBef>
              <a:spcAft>
                <a:spcPts val="0"/>
              </a:spcAft>
              <a:buClrTx/>
              <a:buSzTx/>
              <a:buFontTx/>
              <a:buNone/>
              <a:defRPr/>
            </a:pPr>
            <a:r>
              <a:rPr kumimoji="0" lang="id-ID"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结直肠癌是一种常见的消化道恶性肿瘤，其发病率在全球恶性肿瘤中位居第三。结直肠肿瘤通常由结直肠息肉发展而来；与增生性息肉相比，腺瘤性息肉的发展时间更短、癌变可能性更高。可见，息肉的准确检测与鉴别可以帮助医生确定治疗方案、判断病人预后。肠镜检查能够使医生观察息肉病变程度和病灶周围的黏膜情况。然而，受到主观性限制，息肉人工漏检率约为22%，增生性和腺瘤性息肉的诊断准确率通常低于70%。因此，研究结直肠息肉智能检测与诊断的一体化算法对于降低漏检率和误检率、提高诊断效率具有重要意义。</a:t>
            </a:r>
            <a:endParaRPr kumimoji="0" lang="id-ID"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endParaRPr>
          </a:p>
        </p:txBody>
      </p:sp>
      <p:sp>
        <p:nvSpPr>
          <p:cNvPr id="10" name="TextBox 9"/>
          <p:cNvSpPr txBox="1"/>
          <p:nvPr/>
        </p:nvSpPr>
        <p:spPr>
          <a:xfrm>
            <a:off x="6205352" y="1676993"/>
            <a:ext cx="109728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id-ID" sz="1800" b="0" i="0" u="none" strike="noStrike" kern="1200" cap="none" spc="0" normalizeH="0" baseline="0" noProof="0" dirty="0">
                <a:ln>
                  <a:noFill/>
                </a:ln>
                <a:solidFill>
                  <a:srgbClr val="3F3F3F"/>
                </a:solidFill>
                <a:effectLst/>
                <a:uLnTx/>
                <a:uFillTx/>
                <a:latin typeface="Lato"/>
                <a:ea typeface="+mn-ea"/>
                <a:cs typeface="+mn-cs"/>
              </a:rPr>
              <a:t>项目目标</a:t>
            </a:r>
            <a:endParaRPr kumimoji="0" lang="zh-CN" altLang="id-ID" sz="1800" b="0" i="0" u="none" strike="noStrike" kern="1200" cap="none" spc="0" normalizeH="0" baseline="0" noProof="0" dirty="0">
              <a:ln>
                <a:noFill/>
              </a:ln>
              <a:solidFill>
                <a:srgbClr val="3F3F3F"/>
              </a:solidFill>
              <a:effectLst/>
              <a:uLnTx/>
              <a:uFillTx/>
              <a:latin typeface="Lato"/>
              <a:ea typeface="+mn-ea"/>
              <a:cs typeface="+mn-cs"/>
            </a:endParaRPr>
          </a:p>
        </p:txBody>
      </p:sp>
      <p:sp>
        <p:nvSpPr>
          <p:cNvPr id="11" name="Rectangle 10"/>
          <p:cNvSpPr/>
          <p:nvPr/>
        </p:nvSpPr>
        <p:spPr>
          <a:xfrm>
            <a:off x="5789295" y="2009140"/>
            <a:ext cx="5229860" cy="1373505"/>
          </a:xfrm>
          <a:prstGeom prst="rect">
            <a:avLst/>
          </a:prstGeom>
        </p:spPr>
        <p:txBody>
          <a:bodyPr wrap="square">
            <a:spAutoFit/>
          </a:bodyPr>
          <a:lstStyle/>
          <a:p>
            <a:pPr marL="0" marR="0" lvl="0" indent="0" algn="just" defTabSz="914400" rtl="0" eaLnBrk="1" fontAlgn="auto" latinLnBrk="0" hangingPunct="1">
              <a:lnSpc>
                <a:spcPts val="2000"/>
              </a:lnSpc>
              <a:spcBef>
                <a:spcPts val="0"/>
              </a:spcBef>
              <a:spcAft>
                <a:spcPts val="0"/>
              </a:spcAft>
              <a:buClrTx/>
              <a:buSzTx/>
              <a:buFontTx/>
              <a:buNone/>
              <a:defRPr/>
            </a:pPr>
            <a:r>
              <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选择并优化一种模型，计算模型应具备在内镜光学图像中检测息肉并判断息肉类别的能力（增生性息肉或者腺瘤性息肉），同时在精度（Precision）、敏感性（Sensitivity）、F1分数（F1-score）、mAP@0.5、帧率（Frame Rate）五个指标有较好的表现。</a:t>
            </a:r>
            <a:endPar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endParaRPr>
          </a:p>
        </p:txBody>
      </p:sp>
      <p:sp>
        <p:nvSpPr>
          <p:cNvPr id="19" name="Freeform 252"/>
          <p:cNvSpPr>
            <a:spLocks noEditPoints="1"/>
          </p:cNvSpPr>
          <p:nvPr/>
        </p:nvSpPr>
        <p:spPr bwMode="auto">
          <a:xfrm>
            <a:off x="5806052" y="1555037"/>
            <a:ext cx="336833" cy="460808"/>
          </a:xfrm>
          <a:custGeom>
            <a:avLst/>
            <a:gdLst>
              <a:gd name="T0" fmla="*/ 51 w 61"/>
              <a:gd name="T1" fmla="*/ 54 h 80"/>
              <a:gd name="T2" fmla="*/ 7 w 61"/>
              <a:gd name="T3" fmla="*/ 25 h 80"/>
              <a:gd name="T4" fmla="*/ 5 w 61"/>
              <a:gd name="T5" fmla="*/ 42 h 80"/>
              <a:gd name="T6" fmla="*/ 12 w 61"/>
              <a:gd name="T7" fmla="*/ 60 h 80"/>
              <a:gd name="T8" fmla="*/ 17 w 61"/>
              <a:gd name="T9" fmla="*/ 80 h 80"/>
              <a:gd name="T10" fmla="*/ 37 w 61"/>
              <a:gd name="T11" fmla="*/ 66 h 80"/>
              <a:gd name="T12" fmla="*/ 12 w 61"/>
              <a:gd name="T13" fmla="*/ 57 h 80"/>
              <a:gd name="T14" fmla="*/ 7 w 61"/>
              <a:gd name="T15" fmla="*/ 44 h 80"/>
              <a:gd name="T16" fmla="*/ 10 w 61"/>
              <a:gd name="T17" fmla="*/ 25 h 80"/>
              <a:gd name="T18" fmla="*/ 47 w 61"/>
              <a:gd name="T19" fmla="*/ 52 h 80"/>
              <a:gd name="T20" fmla="*/ 55 w 61"/>
              <a:gd name="T21" fmla="*/ 66 h 80"/>
              <a:gd name="T22" fmla="*/ 29 w 61"/>
              <a:gd name="T23" fmla="*/ 14 h 80"/>
              <a:gd name="T24" fmla="*/ 35 w 61"/>
              <a:gd name="T25" fmla="*/ 15 h 80"/>
              <a:gd name="T26" fmla="*/ 34 w 61"/>
              <a:gd name="T27" fmla="*/ 11 h 80"/>
              <a:gd name="T28" fmla="*/ 32 w 61"/>
              <a:gd name="T29" fmla="*/ 9 h 80"/>
              <a:gd name="T30" fmla="*/ 29 w 61"/>
              <a:gd name="T31" fmla="*/ 8 h 80"/>
              <a:gd name="T32" fmla="*/ 25 w 61"/>
              <a:gd name="T33" fmla="*/ 9 h 80"/>
              <a:gd name="T34" fmla="*/ 22 w 61"/>
              <a:gd name="T35" fmla="*/ 10 h 80"/>
              <a:gd name="T36" fmla="*/ 21 w 61"/>
              <a:gd name="T37" fmla="*/ 14 h 80"/>
              <a:gd name="T38" fmla="*/ 22 w 61"/>
              <a:gd name="T39" fmla="*/ 16 h 80"/>
              <a:gd name="T40" fmla="*/ 25 w 61"/>
              <a:gd name="T41" fmla="*/ 19 h 80"/>
              <a:gd name="T42" fmla="*/ 29 w 61"/>
              <a:gd name="T43" fmla="*/ 20 h 80"/>
              <a:gd name="T44" fmla="*/ 32 w 61"/>
              <a:gd name="T45" fmla="*/ 19 h 80"/>
              <a:gd name="T46" fmla="*/ 28 w 61"/>
              <a:gd name="T47" fmla="*/ 10 h 80"/>
              <a:gd name="T48" fmla="*/ 37 w 61"/>
              <a:gd name="T49" fmla="*/ 13 h 80"/>
              <a:gd name="T50" fmla="*/ 38 w 61"/>
              <a:gd name="T51" fmla="*/ 16 h 80"/>
              <a:gd name="T52" fmla="*/ 40 w 61"/>
              <a:gd name="T53" fmla="*/ 18 h 80"/>
              <a:gd name="T54" fmla="*/ 42 w 61"/>
              <a:gd name="T55" fmla="*/ 19 h 80"/>
              <a:gd name="T56" fmla="*/ 45 w 61"/>
              <a:gd name="T57" fmla="*/ 18 h 80"/>
              <a:gd name="T58" fmla="*/ 46 w 61"/>
              <a:gd name="T59" fmla="*/ 16 h 80"/>
              <a:gd name="T60" fmla="*/ 47 w 61"/>
              <a:gd name="T61" fmla="*/ 13 h 80"/>
              <a:gd name="T62" fmla="*/ 47 w 61"/>
              <a:gd name="T63" fmla="*/ 11 h 80"/>
              <a:gd name="T64" fmla="*/ 44 w 61"/>
              <a:gd name="T65" fmla="*/ 9 h 80"/>
              <a:gd name="T66" fmla="*/ 41 w 61"/>
              <a:gd name="T67" fmla="*/ 8 h 80"/>
              <a:gd name="T68" fmla="*/ 39 w 61"/>
              <a:gd name="T69" fmla="*/ 9 h 80"/>
              <a:gd name="T70" fmla="*/ 38 w 61"/>
              <a:gd name="T71" fmla="*/ 11 h 80"/>
              <a:gd name="T72" fmla="*/ 40 w 61"/>
              <a:gd name="T73" fmla="*/ 15 h 80"/>
              <a:gd name="T74" fmla="*/ 34 w 61"/>
              <a:gd name="T75" fmla="*/ 23 h 80"/>
              <a:gd name="T76" fmla="*/ 36 w 61"/>
              <a:gd name="T77" fmla="*/ 24 h 80"/>
              <a:gd name="T78" fmla="*/ 38 w 61"/>
              <a:gd name="T79" fmla="*/ 25 h 80"/>
              <a:gd name="T80" fmla="*/ 39 w 61"/>
              <a:gd name="T81" fmla="*/ 24 h 80"/>
              <a:gd name="T82" fmla="*/ 40 w 61"/>
              <a:gd name="T83" fmla="*/ 23 h 80"/>
              <a:gd name="T84" fmla="*/ 40 w 61"/>
              <a:gd name="T85" fmla="*/ 21 h 80"/>
              <a:gd name="T86" fmla="*/ 39 w 61"/>
              <a:gd name="T87" fmla="*/ 19 h 80"/>
              <a:gd name="T88" fmla="*/ 37 w 61"/>
              <a:gd name="T89" fmla="*/ 18 h 80"/>
              <a:gd name="T90" fmla="*/ 35 w 61"/>
              <a:gd name="T91" fmla="*/ 19 h 80"/>
              <a:gd name="T92" fmla="*/ 34 w 61"/>
              <a:gd name="T93" fmla="*/ 19 h 80"/>
              <a:gd name="T94" fmla="*/ 33 w 61"/>
              <a:gd name="T95" fmla="*/ 21 h 80"/>
              <a:gd name="T96" fmla="*/ 38 w 61"/>
              <a:gd name="T97" fmla="*/ 20 h 80"/>
              <a:gd name="T98" fmla="*/ 36 w 61"/>
              <a:gd name="T99" fmla="*/ 22 h 80"/>
              <a:gd name="T100" fmla="*/ 45 w 61"/>
              <a:gd name="T101" fmla="*/ 19 h 80"/>
              <a:gd name="T102" fmla="*/ 44 w 61"/>
              <a:gd name="T103" fmla="*/ 22 h 80"/>
              <a:gd name="T104" fmla="*/ 43 w 61"/>
              <a:gd name="T105" fmla="*/ 24 h 80"/>
              <a:gd name="T106" fmla="*/ 44 w 61"/>
              <a:gd name="T107" fmla="*/ 27 h 80"/>
              <a:gd name="T108" fmla="*/ 46 w 61"/>
              <a:gd name="T109" fmla="*/ 29 h 80"/>
              <a:gd name="T110" fmla="*/ 49 w 61"/>
              <a:gd name="T111" fmla="*/ 29 h 80"/>
              <a:gd name="T112" fmla="*/ 51 w 61"/>
              <a:gd name="T113" fmla="*/ 28 h 80"/>
              <a:gd name="T114" fmla="*/ 53 w 61"/>
              <a:gd name="T115" fmla="*/ 26 h 80"/>
              <a:gd name="T116" fmla="*/ 53 w 61"/>
              <a:gd name="T117" fmla="*/ 23 h 80"/>
              <a:gd name="T118" fmla="*/ 51 w 61"/>
              <a:gd name="T119" fmla="*/ 20 h 80"/>
              <a:gd name="T120" fmla="*/ 48 w 61"/>
              <a:gd name="T121" fmla="*/ 19 h 80"/>
              <a:gd name="T122" fmla="*/ 46 w 61"/>
              <a:gd name="T123" fmla="*/ 2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1" h="80">
                <a:moveTo>
                  <a:pt x="60" y="78"/>
                </a:moveTo>
                <a:cubicBezTo>
                  <a:pt x="60" y="74"/>
                  <a:pt x="60" y="74"/>
                  <a:pt x="60" y="74"/>
                </a:cubicBezTo>
                <a:cubicBezTo>
                  <a:pt x="59" y="70"/>
                  <a:pt x="58" y="67"/>
                  <a:pt x="57" y="65"/>
                </a:cubicBezTo>
                <a:cubicBezTo>
                  <a:pt x="57" y="65"/>
                  <a:pt x="57" y="64"/>
                  <a:pt x="56" y="63"/>
                </a:cubicBezTo>
                <a:cubicBezTo>
                  <a:pt x="56" y="62"/>
                  <a:pt x="56" y="62"/>
                  <a:pt x="57" y="62"/>
                </a:cubicBezTo>
                <a:cubicBezTo>
                  <a:pt x="57" y="61"/>
                  <a:pt x="57" y="61"/>
                  <a:pt x="56" y="60"/>
                </a:cubicBezTo>
                <a:cubicBezTo>
                  <a:pt x="52" y="54"/>
                  <a:pt x="52" y="54"/>
                  <a:pt x="52" y="54"/>
                </a:cubicBezTo>
                <a:cubicBezTo>
                  <a:pt x="51" y="54"/>
                  <a:pt x="51" y="54"/>
                  <a:pt x="51" y="54"/>
                </a:cubicBezTo>
                <a:cubicBezTo>
                  <a:pt x="50" y="53"/>
                  <a:pt x="50" y="52"/>
                  <a:pt x="50" y="52"/>
                </a:cubicBezTo>
                <a:cubicBezTo>
                  <a:pt x="50" y="50"/>
                  <a:pt x="52" y="47"/>
                  <a:pt x="53" y="44"/>
                </a:cubicBezTo>
                <a:cubicBezTo>
                  <a:pt x="55" y="41"/>
                  <a:pt x="58" y="36"/>
                  <a:pt x="59" y="30"/>
                </a:cubicBezTo>
                <a:cubicBezTo>
                  <a:pt x="60" y="23"/>
                  <a:pt x="58" y="12"/>
                  <a:pt x="52" y="6"/>
                </a:cubicBezTo>
                <a:cubicBezTo>
                  <a:pt x="46" y="2"/>
                  <a:pt x="42" y="1"/>
                  <a:pt x="36" y="0"/>
                </a:cubicBezTo>
                <a:cubicBezTo>
                  <a:pt x="35" y="0"/>
                  <a:pt x="34" y="0"/>
                  <a:pt x="33" y="0"/>
                </a:cubicBezTo>
                <a:cubicBezTo>
                  <a:pt x="27" y="0"/>
                  <a:pt x="12" y="2"/>
                  <a:pt x="8" y="14"/>
                </a:cubicBezTo>
                <a:cubicBezTo>
                  <a:pt x="6" y="19"/>
                  <a:pt x="6" y="23"/>
                  <a:pt x="7" y="25"/>
                </a:cubicBezTo>
                <a:cubicBezTo>
                  <a:pt x="7" y="26"/>
                  <a:pt x="7" y="26"/>
                  <a:pt x="7" y="26"/>
                </a:cubicBezTo>
                <a:cubicBezTo>
                  <a:pt x="7" y="27"/>
                  <a:pt x="8" y="27"/>
                  <a:pt x="8" y="27"/>
                </a:cubicBezTo>
                <a:cubicBezTo>
                  <a:pt x="7" y="28"/>
                  <a:pt x="6" y="30"/>
                  <a:pt x="5" y="31"/>
                </a:cubicBezTo>
                <a:cubicBezTo>
                  <a:pt x="3" y="33"/>
                  <a:pt x="3" y="33"/>
                  <a:pt x="3" y="33"/>
                </a:cubicBezTo>
                <a:cubicBezTo>
                  <a:pt x="3" y="33"/>
                  <a:pt x="3" y="34"/>
                  <a:pt x="2" y="34"/>
                </a:cubicBezTo>
                <a:cubicBezTo>
                  <a:pt x="1" y="36"/>
                  <a:pt x="0" y="37"/>
                  <a:pt x="0" y="39"/>
                </a:cubicBezTo>
                <a:cubicBezTo>
                  <a:pt x="0" y="41"/>
                  <a:pt x="2" y="41"/>
                  <a:pt x="4" y="42"/>
                </a:cubicBezTo>
                <a:cubicBezTo>
                  <a:pt x="4" y="42"/>
                  <a:pt x="5" y="42"/>
                  <a:pt x="5" y="42"/>
                </a:cubicBezTo>
                <a:cubicBezTo>
                  <a:pt x="5" y="42"/>
                  <a:pt x="5" y="42"/>
                  <a:pt x="5" y="43"/>
                </a:cubicBezTo>
                <a:cubicBezTo>
                  <a:pt x="4" y="44"/>
                  <a:pt x="4" y="44"/>
                  <a:pt x="4" y="45"/>
                </a:cubicBezTo>
                <a:cubicBezTo>
                  <a:pt x="4" y="45"/>
                  <a:pt x="5" y="46"/>
                  <a:pt x="5" y="46"/>
                </a:cubicBezTo>
                <a:cubicBezTo>
                  <a:pt x="5" y="46"/>
                  <a:pt x="5" y="47"/>
                  <a:pt x="5" y="47"/>
                </a:cubicBezTo>
                <a:cubicBezTo>
                  <a:pt x="5" y="48"/>
                  <a:pt x="5" y="48"/>
                  <a:pt x="5" y="49"/>
                </a:cubicBezTo>
                <a:cubicBezTo>
                  <a:pt x="6" y="49"/>
                  <a:pt x="7" y="50"/>
                  <a:pt x="6" y="52"/>
                </a:cubicBezTo>
                <a:cubicBezTo>
                  <a:pt x="6" y="54"/>
                  <a:pt x="6" y="56"/>
                  <a:pt x="7" y="58"/>
                </a:cubicBezTo>
                <a:cubicBezTo>
                  <a:pt x="8" y="59"/>
                  <a:pt x="10" y="59"/>
                  <a:pt x="12" y="60"/>
                </a:cubicBezTo>
                <a:cubicBezTo>
                  <a:pt x="13" y="60"/>
                  <a:pt x="15" y="60"/>
                  <a:pt x="16" y="59"/>
                </a:cubicBezTo>
                <a:cubicBezTo>
                  <a:pt x="17" y="59"/>
                  <a:pt x="18" y="59"/>
                  <a:pt x="19" y="59"/>
                </a:cubicBezTo>
                <a:cubicBezTo>
                  <a:pt x="20" y="59"/>
                  <a:pt x="21" y="60"/>
                  <a:pt x="21" y="60"/>
                </a:cubicBezTo>
                <a:cubicBezTo>
                  <a:pt x="23" y="61"/>
                  <a:pt x="24" y="65"/>
                  <a:pt x="24" y="68"/>
                </a:cubicBezTo>
                <a:cubicBezTo>
                  <a:pt x="24" y="68"/>
                  <a:pt x="24" y="68"/>
                  <a:pt x="24" y="68"/>
                </a:cubicBezTo>
                <a:cubicBezTo>
                  <a:pt x="19" y="73"/>
                  <a:pt x="16" y="77"/>
                  <a:pt x="16" y="77"/>
                </a:cubicBezTo>
                <a:cubicBezTo>
                  <a:pt x="15" y="78"/>
                  <a:pt x="15" y="79"/>
                  <a:pt x="16" y="79"/>
                </a:cubicBezTo>
                <a:cubicBezTo>
                  <a:pt x="16" y="80"/>
                  <a:pt x="17" y="80"/>
                  <a:pt x="17" y="80"/>
                </a:cubicBezTo>
                <a:cubicBezTo>
                  <a:pt x="17" y="80"/>
                  <a:pt x="17" y="80"/>
                  <a:pt x="17" y="80"/>
                </a:cubicBezTo>
                <a:cubicBezTo>
                  <a:pt x="18" y="80"/>
                  <a:pt x="18" y="80"/>
                  <a:pt x="18" y="80"/>
                </a:cubicBezTo>
                <a:cubicBezTo>
                  <a:pt x="59" y="80"/>
                  <a:pt x="59" y="80"/>
                  <a:pt x="59" y="80"/>
                </a:cubicBezTo>
                <a:cubicBezTo>
                  <a:pt x="59" y="80"/>
                  <a:pt x="59" y="80"/>
                  <a:pt x="59" y="80"/>
                </a:cubicBezTo>
                <a:cubicBezTo>
                  <a:pt x="60" y="80"/>
                  <a:pt x="61" y="79"/>
                  <a:pt x="61" y="78"/>
                </a:cubicBezTo>
                <a:cubicBezTo>
                  <a:pt x="61" y="78"/>
                  <a:pt x="61" y="78"/>
                  <a:pt x="60" y="78"/>
                </a:cubicBezTo>
                <a:close/>
                <a:moveTo>
                  <a:pt x="53" y="60"/>
                </a:moveTo>
                <a:cubicBezTo>
                  <a:pt x="50" y="61"/>
                  <a:pt x="43" y="63"/>
                  <a:pt x="37" y="66"/>
                </a:cubicBezTo>
                <a:cubicBezTo>
                  <a:pt x="34" y="67"/>
                  <a:pt x="29" y="69"/>
                  <a:pt x="25" y="72"/>
                </a:cubicBezTo>
                <a:cubicBezTo>
                  <a:pt x="28" y="69"/>
                  <a:pt x="31" y="66"/>
                  <a:pt x="35" y="64"/>
                </a:cubicBezTo>
                <a:cubicBezTo>
                  <a:pt x="42" y="59"/>
                  <a:pt x="48" y="57"/>
                  <a:pt x="50" y="57"/>
                </a:cubicBezTo>
                <a:lnTo>
                  <a:pt x="53" y="60"/>
                </a:lnTo>
                <a:close/>
                <a:moveTo>
                  <a:pt x="23" y="57"/>
                </a:moveTo>
                <a:cubicBezTo>
                  <a:pt x="21" y="56"/>
                  <a:pt x="19" y="56"/>
                  <a:pt x="16" y="56"/>
                </a:cubicBezTo>
                <a:cubicBezTo>
                  <a:pt x="15" y="57"/>
                  <a:pt x="14" y="57"/>
                  <a:pt x="13" y="57"/>
                </a:cubicBezTo>
                <a:cubicBezTo>
                  <a:pt x="13" y="57"/>
                  <a:pt x="12" y="57"/>
                  <a:pt x="12" y="57"/>
                </a:cubicBezTo>
                <a:cubicBezTo>
                  <a:pt x="11" y="56"/>
                  <a:pt x="10" y="56"/>
                  <a:pt x="9" y="56"/>
                </a:cubicBezTo>
                <a:cubicBezTo>
                  <a:pt x="9" y="55"/>
                  <a:pt x="9" y="54"/>
                  <a:pt x="9" y="53"/>
                </a:cubicBezTo>
                <a:cubicBezTo>
                  <a:pt x="10" y="50"/>
                  <a:pt x="9" y="48"/>
                  <a:pt x="8" y="47"/>
                </a:cubicBezTo>
                <a:cubicBezTo>
                  <a:pt x="8" y="47"/>
                  <a:pt x="8" y="47"/>
                  <a:pt x="8" y="47"/>
                </a:cubicBezTo>
                <a:cubicBezTo>
                  <a:pt x="8" y="46"/>
                  <a:pt x="8" y="46"/>
                  <a:pt x="8" y="46"/>
                </a:cubicBezTo>
                <a:cubicBezTo>
                  <a:pt x="8" y="45"/>
                  <a:pt x="8" y="45"/>
                  <a:pt x="8" y="45"/>
                </a:cubicBezTo>
                <a:cubicBezTo>
                  <a:pt x="8" y="44"/>
                  <a:pt x="7" y="44"/>
                  <a:pt x="7" y="44"/>
                </a:cubicBezTo>
                <a:cubicBezTo>
                  <a:pt x="7" y="44"/>
                  <a:pt x="7" y="44"/>
                  <a:pt x="7" y="44"/>
                </a:cubicBezTo>
                <a:cubicBezTo>
                  <a:pt x="8" y="43"/>
                  <a:pt x="8" y="42"/>
                  <a:pt x="8" y="41"/>
                </a:cubicBezTo>
                <a:cubicBezTo>
                  <a:pt x="8" y="40"/>
                  <a:pt x="7" y="40"/>
                  <a:pt x="5" y="39"/>
                </a:cubicBezTo>
                <a:cubicBezTo>
                  <a:pt x="4" y="39"/>
                  <a:pt x="3" y="39"/>
                  <a:pt x="3" y="38"/>
                </a:cubicBezTo>
                <a:cubicBezTo>
                  <a:pt x="3" y="38"/>
                  <a:pt x="4" y="37"/>
                  <a:pt x="5" y="36"/>
                </a:cubicBezTo>
                <a:cubicBezTo>
                  <a:pt x="5" y="36"/>
                  <a:pt x="5" y="35"/>
                  <a:pt x="6" y="35"/>
                </a:cubicBezTo>
                <a:cubicBezTo>
                  <a:pt x="7" y="33"/>
                  <a:pt x="7" y="33"/>
                  <a:pt x="7" y="33"/>
                </a:cubicBezTo>
                <a:cubicBezTo>
                  <a:pt x="10" y="30"/>
                  <a:pt x="11" y="29"/>
                  <a:pt x="11" y="28"/>
                </a:cubicBezTo>
                <a:cubicBezTo>
                  <a:pt x="11" y="27"/>
                  <a:pt x="10" y="26"/>
                  <a:pt x="10" y="25"/>
                </a:cubicBezTo>
                <a:cubicBezTo>
                  <a:pt x="10" y="25"/>
                  <a:pt x="10" y="25"/>
                  <a:pt x="10" y="24"/>
                </a:cubicBezTo>
                <a:cubicBezTo>
                  <a:pt x="9" y="23"/>
                  <a:pt x="9" y="21"/>
                  <a:pt x="11" y="15"/>
                </a:cubicBezTo>
                <a:cubicBezTo>
                  <a:pt x="14" y="4"/>
                  <a:pt x="27" y="3"/>
                  <a:pt x="33" y="3"/>
                </a:cubicBezTo>
                <a:cubicBezTo>
                  <a:pt x="34" y="3"/>
                  <a:pt x="35" y="3"/>
                  <a:pt x="35" y="3"/>
                </a:cubicBezTo>
                <a:cubicBezTo>
                  <a:pt x="41" y="4"/>
                  <a:pt x="45" y="5"/>
                  <a:pt x="50" y="9"/>
                </a:cubicBezTo>
                <a:cubicBezTo>
                  <a:pt x="55" y="14"/>
                  <a:pt x="57" y="24"/>
                  <a:pt x="56" y="29"/>
                </a:cubicBezTo>
                <a:cubicBezTo>
                  <a:pt x="55" y="35"/>
                  <a:pt x="53" y="39"/>
                  <a:pt x="51" y="43"/>
                </a:cubicBezTo>
                <a:cubicBezTo>
                  <a:pt x="49" y="46"/>
                  <a:pt x="47" y="49"/>
                  <a:pt x="47" y="52"/>
                </a:cubicBezTo>
                <a:cubicBezTo>
                  <a:pt x="47" y="53"/>
                  <a:pt x="47" y="54"/>
                  <a:pt x="48" y="54"/>
                </a:cubicBezTo>
                <a:cubicBezTo>
                  <a:pt x="45" y="55"/>
                  <a:pt x="40" y="57"/>
                  <a:pt x="33" y="61"/>
                </a:cubicBezTo>
                <a:cubicBezTo>
                  <a:pt x="31" y="63"/>
                  <a:pt x="29" y="64"/>
                  <a:pt x="27" y="66"/>
                </a:cubicBezTo>
                <a:cubicBezTo>
                  <a:pt x="27" y="63"/>
                  <a:pt x="26" y="59"/>
                  <a:pt x="23" y="57"/>
                </a:cubicBezTo>
                <a:close/>
                <a:moveTo>
                  <a:pt x="22" y="77"/>
                </a:moveTo>
                <a:cubicBezTo>
                  <a:pt x="27" y="74"/>
                  <a:pt x="34" y="70"/>
                  <a:pt x="38" y="68"/>
                </a:cubicBezTo>
                <a:cubicBezTo>
                  <a:pt x="44" y="66"/>
                  <a:pt x="49" y="65"/>
                  <a:pt x="53" y="64"/>
                </a:cubicBezTo>
                <a:cubicBezTo>
                  <a:pt x="54" y="65"/>
                  <a:pt x="54" y="66"/>
                  <a:pt x="55" y="66"/>
                </a:cubicBezTo>
                <a:cubicBezTo>
                  <a:pt x="55" y="67"/>
                  <a:pt x="56" y="71"/>
                  <a:pt x="57" y="75"/>
                </a:cubicBezTo>
                <a:cubicBezTo>
                  <a:pt x="57" y="77"/>
                  <a:pt x="57" y="77"/>
                  <a:pt x="57" y="77"/>
                </a:cubicBezTo>
                <a:lnTo>
                  <a:pt x="22" y="77"/>
                </a:lnTo>
                <a:close/>
                <a:moveTo>
                  <a:pt x="29" y="14"/>
                </a:moveTo>
                <a:cubicBezTo>
                  <a:pt x="29" y="14"/>
                  <a:pt x="29" y="15"/>
                  <a:pt x="28" y="15"/>
                </a:cubicBezTo>
                <a:cubicBezTo>
                  <a:pt x="27" y="15"/>
                  <a:pt x="27" y="14"/>
                  <a:pt x="27" y="13"/>
                </a:cubicBezTo>
                <a:cubicBezTo>
                  <a:pt x="27" y="13"/>
                  <a:pt x="27" y="12"/>
                  <a:pt x="28" y="12"/>
                </a:cubicBezTo>
                <a:cubicBezTo>
                  <a:pt x="29" y="12"/>
                  <a:pt x="29" y="13"/>
                  <a:pt x="29" y="14"/>
                </a:cubicBezTo>
                <a:close/>
                <a:moveTo>
                  <a:pt x="34" y="17"/>
                </a:moveTo>
                <a:cubicBezTo>
                  <a:pt x="34" y="17"/>
                  <a:pt x="34" y="17"/>
                  <a:pt x="34" y="17"/>
                </a:cubicBezTo>
                <a:cubicBezTo>
                  <a:pt x="34" y="16"/>
                  <a:pt x="33" y="16"/>
                  <a:pt x="33" y="16"/>
                </a:cubicBezTo>
                <a:cubicBezTo>
                  <a:pt x="34" y="15"/>
                  <a:pt x="34" y="15"/>
                  <a:pt x="34" y="15"/>
                </a:cubicBezTo>
                <a:cubicBezTo>
                  <a:pt x="34" y="15"/>
                  <a:pt x="34" y="15"/>
                  <a:pt x="34" y="15"/>
                </a:cubicBezTo>
                <a:cubicBezTo>
                  <a:pt x="34" y="15"/>
                  <a:pt x="34" y="15"/>
                  <a:pt x="35" y="15"/>
                </a:cubicBezTo>
                <a:cubicBezTo>
                  <a:pt x="35" y="15"/>
                  <a:pt x="35" y="15"/>
                  <a:pt x="35" y="15"/>
                </a:cubicBezTo>
                <a:cubicBezTo>
                  <a:pt x="35" y="15"/>
                  <a:pt x="35" y="15"/>
                  <a:pt x="35" y="15"/>
                </a:cubicBezTo>
                <a:cubicBezTo>
                  <a:pt x="35" y="15"/>
                  <a:pt x="35" y="14"/>
                  <a:pt x="35" y="14"/>
                </a:cubicBezTo>
                <a:cubicBezTo>
                  <a:pt x="35" y="14"/>
                  <a:pt x="35" y="13"/>
                  <a:pt x="35" y="13"/>
                </a:cubicBezTo>
                <a:cubicBezTo>
                  <a:pt x="35" y="13"/>
                  <a:pt x="35" y="13"/>
                  <a:pt x="35" y="13"/>
                </a:cubicBezTo>
                <a:cubicBezTo>
                  <a:pt x="35" y="13"/>
                  <a:pt x="35" y="13"/>
                  <a:pt x="35" y="13"/>
                </a:cubicBezTo>
                <a:cubicBezTo>
                  <a:pt x="35" y="13"/>
                  <a:pt x="35" y="13"/>
                  <a:pt x="35" y="13"/>
                </a:cubicBezTo>
                <a:cubicBezTo>
                  <a:pt x="35" y="13"/>
                  <a:pt x="34" y="13"/>
                  <a:pt x="34" y="13"/>
                </a:cubicBezTo>
                <a:cubicBezTo>
                  <a:pt x="34" y="13"/>
                  <a:pt x="34" y="12"/>
                  <a:pt x="34" y="12"/>
                </a:cubicBezTo>
                <a:cubicBezTo>
                  <a:pt x="34" y="12"/>
                  <a:pt x="34" y="11"/>
                  <a:pt x="34" y="11"/>
                </a:cubicBezTo>
                <a:cubicBezTo>
                  <a:pt x="34" y="11"/>
                  <a:pt x="34" y="11"/>
                  <a:pt x="34" y="11"/>
                </a:cubicBezTo>
                <a:cubicBezTo>
                  <a:pt x="35" y="11"/>
                  <a:pt x="35" y="11"/>
                  <a:pt x="34" y="11"/>
                </a:cubicBezTo>
                <a:cubicBezTo>
                  <a:pt x="34" y="10"/>
                  <a:pt x="34" y="10"/>
                  <a:pt x="33" y="9"/>
                </a:cubicBezTo>
                <a:cubicBezTo>
                  <a:pt x="33" y="9"/>
                  <a:pt x="33" y="9"/>
                  <a:pt x="33" y="9"/>
                </a:cubicBezTo>
                <a:cubicBezTo>
                  <a:pt x="33" y="9"/>
                  <a:pt x="33" y="9"/>
                  <a:pt x="33" y="9"/>
                </a:cubicBezTo>
                <a:cubicBezTo>
                  <a:pt x="33" y="9"/>
                  <a:pt x="33" y="9"/>
                  <a:pt x="33" y="9"/>
                </a:cubicBezTo>
                <a:cubicBezTo>
                  <a:pt x="33" y="9"/>
                  <a:pt x="32" y="9"/>
                  <a:pt x="32" y="9"/>
                </a:cubicBezTo>
                <a:cubicBezTo>
                  <a:pt x="32" y="9"/>
                  <a:pt x="32" y="9"/>
                  <a:pt x="32" y="9"/>
                </a:cubicBezTo>
                <a:cubicBezTo>
                  <a:pt x="32" y="9"/>
                  <a:pt x="31" y="8"/>
                  <a:pt x="32" y="8"/>
                </a:cubicBezTo>
                <a:cubicBezTo>
                  <a:pt x="32" y="8"/>
                  <a:pt x="32" y="8"/>
                  <a:pt x="32" y="8"/>
                </a:cubicBezTo>
                <a:cubicBezTo>
                  <a:pt x="32" y="8"/>
                  <a:pt x="32" y="8"/>
                  <a:pt x="32" y="7"/>
                </a:cubicBezTo>
                <a:cubicBezTo>
                  <a:pt x="31" y="7"/>
                  <a:pt x="30" y="7"/>
                  <a:pt x="30" y="7"/>
                </a:cubicBezTo>
                <a:cubicBezTo>
                  <a:pt x="30" y="7"/>
                  <a:pt x="30" y="7"/>
                  <a:pt x="30" y="7"/>
                </a:cubicBezTo>
                <a:cubicBezTo>
                  <a:pt x="30" y="7"/>
                  <a:pt x="30" y="7"/>
                  <a:pt x="30" y="7"/>
                </a:cubicBezTo>
                <a:cubicBezTo>
                  <a:pt x="29" y="7"/>
                  <a:pt x="29" y="7"/>
                  <a:pt x="29" y="7"/>
                </a:cubicBezTo>
                <a:cubicBezTo>
                  <a:pt x="29" y="8"/>
                  <a:pt x="29" y="8"/>
                  <a:pt x="29" y="8"/>
                </a:cubicBezTo>
                <a:cubicBezTo>
                  <a:pt x="28" y="8"/>
                  <a:pt x="28" y="7"/>
                  <a:pt x="28" y="7"/>
                </a:cubicBezTo>
                <a:cubicBezTo>
                  <a:pt x="28" y="7"/>
                  <a:pt x="28" y="7"/>
                  <a:pt x="28" y="7"/>
                </a:cubicBezTo>
                <a:cubicBezTo>
                  <a:pt x="28" y="7"/>
                  <a:pt x="28" y="7"/>
                  <a:pt x="27" y="7"/>
                </a:cubicBezTo>
                <a:cubicBezTo>
                  <a:pt x="27" y="7"/>
                  <a:pt x="27" y="7"/>
                  <a:pt x="27" y="7"/>
                </a:cubicBezTo>
                <a:cubicBezTo>
                  <a:pt x="27" y="7"/>
                  <a:pt x="26" y="7"/>
                  <a:pt x="26" y="7"/>
                </a:cubicBezTo>
                <a:cubicBezTo>
                  <a:pt x="25" y="7"/>
                  <a:pt x="25" y="7"/>
                  <a:pt x="25" y="7"/>
                </a:cubicBezTo>
                <a:cubicBezTo>
                  <a:pt x="25" y="7"/>
                  <a:pt x="25" y="8"/>
                  <a:pt x="25" y="8"/>
                </a:cubicBezTo>
                <a:cubicBezTo>
                  <a:pt x="26" y="8"/>
                  <a:pt x="25" y="8"/>
                  <a:pt x="25" y="9"/>
                </a:cubicBezTo>
                <a:cubicBezTo>
                  <a:pt x="25" y="9"/>
                  <a:pt x="25" y="9"/>
                  <a:pt x="25" y="9"/>
                </a:cubicBezTo>
                <a:cubicBezTo>
                  <a:pt x="24" y="9"/>
                  <a:pt x="24" y="9"/>
                  <a:pt x="24" y="8"/>
                </a:cubicBezTo>
                <a:cubicBezTo>
                  <a:pt x="24" y="8"/>
                  <a:pt x="24" y="8"/>
                  <a:pt x="24" y="8"/>
                </a:cubicBezTo>
                <a:cubicBezTo>
                  <a:pt x="24" y="8"/>
                  <a:pt x="24" y="8"/>
                  <a:pt x="24" y="8"/>
                </a:cubicBezTo>
                <a:cubicBezTo>
                  <a:pt x="24" y="8"/>
                  <a:pt x="24" y="8"/>
                  <a:pt x="23" y="8"/>
                </a:cubicBezTo>
                <a:cubicBezTo>
                  <a:pt x="23" y="9"/>
                  <a:pt x="23" y="9"/>
                  <a:pt x="22" y="10"/>
                </a:cubicBezTo>
                <a:cubicBezTo>
                  <a:pt x="22" y="10"/>
                  <a:pt x="22" y="10"/>
                  <a:pt x="22" y="10"/>
                </a:cubicBezTo>
                <a:cubicBezTo>
                  <a:pt x="22" y="10"/>
                  <a:pt x="22" y="10"/>
                  <a:pt x="22" y="10"/>
                </a:cubicBezTo>
                <a:cubicBezTo>
                  <a:pt x="23" y="11"/>
                  <a:pt x="23" y="11"/>
                  <a:pt x="23" y="11"/>
                </a:cubicBezTo>
                <a:cubicBezTo>
                  <a:pt x="23" y="12"/>
                  <a:pt x="22" y="12"/>
                  <a:pt x="22" y="12"/>
                </a:cubicBezTo>
                <a:cubicBezTo>
                  <a:pt x="22" y="12"/>
                  <a:pt x="22" y="12"/>
                  <a:pt x="22" y="12"/>
                </a:cubicBezTo>
                <a:cubicBezTo>
                  <a:pt x="22" y="12"/>
                  <a:pt x="22" y="12"/>
                  <a:pt x="22" y="12"/>
                </a:cubicBezTo>
                <a:cubicBezTo>
                  <a:pt x="22" y="12"/>
                  <a:pt x="22" y="12"/>
                  <a:pt x="22" y="12"/>
                </a:cubicBezTo>
                <a:cubicBezTo>
                  <a:pt x="21" y="12"/>
                  <a:pt x="21" y="12"/>
                  <a:pt x="21" y="12"/>
                </a:cubicBezTo>
                <a:cubicBezTo>
                  <a:pt x="21" y="12"/>
                  <a:pt x="21" y="13"/>
                  <a:pt x="21" y="13"/>
                </a:cubicBezTo>
                <a:cubicBezTo>
                  <a:pt x="21" y="13"/>
                  <a:pt x="21" y="14"/>
                  <a:pt x="21" y="14"/>
                </a:cubicBezTo>
                <a:cubicBezTo>
                  <a:pt x="21" y="14"/>
                  <a:pt x="21" y="14"/>
                  <a:pt x="21" y="14"/>
                </a:cubicBezTo>
                <a:cubicBezTo>
                  <a:pt x="21" y="14"/>
                  <a:pt x="22" y="14"/>
                  <a:pt x="22" y="14"/>
                </a:cubicBezTo>
                <a:cubicBezTo>
                  <a:pt x="22" y="14"/>
                  <a:pt x="22" y="14"/>
                  <a:pt x="22" y="14"/>
                </a:cubicBezTo>
                <a:cubicBezTo>
                  <a:pt x="22" y="14"/>
                  <a:pt x="22" y="14"/>
                  <a:pt x="22" y="14"/>
                </a:cubicBezTo>
                <a:cubicBezTo>
                  <a:pt x="22" y="14"/>
                  <a:pt x="22" y="15"/>
                  <a:pt x="23" y="15"/>
                </a:cubicBezTo>
                <a:cubicBezTo>
                  <a:pt x="23" y="15"/>
                  <a:pt x="22" y="16"/>
                  <a:pt x="22" y="16"/>
                </a:cubicBezTo>
                <a:cubicBezTo>
                  <a:pt x="22" y="16"/>
                  <a:pt x="22" y="16"/>
                  <a:pt x="22" y="16"/>
                </a:cubicBezTo>
                <a:cubicBezTo>
                  <a:pt x="22" y="16"/>
                  <a:pt x="22" y="16"/>
                  <a:pt x="22" y="16"/>
                </a:cubicBezTo>
                <a:cubicBezTo>
                  <a:pt x="22" y="17"/>
                  <a:pt x="22" y="17"/>
                  <a:pt x="23" y="18"/>
                </a:cubicBezTo>
                <a:cubicBezTo>
                  <a:pt x="23" y="18"/>
                  <a:pt x="23" y="18"/>
                  <a:pt x="23" y="18"/>
                </a:cubicBezTo>
                <a:cubicBezTo>
                  <a:pt x="23" y="18"/>
                  <a:pt x="23" y="18"/>
                  <a:pt x="23" y="18"/>
                </a:cubicBezTo>
                <a:cubicBezTo>
                  <a:pt x="23" y="18"/>
                  <a:pt x="23" y="18"/>
                  <a:pt x="23" y="18"/>
                </a:cubicBezTo>
                <a:cubicBezTo>
                  <a:pt x="24" y="18"/>
                  <a:pt x="24" y="18"/>
                  <a:pt x="24" y="18"/>
                </a:cubicBezTo>
                <a:cubicBezTo>
                  <a:pt x="24" y="18"/>
                  <a:pt x="24" y="18"/>
                  <a:pt x="24" y="18"/>
                </a:cubicBezTo>
                <a:cubicBezTo>
                  <a:pt x="25" y="18"/>
                  <a:pt x="25" y="19"/>
                  <a:pt x="25" y="19"/>
                </a:cubicBezTo>
                <a:cubicBezTo>
                  <a:pt x="25" y="19"/>
                  <a:pt x="25" y="19"/>
                  <a:pt x="25" y="19"/>
                </a:cubicBezTo>
                <a:cubicBezTo>
                  <a:pt x="25" y="19"/>
                  <a:pt x="25" y="20"/>
                  <a:pt x="25" y="20"/>
                </a:cubicBezTo>
                <a:cubicBezTo>
                  <a:pt x="25" y="20"/>
                  <a:pt x="26" y="20"/>
                  <a:pt x="26" y="20"/>
                </a:cubicBezTo>
                <a:cubicBezTo>
                  <a:pt x="26" y="20"/>
                  <a:pt x="27" y="20"/>
                  <a:pt x="27" y="20"/>
                </a:cubicBezTo>
                <a:cubicBezTo>
                  <a:pt x="27" y="20"/>
                  <a:pt x="27" y="20"/>
                  <a:pt x="27" y="20"/>
                </a:cubicBezTo>
                <a:cubicBezTo>
                  <a:pt x="27" y="20"/>
                  <a:pt x="27" y="20"/>
                  <a:pt x="27" y="20"/>
                </a:cubicBezTo>
                <a:cubicBezTo>
                  <a:pt x="27" y="20"/>
                  <a:pt x="27" y="19"/>
                  <a:pt x="28" y="19"/>
                </a:cubicBezTo>
                <a:cubicBezTo>
                  <a:pt x="28" y="19"/>
                  <a:pt x="28" y="20"/>
                  <a:pt x="28" y="20"/>
                </a:cubicBezTo>
                <a:cubicBezTo>
                  <a:pt x="28" y="20"/>
                  <a:pt x="29" y="20"/>
                  <a:pt x="29" y="20"/>
                </a:cubicBezTo>
                <a:cubicBezTo>
                  <a:pt x="29" y="20"/>
                  <a:pt x="29" y="20"/>
                  <a:pt x="29" y="20"/>
                </a:cubicBezTo>
                <a:cubicBezTo>
                  <a:pt x="29" y="20"/>
                  <a:pt x="29" y="20"/>
                  <a:pt x="29" y="20"/>
                </a:cubicBezTo>
                <a:cubicBezTo>
                  <a:pt x="30" y="20"/>
                  <a:pt x="30" y="20"/>
                  <a:pt x="31" y="20"/>
                </a:cubicBezTo>
                <a:cubicBezTo>
                  <a:pt x="31" y="20"/>
                  <a:pt x="31" y="20"/>
                  <a:pt x="31" y="20"/>
                </a:cubicBezTo>
                <a:cubicBezTo>
                  <a:pt x="31" y="20"/>
                  <a:pt x="31" y="19"/>
                  <a:pt x="31" y="19"/>
                </a:cubicBezTo>
                <a:cubicBezTo>
                  <a:pt x="31" y="19"/>
                  <a:pt x="31" y="19"/>
                  <a:pt x="31" y="18"/>
                </a:cubicBezTo>
                <a:cubicBezTo>
                  <a:pt x="31" y="18"/>
                  <a:pt x="32" y="18"/>
                  <a:pt x="32" y="18"/>
                </a:cubicBezTo>
                <a:cubicBezTo>
                  <a:pt x="32" y="18"/>
                  <a:pt x="32" y="18"/>
                  <a:pt x="32" y="19"/>
                </a:cubicBezTo>
                <a:cubicBezTo>
                  <a:pt x="32" y="19"/>
                  <a:pt x="32" y="19"/>
                  <a:pt x="33" y="19"/>
                </a:cubicBezTo>
                <a:cubicBezTo>
                  <a:pt x="33" y="19"/>
                  <a:pt x="33" y="19"/>
                  <a:pt x="33" y="19"/>
                </a:cubicBezTo>
                <a:cubicBezTo>
                  <a:pt x="33" y="19"/>
                  <a:pt x="33" y="19"/>
                  <a:pt x="33" y="19"/>
                </a:cubicBezTo>
                <a:cubicBezTo>
                  <a:pt x="33" y="18"/>
                  <a:pt x="34" y="18"/>
                  <a:pt x="34" y="17"/>
                </a:cubicBezTo>
                <a:cubicBezTo>
                  <a:pt x="34" y="17"/>
                  <a:pt x="34" y="17"/>
                  <a:pt x="34" y="17"/>
                </a:cubicBezTo>
                <a:close/>
                <a:moveTo>
                  <a:pt x="28" y="17"/>
                </a:moveTo>
                <a:cubicBezTo>
                  <a:pt x="26" y="17"/>
                  <a:pt x="24" y="15"/>
                  <a:pt x="25" y="13"/>
                </a:cubicBezTo>
                <a:cubicBezTo>
                  <a:pt x="25" y="11"/>
                  <a:pt x="26" y="10"/>
                  <a:pt x="28" y="10"/>
                </a:cubicBezTo>
                <a:cubicBezTo>
                  <a:pt x="30" y="10"/>
                  <a:pt x="32" y="12"/>
                  <a:pt x="31" y="14"/>
                </a:cubicBezTo>
                <a:cubicBezTo>
                  <a:pt x="31" y="16"/>
                  <a:pt x="30" y="17"/>
                  <a:pt x="28" y="17"/>
                </a:cubicBezTo>
                <a:close/>
                <a:moveTo>
                  <a:pt x="42" y="14"/>
                </a:moveTo>
                <a:cubicBezTo>
                  <a:pt x="41" y="14"/>
                  <a:pt x="41" y="13"/>
                  <a:pt x="42" y="12"/>
                </a:cubicBezTo>
                <a:cubicBezTo>
                  <a:pt x="42" y="12"/>
                  <a:pt x="43" y="12"/>
                  <a:pt x="43" y="13"/>
                </a:cubicBezTo>
                <a:cubicBezTo>
                  <a:pt x="44" y="13"/>
                  <a:pt x="44" y="14"/>
                  <a:pt x="43" y="14"/>
                </a:cubicBezTo>
                <a:cubicBezTo>
                  <a:pt x="43" y="15"/>
                  <a:pt x="42" y="15"/>
                  <a:pt x="42" y="14"/>
                </a:cubicBezTo>
                <a:close/>
                <a:moveTo>
                  <a:pt x="37" y="13"/>
                </a:moveTo>
                <a:cubicBezTo>
                  <a:pt x="37" y="13"/>
                  <a:pt x="37" y="13"/>
                  <a:pt x="37" y="13"/>
                </a:cubicBezTo>
                <a:cubicBezTo>
                  <a:pt x="38" y="13"/>
                  <a:pt x="38" y="13"/>
                  <a:pt x="38" y="13"/>
                </a:cubicBezTo>
                <a:cubicBezTo>
                  <a:pt x="38" y="14"/>
                  <a:pt x="38" y="14"/>
                  <a:pt x="38" y="14"/>
                </a:cubicBezTo>
                <a:cubicBezTo>
                  <a:pt x="38" y="14"/>
                  <a:pt x="38" y="14"/>
                  <a:pt x="38" y="14"/>
                </a:cubicBezTo>
                <a:cubicBezTo>
                  <a:pt x="38" y="14"/>
                  <a:pt x="37" y="15"/>
                  <a:pt x="37" y="15"/>
                </a:cubicBezTo>
                <a:cubicBezTo>
                  <a:pt x="37" y="15"/>
                  <a:pt x="37" y="15"/>
                  <a:pt x="37" y="15"/>
                </a:cubicBezTo>
                <a:cubicBezTo>
                  <a:pt x="37" y="15"/>
                  <a:pt x="38" y="16"/>
                  <a:pt x="38" y="16"/>
                </a:cubicBezTo>
                <a:cubicBezTo>
                  <a:pt x="38" y="16"/>
                  <a:pt x="38" y="16"/>
                  <a:pt x="38" y="16"/>
                </a:cubicBezTo>
                <a:cubicBezTo>
                  <a:pt x="38" y="16"/>
                  <a:pt x="38" y="16"/>
                  <a:pt x="38" y="16"/>
                </a:cubicBezTo>
                <a:cubicBezTo>
                  <a:pt x="38" y="16"/>
                  <a:pt x="38" y="16"/>
                  <a:pt x="38" y="16"/>
                </a:cubicBezTo>
                <a:cubicBezTo>
                  <a:pt x="39" y="16"/>
                  <a:pt x="39" y="16"/>
                  <a:pt x="39" y="16"/>
                </a:cubicBezTo>
                <a:cubicBezTo>
                  <a:pt x="39" y="17"/>
                  <a:pt x="39" y="17"/>
                  <a:pt x="39" y="17"/>
                </a:cubicBezTo>
                <a:cubicBezTo>
                  <a:pt x="39" y="17"/>
                  <a:pt x="39" y="17"/>
                  <a:pt x="39" y="17"/>
                </a:cubicBezTo>
                <a:cubicBezTo>
                  <a:pt x="39" y="17"/>
                  <a:pt x="39" y="18"/>
                  <a:pt x="39" y="18"/>
                </a:cubicBezTo>
                <a:cubicBezTo>
                  <a:pt x="39" y="18"/>
                  <a:pt x="39" y="18"/>
                  <a:pt x="39" y="18"/>
                </a:cubicBezTo>
                <a:cubicBezTo>
                  <a:pt x="40" y="18"/>
                  <a:pt x="40" y="18"/>
                  <a:pt x="40" y="18"/>
                </a:cubicBezTo>
                <a:cubicBezTo>
                  <a:pt x="41" y="18"/>
                  <a:pt x="41" y="18"/>
                  <a:pt x="41" y="18"/>
                </a:cubicBezTo>
                <a:cubicBezTo>
                  <a:pt x="41" y="18"/>
                  <a:pt x="41" y="18"/>
                  <a:pt x="41" y="18"/>
                </a:cubicBezTo>
                <a:cubicBezTo>
                  <a:pt x="41" y="18"/>
                  <a:pt x="41" y="18"/>
                  <a:pt x="42" y="18"/>
                </a:cubicBezTo>
                <a:cubicBezTo>
                  <a:pt x="42" y="18"/>
                  <a:pt x="42" y="18"/>
                  <a:pt x="42" y="18"/>
                </a:cubicBezTo>
                <a:cubicBezTo>
                  <a:pt x="42" y="18"/>
                  <a:pt x="42" y="18"/>
                  <a:pt x="42" y="18"/>
                </a:cubicBezTo>
                <a:cubicBezTo>
                  <a:pt x="42" y="19"/>
                  <a:pt x="42" y="19"/>
                  <a:pt x="42" y="19"/>
                </a:cubicBezTo>
                <a:cubicBezTo>
                  <a:pt x="42" y="19"/>
                  <a:pt x="42" y="19"/>
                  <a:pt x="42" y="19"/>
                </a:cubicBezTo>
                <a:cubicBezTo>
                  <a:pt x="42" y="19"/>
                  <a:pt x="42" y="19"/>
                  <a:pt x="42" y="19"/>
                </a:cubicBezTo>
                <a:cubicBezTo>
                  <a:pt x="43" y="19"/>
                  <a:pt x="43" y="19"/>
                  <a:pt x="44" y="19"/>
                </a:cubicBezTo>
                <a:cubicBezTo>
                  <a:pt x="44" y="19"/>
                  <a:pt x="44" y="19"/>
                  <a:pt x="44" y="19"/>
                </a:cubicBezTo>
                <a:cubicBezTo>
                  <a:pt x="44" y="18"/>
                  <a:pt x="44" y="18"/>
                  <a:pt x="44" y="18"/>
                </a:cubicBezTo>
                <a:cubicBezTo>
                  <a:pt x="44" y="18"/>
                  <a:pt x="44" y="18"/>
                  <a:pt x="44" y="18"/>
                </a:cubicBezTo>
                <a:cubicBezTo>
                  <a:pt x="45" y="17"/>
                  <a:pt x="45" y="17"/>
                  <a:pt x="45" y="18"/>
                </a:cubicBezTo>
                <a:cubicBezTo>
                  <a:pt x="45" y="18"/>
                  <a:pt x="45" y="18"/>
                  <a:pt x="45" y="18"/>
                </a:cubicBezTo>
                <a:cubicBezTo>
                  <a:pt x="45" y="18"/>
                  <a:pt x="45" y="18"/>
                  <a:pt x="45" y="18"/>
                </a:cubicBezTo>
                <a:cubicBezTo>
                  <a:pt x="45" y="18"/>
                  <a:pt x="45" y="18"/>
                  <a:pt x="45" y="18"/>
                </a:cubicBezTo>
                <a:cubicBezTo>
                  <a:pt x="45" y="18"/>
                  <a:pt x="45" y="18"/>
                  <a:pt x="46" y="18"/>
                </a:cubicBezTo>
                <a:cubicBezTo>
                  <a:pt x="46" y="18"/>
                  <a:pt x="46" y="18"/>
                  <a:pt x="46" y="17"/>
                </a:cubicBezTo>
                <a:cubicBezTo>
                  <a:pt x="46" y="17"/>
                  <a:pt x="46" y="17"/>
                  <a:pt x="47" y="17"/>
                </a:cubicBezTo>
                <a:cubicBezTo>
                  <a:pt x="47" y="17"/>
                  <a:pt x="47" y="17"/>
                  <a:pt x="47" y="17"/>
                </a:cubicBezTo>
                <a:cubicBezTo>
                  <a:pt x="47" y="17"/>
                  <a:pt x="47" y="17"/>
                  <a:pt x="47" y="17"/>
                </a:cubicBezTo>
                <a:cubicBezTo>
                  <a:pt x="47" y="16"/>
                  <a:pt x="47" y="16"/>
                  <a:pt x="47" y="16"/>
                </a:cubicBezTo>
                <a:cubicBezTo>
                  <a:pt x="47" y="16"/>
                  <a:pt x="46" y="16"/>
                  <a:pt x="46" y="16"/>
                </a:cubicBezTo>
                <a:cubicBezTo>
                  <a:pt x="46" y="16"/>
                  <a:pt x="46" y="16"/>
                  <a:pt x="46" y="16"/>
                </a:cubicBezTo>
                <a:cubicBezTo>
                  <a:pt x="47" y="15"/>
                  <a:pt x="47" y="15"/>
                  <a:pt x="47" y="15"/>
                </a:cubicBezTo>
                <a:cubicBezTo>
                  <a:pt x="47" y="16"/>
                  <a:pt x="47" y="16"/>
                  <a:pt x="47" y="15"/>
                </a:cubicBezTo>
                <a:cubicBezTo>
                  <a:pt x="48" y="15"/>
                  <a:pt x="48" y="15"/>
                  <a:pt x="48" y="15"/>
                </a:cubicBezTo>
                <a:cubicBezTo>
                  <a:pt x="48" y="15"/>
                  <a:pt x="48" y="14"/>
                  <a:pt x="48" y="14"/>
                </a:cubicBezTo>
                <a:cubicBezTo>
                  <a:pt x="48" y="14"/>
                  <a:pt x="48" y="14"/>
                  <a:pt x="48" y="14"/>
                </a:cubicBezTo>
                <a:cubicBezTo>
                  <a:pt x="48" y="14"/>
                  <a:pt x="48" y="14"/>
                  <a:pt x="48" y="14"/>
                </a:cubicBezTo>
                <a:cubicBezTo>
                  <a:pt x="48" y="14"/>
                  <a:pt x="48" y="14"/>
                  <a:pt x="48" y="14"/>
                </a:cubicBezTo>
                <a:cubicBezTo>
                  <a:pt x="47" y="14"/>
                  <a:pt x="47" y="13"/>
                  <a:pt x="47" y="13"/>
                </a:cubicBezTo>
                <a:cubicBezTo>
                  <a:pt x="47" y="13"/>
                  <a:pt x="47" y="13"/>
                  <a:pt x="47" y="13"/>
                </a:cubicBezTo>
                <a:cubicBezTo>
                  <a:pt x="47" y="13"/>
                  <a:pt x="47" y="12"/>
                  <a:pt x="47" y="12"/>
                </a:cubicBezTo>
                <a:cubicBezTo>
                  <a:pt x="48" y="12"/>
                  <a:pt x="48" y="12"/>
                  <a:pt x="48" y="12"/>
                </a:cubicBezTo>
                <a:cubicBezTo>
                  <a:pt x="48" y="12"/>
                  <a:pt x="48" y="12"/>
                  <a:pt x="48" y="12"/>
                </a:cubicBezTo>
                <a:cubicBezTo>
                  <a:pt x="48" y="11"/>
                  <a:pt x="47" y="11"/>
                  <a:pt x="47" y="11"/>
                </a:cubicBezTo>
                <a:cubicBezTo>
                  <a:pt x="47" y="11"/>
                  <a:pt x="47" y="11"/>
                  <a:pt x="47" y="11"/>
                </a:cubicBezTo>
                <a:cubicBezTo>
                  <a:pt x="47" y="11"/>
                  <a:pt x="47" y="10"/>
                  <a:pt x="47" y="10"/>
                </a:cubicBezTo>
                <a:cubicBezTo>
                  <a:pt x="47" y="10"/>
                  <a:pt x="47" y="10"/>
                  <a:pt x="47" y="11"/>
                </a:cubicBezTo>
                <a:cubicBezTo>
                  <a:pt x="46" y="11"/>
                  <a:pt x="46" y="11"/>
                  <a:pt x="46" y="10"/>
                </a:cubicBezTo>
                <a:cubicBezTo>
                  <a:pt x="46" y="10"/>
                  <a:pt x="46" y="10"/>
                  <a:pt x="46" y="10"/>
                </a:cubicBezTo>
                <a:cubicBezTo>
                  <a:pt x="46" y="10"/>
                  <a:pt x="46" y="9"/>
                  <a:pt x="46" y="9"/>
                </a:cubicBezTo>
                <a:cubicBezTo>
                  <a:pt x="46" y="9"/>
                  <a:pt x="46" y="9"/>
                  <a:pt x="46" y="9"/>
                </a:cubicBezTo>
                <a:cubicBezTo>
                  <a:pt x="46" y="9"/>
                  <a:pt x="46" y="9"/>
                  <a:pt x="46" y="9"/>
                </a:cubicBezTo>
                <a:cubicBezTo>
                  <a:pt x="46" y="9"/>
                  <a:pt x="45" y="9"/>
                  <a:pt x="45" y="8"/>
                </a:cubicBezTo>
                <a:cubicBezTo>
                  <a:pt x="45" y="8"/>
                  <a:pt x="44" y="8"/>
                  <a:pt x="44" y="8"/>
                </a:cubicBezTo>
                <a:cubicBezTo>
                  <a:pt x="44" y="8"/>
                  <a:pt x="44" y="9"/>
                  <a:pt x="44" y="9"/>
                </a:cubicBezTo>
                <a:cubicBezTo>
                  <a:pt x="44" y="9"/>
                  <a:pt x="44" y="9"/>
                  <a:pt x="44" y="9"/>
                </a:cubicBezTo>
                <a:cubicBezTo>
                  <a:pt x="43" y="9"/>
                  <a:pt x="43" y="9"/>
                  <a:pt x="43" y="9"/>
                </a:cubicBezTo>
                <a:cubicBezTo>
                  <a:pt x="43" y="9"/>
                  <a:pt x="43" y="9"/>
                  <a:pt x="43" y="8"/>
                </a:cubicBezTo>
                <a:cubicBezTo>
                  <a:pt x="43" y="8"/>
                  <a:pt x="43" y="8"/>
                  <a:pt x="43" y="8"/>
                </a:cubicBezTo>
                <a:cubicBezTo>
                  <a:pt x="43" y="8"/>
                  <a:pt x="43" y="8"/>
                  <a:pt x="43" y="8"/>
                </a:cubicBezTo>
                <a:cubicBezTo>
                  <a:pt x="43" y="8"/>
                  <a:pt x="43" y="8"/>
                  <a:pt x="43" y="8"/>
                </a:cubicBezTo>
                <a:cubicBezTo>
                  <a:pt x="42" y="8"/>
                  <a:pt x="42" y="8"/>
                  <a:pt x="41" y="8"/>
                </a:cubicBezTo>
                <a:cubicBezTo>
                  <a:pt x="41" y="8"/>
                  <a:pt x="41" y="8"/>
                  <a:pt x="41" y="8"/>
                </a:cubicBezTo>
                <a:cubicBezTo>
                  <a:pt x="41" y="8"/>
                  <a:pt x="41" y="8"/>
                  <a:pt x="41" y="9"/>
                </a:cubicBezTo>
                <a:cubicBezTo>
                  <a:pt x="41" y="9"/>
                  <a:pt x="41" y="9"/>
                  <a:pt x="41" y="9"/>
                </a:cubicBezTo>
                <a:cubicBezTo>
                  <a:pt x="41"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39" y="9"/>
                  <a:pt x="39" y="9"/>
                  <a:pt x="39" y="9"/>
                </a:cubicBezTo>
                <a:cubicBezTo>
                  <a:pt x="39" y="9"/>
                  <a:pt x="39" y="10"/>
                  <a:pt x="38" y="10"/>
                </a:cubicBezTo>
                <a:cubicBezTo>
                  <a:pt x="38" y="10"/>
                  <a:pt x="38" y="10"/>
                  <a:pt x="38" y="10"/>
                </a:cubicBezTo>
                <a:cubicBezTo>
                  <a:pt x="38" y="10"/>
                  <a:pt x="38" y="10"/>
                  <a:pt x="38" y="10"/>
                </a:cubicBezTo>
                <a:cubicBezTo>
                  <a:pt x="38" y="10"/>
                  <a:pt x="39" y="10"/>
                  <a:pt x="39" y="10"/>
                </a:cubicBezTo>
                <a:cubicBezTo>
                  <a:pt x="39" y="10"/>
                  <a:pt x="39" y="10"/>
                  <a:pt x="39" y="10"/>
                </a:cubicBezTo>
                <a:cubicBezTo>
                  <a:pt x="39" y="11"/>
                  <a:pt x="39" y="11"/>
                  <a:pt x="39" y="11"/>
                </a:cubicBezTo>
                <a:cubicBezTo>
                  <a:pt x="39" y="11"/>
                  <a:pt x="38" y="11"/>
                  <a:pt x="38" y="11"/>
                </a:cubicBezTo>
                <a:cubicBezTo>
                  <a:pt x="38" y="11"/>
                  <a:pt x="38" y="11"/>
                  <a:pt x="38" y="11"/>
                </a:cubicBezTo>
                <a:cubicBezTo>
                  <a:pt x="38" y="11"/>
                  <a:pt x="38" y="11"/>
                  <a:pt x="37" y="12"/>
                </a:cubicBezTo>
                <a:cubicBezTo>
                  <a:pt x="37" y="12"/>
                  <a:pt x="37" y="12"/>
                  <a:pt x="37" y="13"/>
                </a:cubicBezTo>
                <a:cubicBezTo>
                  <a:pt x="37" y="13"/>
                  <a:pt x="37" y="13"/>
                  <a:pt x="37" y="13"/>
                </a:cubicBezTo>
                <a:cubicBezTo>
                  <a:pt x="37" y="13"/>
                  <a:pt x="37" y="13"/>
                  <a:pt x="37" y="13"/>
                </a:cubicBezTo>
                <a:close/>
                <a:moveTo>
                  <a:pt x="41" y="11"/>
                </a:moveTo>
                <a:cubicBezTo>
                  <a:pt x="42" y="10"/>
                  <a:pt x="44" y="10"/>
                  <a:pt x="45" y="12"/>
                </a:cubicBezTo>
                <a:cubicBezTo>
                  <a:pt x="45" y="13"/>
                  <a:pt x="45" y="14"/>
                  <a:pt x="44" y="15"/>
                </a:cubicBezTo>
                <a:cubicBezTo>
                  <a:pt x="43" y="16"/>
                  <a:pt x="41" y="16"/>
                  <a:pt x="40" y="15"/>
                </a:cubicBezTo>
                <a:cubicBezTo>
                  <a:pt x="39" y="14"/>
                  <a:pt x="40" y="12"/>
                  <a:pt x="41" y="11"/>
                </a:cubicBezTo>
                <a:close/>
                <a:moveTo>
                  <a:pt x="33" y="22"/>
                </a:moveTo>
                <a:cubicBezTo>
                  <a:pt x="33" y="22"/>
                  <a:pt x="33" y="22"/>
                  <a:pt x="33" y="22"/>
                </a:cubicBezTo>
                <a:cubicBezTo>
                  <a:pt x="33" y="22"/>
                  <a:pt x="33" y="22"/>
                  <a:pt x="33" y="22"/>
                </a:cubicBezTo>
                <a:cubicBezTo>
                  <a:pt x="33" y="23"/>
                  <a:pt x="33" y="23"/>
                  <a:pt x="34" y="23"/>
                </a:cubicBezTo>
                <a:cubicBezTo>
                  <a:pt x="34" y="23"/>
                  <a:pt x="34" y="23"/>
                  <a:pt x="34" y="23"/>
                </a:cubicBezTo>
                <a:cubicBezTo>
                  <a:pt x="34" y="23"/>
                  <a:pt x="34" y="23"/>
                  <a:pt x="34" y="23"/>
                </a:cubicBezTo>
                <a:cubicBezTo>
                  <a:pt x="34" y="23"/>
                  <a:pt x="34" y="23"/>
                  <a:pt x="34" y="23"/>
                </a:cubicBezTo>
                <a:cubicBezTo>
                  <a:pt x="34" y="23"/>
                  <a:pt x="34" y="23"/>
                  <a:pt x="34" y="23"/>
                </a:cubicBezTo>
                <a:cubicBezTo>
                  <a:pt x="35" y="23"/>
                  <a:pt x="35" y="24"/>
                  <a:pt x="34" y="24"/>
                </a:cubicBezTo>
                <a:cubicBezTo>
                  <a:pt x="34" y="24"/>
                  <a:pt x="34" y="24"/>
                  <a:pt x="34" y="24"/>
                </a:cubicBezTo>
                <a:cubicBezTo>
                  <a:pt x="34" y="24"/>
                  <a:pt x="34" y="24"/>
                  <a:pt x="34" y="24"/>
                </a:cubicBezTo>
                <a:cubicBezTo>
                  <a:pt x="34" y="24"/>
                  <a:pt x="34" y="24"/>
                  <a:pt x="34" y="24"/>
                </a:cubicBezTo>
                <a:cubicBezTo>
                  <a:pt x="35" y="24"/>
                  <a:pt x="35" y="24"/>
                  <a:pt x="35" y="25"/>
                </a:cubicBezTo>
                <a:cubicBezTo>
                  <a:pt x="35" y="25"/>
                  <a:pt x="35" y="25"/>
                  <a:pt x="35" y="25"/>
                </a:cubicBezTo>
                <a:cubicBezTo>
                  <a:pt x="35" y="25"/>
                  <a:pt x="35" y="24"/>
                  <a:pt x="36" y="24"/>
                </a:cubicBezTo>
                <a:cubicBezTo>
                  <a:pt x="36" y="24"/>
                  <a:pt x="36" y="24"/>
                  <a:pt x="36" y="24"/>
                </a:cubicBezTo>
                <a:cubicBezTo>
                  <a:pt x="36" y="24"/>
                  <a:pt x="36" y="24"/>
                  <a:pt x="36" y="24"/>
                </a:cubicBezTo>
                <a:cubicBezTo>
                  <a:pt x="36" y="24"/>
                  <a:pt x="36" y="24"/>
                  <a:pt x="36" y="25"/>
                </a:cubicBezTo>
                <a:cubicBezTo>
                  <a:pt x="36" y="25"/>
                  <a:pt x="36" y="25"/>
                  <a:pt x="36" y="25"/>
                </a:cubicBezTo>
                <a:cubicBezTo>
                  <a:pt x="36" y="25"/>
                  <a:pt x="36" y="25"/>
                  <a:pt x="36" y="25"/>
                </a:cubicBezTo>
                <a:cubicBezTo>
                  <a:pt x="36" y="25"/>
                  <a:pt x="36" y="25"/>
                  <a:pt x="36" y="25"/>
                </a:cubicBezTo>
                <a:cubicBezTo>
                  <a:pt x="37" y="25"/>
                  <a:pt x="37" y="25"/>
                  <a:pt x="37" y="25"/>
                </a:cubicBezTo>
                <a:cubicBezTo>
                  <a:pt x="37" y="25"/>
                  <a:pt x="38" y="25"/>
                  <a:pt x="38" y="25"/>
                </a:cubicBezTo>
                <a:cubicBezTo>
                  <a:pt x="38" y="25"/>
                  <a:pt x="38" y="25"/>
                  <a:pt x="38" y="24"/>
                </a:cubicBezTo>
                <a:cubicBezTo>
                  <a:pt x="38" y="24"/>
                  <a:pt x="38" y="24"/>
                  <a:pt x="38" y="24"/>
                </a:cubicBezTo>
                <a:cubicBezTo>
                  <a:pt x="38" y="24"/>
                  <a:pt x="38" y="24"/>
                  <a:pt x="38" y="24"/>
                </a:cubicBezTo>
                <a:cubicBezTo>
                  <a:pt x="38" y="24"/>
                  <a:pt x="38" y="24"/>
                  <a:pt x="38" y="24"/>
                </a:cubicBezTo>
                <a:cubicBezTo>
                  <a:pt x="38" y="24"/>
                  <a:pt x="38" y="24"/>
                  <a:pt x="38" y="24"/>
                </a:cubicBezTo>
                <a:cubicBezTo>
                  <a:pt x="38" y="24"/>
                  <a:pt x="38" y="24"/>
                  <a:pt x="38" y="24"/>
                </a:cubicBezTo>
                <a:cubicBezTo>
                  <a:pt x="38" y="24"/>
                  <a:pt x="39" y="24"/>
                  <a:pt x="39" y="24"/>
                </a:cubicBezTo>
                <a:cubicBezTo>
                  <a:pt x="39" y="24"/>
                  <a:pt x="39" y="24"/>
                  <a:pt x="39" y="24"/>
                </a:cubicBezTo>
                <a:cubicBezTo>
                  <a:pt x="39" y="24"/>
                  <a:pt x="39" y="24"/>
                  <a:pt x="39" y="24"/>
                </a:cubicBezTo>
                <a:cubicBezTo>
                  <a:pt x="39" y="24"/>
                  <a:pt x="39" y="24"/>
                  <a:pt x="39" y="23"/>
                </a:cubicBezTo>
                <a:cubicBezTo>
                  <a:pt x="39" y="23"/>
                  <a:pt x="39" y="23"/>
                  <a:pt x="39" y="23"/>
                </a:cubicBezTo>
                <a:cubicBezTo>
                  <a:pt x="39" y="23"/>
                  <a:pt x="39" y="23"/>
                  <a:pt x="39" y="23"/>
                </a:cubicBezTo>
                <a:cubicBezTo>
                  <a:pt x="39" y="23"/>
                  <a:pt x="39" y="23"/>
                  <a:pt x="39" y="23"/>
                </a:cubicBezTo>
                <a:cubicBezTo>
                  <a:pt x="39" y="23"/>
                  <a:pt x="39" y="23"/>
                  <a:pt x="39" y="23"/>
                </a:cubicBezTo>
                <a:cubicBezTo>
                  <a:pt x="39" y="23"/>
                  <a:pt x="39" y="23"/>
                  <a:pt x="40" y="23"/>
                </a:cubicBezTo>
                <a:cubicBezTo>
                  <a:pt x="40" y="23"/>
                  <a:pt x="40" y="23"/>
                  <a:pt x="40" y="23"/>
                </a:cubicBezTo>
                <a:cubicBezTo>
                  <a:pt x="40" y="23"/>
                  <a:pt x="40" y="23"/>
                  <a:pt x="40" y="23"/>
                </a:cubicBezTo>
                <a:cubicBezTo>
                  <a:pt x="40" y="22"/>
                  <a:pt x="40" y="22"/>
                  <a:pt x="40" y="22"/>
                </a:cubicBezTo>
                <a:cubicBezTo>
                  <a:pt x="40" y="22"/>
                  <a:pt x="40" y="21"/>
                  <a:pt x="40" y="21"/>
                </a:cubicBezTo>
                <a:cubicBezTo>
                  <a:pt x="40" y="21"/>
                  <a:pt x="40" y="21"/>
                  <a:pt x="40" y="21"/>
                </a:cubicBezTo>
                <a:cubicBezTo>
                  <a:pt x="40" y="21"/>
                  <a:pt x="40" y="21"/>
                  <a:pt x="40" y="21"/>
                </a:cubicBezTo>
                <a:cubicBezTo>
                  <a:pt x="40" y="21"/>
                  <a:pt x="40" y="21"/>
                  <a:pt x="40" y="21"/>
                </a:cubicBezTo>
                <a:cubicBezTo>
                  <a:pt x="40" y="21"/>
                  <a:pt x="40" y="21"/>
                  <a:pt x="40" y="21"/>
                </a:cubicBezTo>
                <a:cubicBezTo>
                  <a:pt x="40" y="21"/>
                  <a:pt x="40" y="21"/>
                  <a:pt x="40" y="21"/>
                </a:cubicBezTo>
                <a:cubicBezTo>
                  <a:pt x="40" y="21"/>
                  <a:pt x="40" y="21"/>
                  <a:pt x="40" y="21"/>
                </a:cubicBezTo>
                <a:cubicBezTo>
                  <a:pt x="40" y="20"/>
                  <a:pt x="40" y="20"/>
                  <a:pt x="40" y="20"/>
                </a:cubicBezTo>
                <a:cubicBezTo>
                  <a:pt x="40" y="20"/>
                  <a:pt x="40" y="20"/>
                  <a:pt x="40" y="19"/>
                </a:cubicBezTo>
                <a:cubicBezTo>
                  <a:pt x="40" y="19"/>
                  <a:pt x="40" y="19"/>
                  <a:pt x="40" y="19"/>
                </a:cubicBezTo>
                <a:cubicBezTo>
                  <a:pt x="40" y="19"/>
                  <a:pt x="40" y="19"/>
                  <a:pt x="40" y="19"/>
                </a:cubicBezTo>
                <a:cubicBezTo>
                  <a:pt x="39" y="19"/>
                  <a:pt x="39" y="19"/>
                  <a:pt x="39" y="19"/>
                </a:cubicBezTo>
                <a:cubicBezTo>
                  <a:pt x="39" y="20"/>
                  <a:pt x="39" y="20"/>
                  <a:pt x="39" y="19"/>
                </a:cubicBezTo>
                <a:cubicBezTo>
                  <a:pt x="39" y="19"/>
                  <a:pt x="39" y="19"/>
                  <a:pt x="39" y="19"/>
                </a:cubicBezTo>
                <a:cubicBezTo>
                  <a:pt x="39" y="19"/>
                  <a:pt x="39" y="19"/>
                  <a:pt x="39" y="19"/>
                </a:cubicBezTo>
                <a:cubicBezTo>
                  <a:pt x="39" y="19"/>
                  <a:pt x="39" y="19"/>
                  <a:pt x="39" y="19"/>
                </a:cubicBezTo>
                <a:cubicBezTo>
                  <a:pt x="39" y="19"/>
                  <a:pt x="39" y="19"/>
                  <a:pt x="39" y="19"/>
                </a:cubicBezTo>
                <a:cubicBezTo>
                  <a:pt x="39" y="18"/>
                  <a:pt x="38" y="18"/>
                  <a:pt x="38" y="18"/>
                </a:cubicBezTo>
                <a:cubicBezTo>
                  <a:pt x="38" y="18"/>
                  <a:pt x="38" y="18"/>
                  <a:pt x="38" y="18"/>
                </a:cubicBezTo>
                <a:cubicBezTo>
                  <a:pt x="38" y="18"/>
                  <a:pt x="38" y="18"/>
                  <a:pt x="38" y="18"/>
                </a:cubicBezTo>
                <a:cubicBezTo>
                  <a:pt x="38" y="18"/>
                  <a:pt x="37" y="18"/>
                  <a:pt x="37" y="18"/>
                </a:cubicBezTo>
                <a:cubicBezTo>
                  <a:pt x="37" y="18"/>
                  <a:pt x="37" y="18"/>
                  <a:pt x="37" y="18"/>
                </a:cubicBezTo>
                <a:cubicBezTo>
                  <a:pt x="37" y="18"/>
                  <a:pt x="37" y="18"/>
                  <a:pt x="37" y="18"/>
                </a:cubicBezTo>
                <a:cubicBezTo>
                  <a:pt x="37" y="18"/>
                  <a:pt x="37" y="18"/>
                  <a:pt x="37" y="18"/>
                </a:cubicBezTo>
                <a:cubicBezTo>
                  <a:pt x="37" y="18"/>
                  <a:pt x="37" y="18"/>
                  <a:pt x="37" y="18"/>
                </a:cubicBezTo>
                <a:cubicBezTo>
                  <a:pt x="37" y="18"/>
                  <a:pt x="37" y="18"/>
                  <a:pt x="37" y="18"/>
                </a:cubicBezTo>
                <a:cubicBezTo>
                  <a:pt x="36" y="18"/>
                  <a:pt x="36" y="18"/>
                  <a:pt x="36" y="18"/>
                </a:cubicBezTo>
                <a:cubicBezTo>
                  <a:pt x="36" y="18"/>
                  <a:pt x="36" y="18"/>
                  <a:pt x="36" y="18"/>
                </a:cubicBezTo>
                <a:cubicBezTo>
                  <a:pt x="36" y="18"/>
                  <a:pt x="36" y="18"/>
                  <a:pt x="36" y="18"/>
                </a:cubicBezTo>
                <a:cubicBezTo>
                  <a:pt x="36" y="18"/>
                  <a:pt x="36" y="19"/>
                  <a:pt x="35" y="19"/>
                </a:cubicBezTo>
                <a:cubicBezTo>
                  <a:pt x="35" y="19"/>
                  <a:pt x="35" y="19"/>
                  <a:pt x="35" y="18"/>
                </a:cubicBezTo>
                <a:cubicBezTo>
                  <a:pt x="35" y="18"/>
                  <a:pt x="35" y="18"/>
                  <a:pt x="35" y="18"/>
                </a:cubicBezTo>
                <a:cubicBezTo>
                  <a:pt x="35" y="18"/>
                  <a:pt x="35" y="18"/>
                  <a:pt x="35" y="18"/>
                </a:cubicBezTo>
                <a:cubicBezTo>
                  <a:pt x="35" y="18"/>
                  <a:pt x="35" y="18"/>
                  <a:pt x="35" y="18"/>
                </a:cubicBezTo>
                <a:cubicBezTo>
                  <a:pt x="35" y="18"/>
                  <a:pt x="35" y="18"/>
                  <a:pt x="35" y="18"/>
                </a:cubicBezTo>
                <a:cubicBezTo>
                  <a:pt x="35" y="18"/>
                  <a:pt x="34" y="19"/>
                  <a:pt x="34" y="19"/>
                </a:cubicBezTo>
                <a:cubicBezTo>
                  <a:pt x="34" y="19"/>
                  <a:pt x="34" y="19"/>
                  <a:pt x="34" y="19"/>
                </a:cubicBezTo>
                <a:cubicBezTo>
                  <a:pt x="34" y="19"/>
                  <a:pt x="34" y="19"/>
                  <a:pt x="34" y="19"/>
                </a:cubicBezTo>
                <a:cubicBezTo>
                  <a:pt x="34" y="19"/>
                  <a:pt x="34" y="19"/>
                  <a:pt x="34" y="19"/>
                </a:cubicBezTo>
                <a:cubicBezTo>
                  <a:pt x="34" y="19"/>
                  <a:pt x="34" y="19"/>
                  <a:pt x="34" y="19"/>
                </a:cubicBezTo>
                <a:cubicBezTo>
                  <a:pt x="34" y="19"/>
                  <a:pt x="34" y="19"/>
                  <a:pt x="34" y="19"/>
                </a:cubicBezTo>
                <a:cubicBezTo>
                  <a:pt x="34" y="19"/>
                  <a:pt x="34" y="20"/>
                  <a:pt x="34" y="20"/>
                </a:cubicBezTo>
                <a:cubicBezTo>
                  <a:pt x="34" y="20"/>
                  <a:pt x="34" y="20"/>
                  <a:pt x="34" y="20"/>
                </a:cubicBezTo>
                <a:cubicBezTo>
                  <a:pt x="34" y="20"/>
                  <a:pt x="33" y="20"/>
                  <a:pt x="33" y="20"/>
                </a:cubicBezTo>
                <a:cubicBezTo>
                  <a:pt x="33" y="20"/>
                  <a:pt x="33" y="20"/>
                  <a:pt x="33" y="20"/>
                </a:cubicBezTo>
                <a:cubicBezTo>
                  <a:pt x="33" y="20"/>
                  <a:pt x="33" y="21"/>
                  <a:pt x="33" y="21"/>
                </a:cubicBezTo>
                <a:cubicBezTo>
                  <a:pt x="33" y="21"/>
                  <a:pt x="33" y="21"/>
                  <a:pt x="33" y="21"/>
                </a:cubicBezTo>
                <a:cubicBezTo>
                  <a:pt x="33" y="21"/>
                  <a:pt x="33" y="21"/>
                  <a:pt x="33" y="21"/>
                </a:cubicBezTo>
                <a:cubicBezTo>
                  <a:pt x="33" y="21"/>
                  <a:pt x="33" y="21"/>
                  <a:pt x="33" y="21"/>
                </a:cubicBezTo>
                <a:cubicBezTo>
                  <a:pt x="33" y="21"/>
                  <a:pt x="34" y="21"/>
                  <a:pt x="34" y="21"/>
                </a:cubicBezTo>
                <a:cubicBezTo>
                  <a:pt x="34" y="21"/>
                  <a:pt x="34" y="21"/>
                  <a:pt x="34" y="22"/>
                </a:cubicBezTo>
                <a:cubicBezTo>
                  <a:pt x="34" y="22"/>
                  <a:pt x="34" y="22"/>
                  <a:pt x="33" y="22"/>
                </a:cubicBezTo>
                <a:close/>
                <a:moveTo>
                  <a:pt x="35" y="20"/>
                </a:moveTo>
                <a:cubicBezTo>
                  <a:pt x="36" y="19"/>
                  <a:pt x="37" y="19"/>
                  <a:pt x="38" y="20"/>
                </a:cubicBezTo>
                <a:cubicBezTo>
                  <a:pt x="39" y="21"/>
                  <a:pt x="38" y="22"/>
                  <a:pt x="38" y="23"/>
                </a:cubicBezTo>
                <a:cubicBezTo>
                  <a:pt x="37" y="23"/>
                  <a:pt x="36" y="23"/>
                  <a:pt x="35" y="22"/>
                </a:cubicBezTo>
                <a:cubicBezTo>
                  <a:pt x="35" y="22"/>
                  <a:pt x="35" y="21"/>
                  <a:pt x="35" y="20"/>
                </a:cubicBezTo>
                <a:close/>
                <a:moveTo>
                  <a:pt x="36" y="22"/>
                </a:moveTo>
                <a:cubicBezTo>
                  <a:pt x="36" y="21"/>
                  <a:pt x="36" y="21"/>
                  <a:pt x="36" y="21"/>
                </a:cubicBezTo>
                <a:cubicBezTo>
                  <a:pt x="36" y="20"/>
                  <a:pt x="37" y="20"/>
                  <a:pt x="37" y="21"/>
                </a:cubicBezTo>
                <a:cubicBezTo>
                  <a:pt x="37" y="21"/>
                  <a:pt x="37" y="22"/>
                  <a:pt x="37" y="22"/>
                </a:cubicBezTo>
                <a:cubicBezTo>
                  <a:pt x="37" y="22"/>
                  <a:pt x="36" y="22"/>
                  <a:pt x="36" y="22"/>
                </a:cubicBezTo>
                <a:close/>
                <a:moveTo>
                  <a:pt x="46" y="19"/>
                </a:moveTo>
                <a:cubicBezTo>
                  <a:pt x="46" y="19"/>
                  <a:pt x="46" y="19"/>
                  <a:pt x="46" y="19"/>
                </a:cubicBezTo>
                <a:cubicBezTo>
                  <a:pt x="46" y="19"/>
                  <a:pt x="46" y="19"/>
                  <a:pt x="46" y="19"/>
                </a:cubicBezTo>
                <a:cubicBezTo>
                  <a:pt x="46" y="19"/>
                  <a:pt x="46" y="20"/>
                  <a:pt x="46" y="20"/>
                </a:cubicBezTo>
                <a:cubicBezTo>
                  <a:pt x="46" y="20"/>
                  <a:pt x="45" y="20"/>
                  <a:pt x="45" y="20"/>
                </a:cubicBezTo>
                <a:cubicBezTo>
                  <a:pt x="45" y="20"/>
                  <a:pt x="45" y="20"/>
                  <a:pt x="45" y="20"/>
                </a:cubicBezTo>
                <a:cubicBezTo>
                  <a:pt x="45" y="20"/>
                  <a:pt x="45" y="20"/>
                  <a:pt x="45" y="20"/>
                </a:cubicBezTo>
                <a:cubicBezTo>
                  <a:pt x="45" y="20"/>
                  <a:pt x="45" y="20"/>
                  <a:pt x="45" y="19"/>
                </a:cubicBezTo>
                <a:cubicBezTo>
                  <a:pt x="45" y="19"/>
                  <a:pt x="45" y="19"/>
                  <a:pt x="45" y="20"/>
                </a:cubicBezTo>
                <a:cubicBezTo>
                  <a:pt x="44" y="20"/>
                  <a:pt x="44" y="20"/>
                  <a:pt x="44" y="20"/>
                </a:cubicBezTo>
                <a:cubicBezTo>
                  <a:pt x="44" y="20"/>
                  <a:pt x="44" y="20"/>
                  <a:pt x="44" y="20"/>
                </a:cubicBezTo>
                <a:cubicBezTo>
                  <a:pt x="44" y="21"/>
                  <a:pt x="43" y="21"/>
                  <a:pt x="44" y="21"/>
                </a:cubicBezTo>
                <a:cubicBezTo>
                  <a:pt x="44" y="21"/>
                  <a:pt x="44" y="21"/>
                  <a:pt x="44" y="21"/>
                </a:cubicBezTo>
                <a:cubicBezTo>
                  <a:pt x="44" y="21"/>
                  <a:pt x="44" y="21"/>
                  <a:pt x="44" y="21"/>
                </a:cubicBezTo>
                <a:cubicBezTo>
                  <a:pt x="44" y="21"/>
                  <a:pt x="44" y="21"/>
                  <a:pt x="44" y="21"/>
                </a:cubicBezTo>
                <a:cubicBezTo>
                  <a:pt x="44" y="21"/>
                  <a:pt x="44" y="22"/>
                  <a:pt x="44" y="22"/>
                </a:cubicBezTo>
                <a:cubicBezTo>
                  <a:pt x="44" y="22"/>
                  <a:pt x="43" y="22"/>
                  <a:pt x="43" y="22"/>
                </a:cubicBezTo>
                <a:cubicBezTo>
                  <a:pt x="43" y="22"/>
                  <a:pt x="43" y="22"/>
                  <a:pt x="43" y="22"/>
                </a:cubicBezTo>
                <a:cubicBezTo>
                  <a:pt x="43" y="22"/>
                  <a:pt x="43" y="22"/>
                  <a:pt x="43" y="22"/>
                </a:cubicBezTo>
                <a:cubicBezTo>
                  <a:pt x="42" y="23"/>
                  <a:pt x="42" y="23"/>
                  <a:pt x="42" y="24"/>
                </a:cubicBezTo>
                <a:cubicBezTo>
                  <a:pt x="42" y="24"/>
                  <a:pt x="42" y="24"/>
                  <a:pt x="42" y="24"/>
                </a:cubicBezTo>
                <a:cubicBezTo>
                  <a:pt x="42" y="24"/>
                  <a:pt x="42" y="24"/>
                  <a:pt x="42" y="24"/>
                </a:cubicBezTo>
                <a:cubicBezTo>
                  <a:pt x="42" y="24"/>
                  <a:pt x="43" y="24"/>
                  <a:pt x="43" y="24"/>
                </a:cubicBezTo>
                <a:cubicBezTo>
                  <a:pt x="43" y="24"/>
                  <a:pt x="43" y="24"/>
                  <a:pt x="43" y="24"/>
                </a:cubicBezTo>
                <a:cubicBezTo>
                  <a:pt x="43" y="24"/>
                  <a:pt x="43" y="24"/>
                  <a:pt x="43" y="24"/>
                </a:cubicBezTo>
                <a:cubicBezTo>
                  <a:pt x="43" y="25"/>
                  <a:pt x="43" y="25"/>
                  <a:pt x="43" y="25"/>
                </a:cubicBezTo>
                <a:cubicBezTo>
                  <a:pt x="43" y="25"/>
                  <a:pt x="43" y="25"/>
                  <a:pt x="42" y="25"/>
                </a:cubicBezTo>
                <a:cubicBezTo>
                  <a:pt x="42" y="25"/>
                  <a:pt x="42" y="25"/>
                  <a:pt x="42" y="26"/>
                </a:cubicBezTo>
                <a:cubicBezTo>
                  <a:pt x="43" y="26"/>
                  <a:pt x="43" y="26"/>
                  <a:pt x="43" y="27"/>
                </a:cubicBezTo>
                <a:cubicBezTo>
                  <a:pt x="43" y="27"/>
                  <a:pt x="43" y="27"/>
                  <a:pt x="43" y="27"/>
                </a:cubicBezTo>
                <a:cubicBezTo>
                  <a:pt x="43" y="27"/>
                  <a:pt x="43" y="27"/>
                  <a:pt x="43" y="27"/>
                </a:cubicBezTo>
                <a:cubicBezTo>
                  <a:pt x="43" y="27"/>
                  <a:pt x="43" y="27"/>
                  <a:pt x="44" y="27"/>
                </a:cubicBezTo>
                <a:cubicBezTo>
                  <a:pt x="44" y="27"/>
                  <a:pt x="44" y="27"/>
                  <a:pt x="44" y="27"/>
                </a:cubicBezTo>
                <a:cubicBezTo>
                  <a:pt x="44" y="27"/>
                  <a:pt x="44" y="28"/>
                  <a:pt x="44" y="28"/>
                </a:cubicBezTo>
                <a:cubicBezTo>
                  <a:pt x="44" y="28"/>
                  <a:pt x="44" y="28"/>
                  <a:pt x="44" y="28"/>
                </a:cubicBezTo>
                <a:cubicBezTo>
                  <a:pt x="44" y="28"/>
                  <a:pt x="44" y="28"/>
                  <a:pt x="44" y="28"/>
                </a:cubicBezTo>
                <a:cubicBezTo>
                  <a:pt x="44" y="28"/>
                  <a:pt x="44" y="28"/>
                  <a:pt x="44" y="28"/>
                </a:cubicBezTo>
                <a:cubicBezTo>
                  <a:pt x="45" y="29"/>
                  <a:pt x="45" y="29"/>
                  <a:pt x="46" y="29"/>
                </a:cubicBezTo>
                <a:cubicBezTo>
                  <a:pt x="46" y="29"/>
                  <a:pt x="46" y="29"/>
                  <a:pt x="46" y="29"/>
                </a:cubicBezTo>
                <a:cubicBezTo>
                  <a:pt x="46" y="29"/>
                  <a:pt x="46" y="29"/>
                  <a:pt x="46" y="29"/>
                </a:cubicBezTo>
                <a:cubicBezTo>
                  <a:pt x="46" y="29"/>
                  <a:pt x="46" y="28"/>
                  <a:pt x="47" y="28"/>
                </a:cubicBezTo>
                <a:cubicBezTo>
                  <a:pt x="47" y="28"/>
                  <a:pt x="47" y="29"/>
                  <a:pt x="47" y="29"/>
                </a:cubicBezTo>
                <a:cubicBezTo>
                  <a:pt x="47" y="29"/>
                  <a:pt x="47" y="29"/>
                  <a:pt x="47" y="29"/>
                </a:cubicBezTo>
                <a:cubicBezTo>
                  <a:pt x="47" y="29"/>
                  <a:pt x="47" y="29"/>
                  <a:pt x="47" y="29"/>
                </a:cubicBezTo>
                <a:cubicBezTo>
                  <a:pt x="47" y="29"/>
                  <a:pt x="47" y="29"/>
                  <a:pt x="47" y="29"/>
                </a:cubicBezTo>
                <a:cubicBezTo>
                  <a:pt x="47" y="29"/>
                  <a:pt x="47" y="29"/>
                  <a:pt x="47" y="29"/>
                </a:cubicBezTo>
                <a:cubicBezTo>
                  <a:pt x="48" y="29"/>
                  <a:pt x="48" y="29"/>
                  <a:pt x="49" y="29"/>
                </a:cubicBezTo>
                <a:cubicBezTo>
                  <a:pt x="49" y="29"/>
                  <a:pt x="49" y="29"/>
                  <a:pt x="49" y="29"/>
                </a:cubicBezTo>
                <a:cubicBezTo>
                  <a:pt x="49" y="29"/>
                  <a:pt x="49" y="29"/>
                  <a:pt x="49" y="29"/>
                </a:cubicBezTo>
                <a:cubicBezTo>
                  <a:pt x="49" y="29"/>
                  <a:pt x="49" y="28"/>
                  <a:pt x="49" y="28"/>
                </a:cubicBezTo>
                <a:cubicBezTo>
                  <a:pt x="50" y="28"/>
                  <a:pt x="50" y="28"/>
                  <a:pt x="50" y="28"/>
                </a:cubicBezTo>
                <a:cubicBezTo>
                  <a:pt x="50" y="28"/>
                  <a:pt x="50" y="28"/>
                  <a:pt x="50" y="28"/>
                </a:cubicBezTo>
                <a:cubicBezTo>
                  <a:pt x="50" y="28"/>
                  <a:pt x="50" y="28"/>
                  <a:pt x="50" y="29"/>
                </a:cubicBezTo>
                <a:cubicBezTo>
                  <a:pt x="50" y="29"/>
                  <a:pt x="50" y="29"/>
                  <a:pt x="50" y="29"/>
                </a:cubicBezTo>
                <a:cubicBezTo>
                  <a:pt x="51" y="29"/>
                  <a:pt x="51" y="29"/>
                  <a:pt x="51" y="29"/>
                </a:cubicBezTo>
                <a:cubicBezTo>
                  <a:pt x="51" y="28"/>
                  <a:pt x="51" y="28"/>
                  <a:pt x="51" y="28"/>
                </a:cubicBezTo>
                <a:cubicBezTo>
                  <a:pt x="51" y="28"/>
                  <a:pt x="52" y="28"/>
                  <a:pt x="52" y="28"/>
                </a:cubicBezTo>
                <a:cubicBezTo>
                  <a:pt x="52" y="28"/>
                  <a:pt x="52" y="27"/>
                  <a:pt x="52" y="27"/>
                </a:cubicBezTo>
                <a:cubicBezTo>
                  <a:pt x="52" y="27"/>
                  <a:pt x="52" y="27"/>
                  <a:pt x="52" y="27"/>
                </a:cubicBezTo>
                <a:cubicBezTo>
                  <a:pt x="52" y="27"/>
                  <a:pt x="52" y="27"/>
                  <a:pt x="52" y="27"/>
                </a:cubicBezTo>
                <a:cubicBezTo>
                  <a:pt x="52" y="27"/>
                  <a:pt x="52" y="27"/>
                  <a:pt x="52" y="27"/>
                </a:cubicBezTo>
                <a:cubicBezTo>
                  <a:pt x="51" y="27"/>
                  <a:pt x="51" y="27"/>
                  <a:pt x="52" y="26"/>
                </a:cubicBezTo>
                <a:cubicBezTo>
                  <a:pt x="52" y="26"/>
                  <a:pt x="52" y="26"/>
                  <a:pt x="52" y="26"/>
                </a:cubicBezTo>
                <a:cubicBezTo>
                  <a:pt x="52" y="26"/>
                  <a:pt x="52" y="26"/>
                  <a:pt x="53" y="26"/>
                </a:cubicBezTo>
                <a:cubicBezTo>
                  <a:pt x="53" y="26"/>
                  <a:pt x="53" y="26"/>
                  <a:pt x="53" y="26"/>
                </a:cubicBezTo>
                <a:cubicBezTo>
                  <a:pt x="53" y="25"/>
                  <a:pt x="53" y="25"/>
                  <a:pt x="53" y="25"/>
                </a:cubicBezTo>
                <a:cubicBezTo>
                  <a:pt x="53" y="24"/>
                  <a:pt x="53" y="24"/>
                  <a:pt x="53" y="24"/>
                </a:cubicBezTo>
                <a:cubicBezTo>
                  <a:pt x="53" y="24"/>
                  <a:pt x="53" y="24"/>
                  <a:pt x="53" y="24"/>
                </a:cubicBezTo>
                <a:cubicBezTo>
                  <a:pt x="53" y="24"/>
                  <a:pt x="53" y="24"/>
                  <a:pt x="53" y="24"/>
                </a:cubicBezTo>
                <a:cubicBezTo>
                  <a:pt x="53" y="24"/>
                  <a:pt x="52" y="24"/>
                  <a:pt x="52" y="24"/>
                </a:cubicBezTo>
                <a:cubicBezTo>
                  <a:pt x="52" y="24"/>
                  <a:pt x="52" y="24"/>
                  <a:pt x="52" y="24"/>
                </a:cubicBezTo>
                <a:cubicBezTo>
                  <a:pt x="52" y="23"/>
                  <a:pt x="52" y="23"/>
                  <a:pt x="53" y="23"/>
                </a:cubicBezTo>
                <a:cubicBezTo>
                  <a:pt x="53" y="23"/>
                  <a:pt x="53" y="23"/>
                  <a:pt x="53" y="23"/>
                </a:cubicBezTo>
                <a:cubicBezTo>
                  <a:pt x="53" y="23"/>
                  <a:pt x="53" y="23"/>
                  <a:pt x="53" y="23"/>
                </a:cubicBezTo>
                <a:cubicBezTo>
                  <a:pt x="53" y="22"/>
                  <a:pt x="53" y="22"/>
                  <a:pt x="52" y="21"/>
                </a:cubicBezTo>
                <a:cubicBezTo>
                  <a:pt x="52" y="21"/>
                  <a:pt x="52" y="21"/>
                  <a:pt x="52" y="21"/>
                </a:cubicBezTo>
                <a:cubicBezTo>
                  <a:pt x="52" y="21"/>
                  <a:pt x="52" y="21"/>
                  <a:pt x="52" y="21"/>
                </a:cubicBezTo>
                <a:cubicBezTo>
                  <a:pt x="52" y="21"/>
                  <a:pt x="52" y="21"/>
                  <a:pt x="52" y="21"/>
                </a:cubicBezTo>
                <a:cubicBezTo>
                  <a:pt x="52" y="21"/>
                  <a:pt x="51" y="21"/>
                  <a:pt x="51" y="21"/>
                </a:cubicBezTo>
                <a:cubicBezTo>
                  <a:pt x="51" y="21"/>
                  <a:pt x="51" y="21"/>
                  <a:pt x="51" y="20"/>
                </a:cubicBezTo>
                <a:cubicBezTo>
                  <a:pt x="51" y="20"/>
                  <a:pt x="51" y="20"/>
                  <a:pt x="51" y="20"/>
                </a:cubicBezTo>
                <a:cubicBezTo>
                  <a:pt x="51" y="20"/>
                  <a:pt x="51" y="20"/>
                  <a:pt x="51" y="20"/>
                </a:cubicBezTo>
                <a:cubicBezTo>
                  <a:pt x="51" y="20"/>
                  <a:pt x="51" y="20"/>
                  <a:pt x="51" y="20"/>
                </a:cubicBezTo>
                <a:cubicBezTo>
                  <a:pt x="51" y="20"/>
                  <a:pt x="50" y="19"/>
                  <a:pt x="50" y="19"/>
                </a:cubicBezTo>
                <a:cubicBezTo>
                  <a:pt x="50" y="19"/>
                  <a:pt x="50" y="19"/>
                  <a:pt x="50" y="19"/>
                </a:cubicBezTo>
                <a:cubicBezTo>
                  <a:pt x="49" y="19"/>
                  <a:pt x="49" y="19"/>
                  <a:pt x="49" y="19"/>
                </a:cubicBezTo>
                <a:cubicBezTo>
                  <a:pt x="49" y="20"/>
                  <a:pt x="49" y="20"/>
                  <a:pt x="49" y="20"/>
                </a:cubicBezTo>
                <a:cubicBezTo>
                  <a:pt x="49" y="20"/>
                  <a:pt x="48" y="20"/>
                  <a:pt x="48" y="19"/>
                </a:cubicBezTo>
                <a:cubicBezTo>
                  <a:pt x="48" y="19"/>
                  <a:pt x="48" y="19"/>
                  <a:pt x="48" y="19"/>
                </a:cubicBezTo>
                <a:cubicBezTo>
                  <a:pt x="48" y="19"/>
                  <a:pt x="48" y="19"/>
                  <a:pt x="48" y="19"/>
                </a:cubicBezTo>
                <a:cubicBezTo>
                  <a:pt x="48" y="19"/>
                  <a:pt x="48" y="19"/>
                  <a:pt x="48" y="19"/>
                </a:cubicBezTo>
                <a:cubicBezTo>
                  <a:pt x="48" y="19"/>
                  <a:pt x="48" y="19"/>
                  <a:pt x="48" y="19"/>
                </a:cubicBezTo>
                <a:cubicBezTo>
                  <a:pt x="47" y="19"/>
                  <a:pt x="47" y="19"/>
                  <a:pt x="46" y="19"/>
                </a:cubicBezTo>
                <a:close/>
                <a:moveTo>
                  <a:pt x="50" y="22"/>
                </a:moveTo>
                <a:cubicBezTo>
                  <a:pt x="51" y="23"/>
                  <a:pt x="51" y="25"/>
                  <a:pt x="49" y="26"/>
                </a:cubicBezTo>
                <a:cubicBezTo>
                  <a:pt x="48" y="27"/>
                  <a:pt x="47" y="27"/>
                  <a:pt x="46" y="26"/>
                </a:cubicBezTo>
                <a:cubicBezTo>
                  <a:pt x="45" y="25"/>
                  <a:pt x="45" y="23"/>
                  <a:pt x="46" y="22"/>
                </a:cubicBezTo>
                <a:cubicBezTo>
                  <a:pt x="47" y="21"/>
                  <a:pt x="49" y="21"/>
                  <a:pt x="50" y="22"/>
                </a:cubicBezTo>
                <a:close/>
                <a:moveTo>
                  <a:pt x="48" y="23"/>
                </a:moveTo>
                <a:cubicBezTo>
                  <a:pt x="49" y="24"/>
                  <a:pt x="49" y="24"/>
                  <a:pt x="48" y="25"/>
                </a:cubicBezTo>
                <a:cubicBezTo>
                  <a:pt x="48" y="25"/>
                  <a:pt x="47" y="25"/>
                  <a:pt x="47" y="25"/>
                </a:cubicBezTo>
                <a:cubicBezTo>
                  <a:pt x="46" y="24"/>
                  <a:pt x="46" y="24"/>
                  <a:pt x="47" y="23"/>
                </a:cubicBezTo>
                <a:cubicBezTo>
                  <a:pt x="47" y="23"/>
                  <a:pt x="48" y="23"/>
                  <a:pt x="48" y="23"/>
                </a:cubicBezTo>
                <a:close/>
              </a:path>
            </a:pathLst>
          </a:custGeom>
          <a:solidFill>
            <a:schemeClr val="accent1"/>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0D7AB5"/>
              </a:solidFill>
              <a:effectLst/>
              <a:uLnTx/>
              <a:uFillTx/>
              <a:latin typeface="Merriweather"/>
              <a:ea typeface="+mn-ea"/>
              <a:cs typeface="+mn-cs"/>
            </a:endParaRPr>
          </a:p>
        </p:txBody>
      </p:sp>
      <p:sp>
        <p:nvSpPr>
          <p:cNvPr id="20" name="Freeform 203"/>
          <p:cNvSpPr>
            <a:spLocks noEditPoints="1"/>
          </p:cNvSpPr>
          <p:nvPr/>
        </p:nvSpPr>
        <p:spPr bwMode="auto">
          <a:xfrm>
            <a:off x="810895" y="1604010"/>
            <a:ext cx="500380" cy="411480"/>
          </a:xfrm>
          <a:custGeom>
            <a:avLst/>
            <a:gdLst>
              <a:gd name="T0" fmla="*/ 64 w 76"/>
              <a:gd name="T1" fmla="*/ 52 h 72"/>
              <a:gd name="T2" fmla="*/ 59 w 76"/>
              <a:gd name="T3" fmla="*/ 50 h 72"/>
              <a:gd name="T4" fmla="*/ 60 w 76"/>
              <a:gd name="T5" fmla="*/ 40 h 72"/>
              <a:gd name="T6" fmla="*/ 43 w 76"/>
              <a:gd name="T7" fmla="*/ 23 h 72"/>
              <a:gd name="T8" fmla="*/ 32 w 76"/>
              <a:gd name="T9" fmla="*/ 51 h 72"/>
              <a:gd name="T10" fmla="*/ 52 w 76"/>
              <a:gd name="T11" fmla="*/ 53 h 72"/>
              <a:gd name="T12" fmla="*/ 54 w 76"/>
              <a:gd name="T13" fmla="*/ 56 h 72"/>
              <a:gd name="T14" fmla="*/ 65 w 76"/>
              <a:gd name="T15" fmla="*/ 70 h 72"/>
              <a:gd name="T16" fmla="*/ 74 w 76"/>
              <a:gd name="T17" fmla="*/ 70 h 72"/>
              <a:gd name="T18" fmla="*/ 43 w 76"/>
              <a:gd name="T19" fmla="*/ 53 h 72"/>
              <a:gd name="T20" fmla="*/ 30 w 76"/>
              <a:gd name="T21" fmla="*/ 40 h 72"/>
              <a:gd name="T22" fmla="*/ 43 w 76"/>
              <a:gd name="T23" fmla="*/ 26 h 72"/>
              <a:gd name="T24" fmla="*/ 57 w 76"/>
              <a:gd name="T25" fmla="*/ 40 h 72"/>
              <a:gd name="T26" fmla="*/ 43 w 76"/>
              <a:gd name="T27" fmla="*/ 53 h 72"/>
              <a:gd name="T28" fmla="*/ 55 w 76"/>
              <a:gd name="T29" fmla="*/ 53 h 72"/>
              <a:gd name="T30" fmla="*/ 55 w 76"/>
              <a:gd name="T31" fmla="*/ 51 h 72"/>
              <a:gd name="T32" fmla="*/ 57 w 76"/>
              <a:gd name="T33" fmla="*/ 51 h 72"/>
              <a:gd name="T34" fmla="*/ 72 w 76"/>
              <a:gd name="T35" fmla="*/ 68 h 72"/>
              <a:gd name="T36" fmla="*/ 58 w 76"/>
              <a:gd name="T37" fmla="*/ 58 h 72"/>
              <a:gd name="T38" fmla="*/ 57 w 76"/>
              <a:gd name="T39" fmla="*/ 55 h 72"/>
              <a:gd name="T40" fmla="*/ 59 w 76"/>
              <a:gd name="T41" fmla="*/ 54 h 72"/>
              <a:gd name="T42" fmla="*/ 60 w 76"/>
              <a:gd name="T43" fmla="*/ 53 h 72"/>
              <a:gd name="T44" fmla="*/ 72 w 76"/>
              <a:gd name="T45" fmla="*/ 64 h 72"/>
              <a:gd name="T46" fmla="*/ 36 w 76"/>
              <a:gd name="T47" fmla="*/ 33 h 72"/>
              <a:gd name="T48" fmla="*/ 36 w 76"/>
              <a:gd name="T49" fmla="*/ 48 h 72"/>
              <a:gd name="T50" fmla="*/ 35 w 76"/>
              <a:gd name="T51" fmla="*/ 48 h 72"/>
              <a:gd name="T52" fmla="*/ 36 w 76"/>
              <a:gd name="T53" fmla="*/ 31 h 72"/>
              <a:gd name="T54" fmla="*/ 54 w 76"/>
              <a:gd name="T55" fmla="*/ 61 h 72"/>
              <a:gd name="T56" fmla="*/ 49 w 76"/>
              <a:gd name="T57" fmla="*/ 57 h 72"/>
              <a:gd name="T58" fmla="*/ 36 w 76"/>
              <a:gd name="T59" fmla="*/ 67 h 72"/>
              <a:gd name="T60" fmla="*/ 34 w 76"/>
              <a:gd name="T61" fmla="*/ 55 h 72"/>
              <a:gd name="T62" fmla="*/ 21 w 76"/>
              <a:gd name="T63" fmla="*/ 52 h 72"/>
              <a:gd name="T64" fmla="*/ 30 w 76"/>
              <a:gd name="T65" fmla="*/ 53 h 72"/>
              <a:gd name="T66" fmla="*/ 20 w 76"/>
              <a:gd name="T67" fmla="*/ 50 h 72"/>
              <a:gd name="T68" fmla="*/ 25 w 76"/>
              <a:gd name="T69" fmla="*/ 36 h 72"/>
              <a:gd name="T70" fmla="*/ 19 w 76"/>
              <a:gd name="T71" fmla="*/ 34 h 72"/>
              <a:gd name="T72" fmla="*/ 34 w 76"/>
              <a:gd name="T73" fmla="*/ 19 h 72"/>
              <a:gd name="T74" fmla="*/ 36 w 76"/>
              <a:gd name="T75" fmla="*/ 23 h 72"/>
              <a:gd name="T76" fmla="*/ 49 w 76"/>
              <a:gd name="T77" fmla="*/ 21 h 72"/>
              <a:gd name="T78" fmla="*/ 52 w 76"/>
              <a:gd name="T79" fmla="*/ 23 h 72"/>
              <a:gd name="T80" fmla="*/ 67 w 76"/>
              <a:gd name="T81" fmla="*/ 34 h 72"/>
              <a:gd name="T82" fmla="*/ 61 w 76"/>
              <a:gd name="T83" fmla="*/ 36 h 72"/>
              <a:gd name="T84" fmla="*/ 61 w 76"/>
              <a:gd name="T85" fmla="*/ 45 h 72"/>
              <a:gd name="T86" fmla="*/ 66 w 76"/>
              <a:gd name="T87" fmla="*/ 42 h 72"/>
              <a:gd name="T88" fmla="*/ 66 w 76"/>
              <a:gd name="T89" fmla="*/ 51 h 72"/>
              <a:gd name="T90" fmla="*/ 70 w 76"/>
              <a:gd name="T91" fmla="*/ 35 h 72"/>
              <a:gd name="T92" fmla="*/ 0 w 76"/>
              <a:gd name="T93" fmla="*/ 35 h 72"/>
              <a:gd name="T94" fmla="*/ 56 w 76"/>
              <a:gd name="T95" fmla="*/ 63 h 72"/>
              <a:gd name="T96" fmla="*/ 54 w 76"/>
              <a:gd name="T97" fmla="*/ 61 h 72"/>
              <a:gd name="T98" fmla="*/ 51 w 76"/>
              <a:gd name="T99" fmla="*/ 19 h 72"/>
              <a:gd name="T100" fmla="*/ 66 w 76"/>
              <a:gd name="T101" fmla="*/ 28 h 72"/>
              <a:gd name="T102" fmla="*/ 49 w 76"/>
              <a:gd name="T103" fmla="*/ 19 h 72"/>
              <a:gd name="T104" fmla="*/ 36 w 76"/>
              <a:gd name="T105" fmla="*/ 3 h 72"/>
              <a:gd name="T106" fmla="*/ 34 w 76"/>
              <a:gd name="T107" fmla="*/ 17 h 72"/>
              <a:gd name="T108" fmla="*/ 34 w 76"/>
              <a:gd name="T109" fmla="*/ 3 h 72"/>
              <a:gd name="T110" fmla="*/ 19 w 76"/>
              <a:gd name="T111" fmla="*/ 19 h 72"/>
              <a:gd name="T112" fmla="*/ 28 w 76"/>
              <a:gd name="T113" fmla="*/ 4 h 72"/>
              <a:gd name="T114" fmla="*/ 17 w 76"/>
              <a:gd name="T115" fmla="*/ 34 h 72"/>
              <a:gd name="T116" fmla="*/ 18 w 76"/>
              <a:gd name="T117" fmla="*/ 21 h 72"/>
              <a:gd name="T118" fmla="*/ 18 w 76"/>
              <a:gd name="T119" fmla="*/ 49 h 72"/>
              <a:gd name="T120" fmla="*/ 17 w 76"/>
              <a:gd name="T121" fmla="*/ 36 h 72"/>
              <a:gd name="T122" fmla="*/ 19 w 76"/>
              <a:gd name="T123" fmla="*/ 51 h 72"/>
              <a:gd name="T124" fmla="*/ 4 w 76"/>
              <a:gd name="T125" fmla="*/ 4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6" h="72">
                <a:moveTo>
                  <a:pt x="74" y="62"/>
                </a:moveTo>
                <a:cubicBezTo>
                  <a:pt x="64" y="52"/>
                  <a:pt x="64" y="52"/>
                  <a:pt x="64" y="52"/>
                </a:cubicBezTo>
                <a:cubicBezTo>
                  <a:pt x="63" y="51"/>
                  <a:pt x="61" y="50"/>
                  <a:pt x="60" y="50"/>
                </a:cubicBezTo>
                <a:cubicBezTo>
                  <a:pt x="59" y="50"/>
                  <a:pt x="59" y="50"/>
                  <a:pt x="59" y="50"/>
                </a:cubicBezTo>
                <a:cubicBezTo>
                  <a:pt x="57" y="49"/>
                  <a:pt x="57" y="49"/>
                  <a:pt x="57" y="49"/>
                </a:cubicBezTo>
                <a:cubicBezTo>
                  <a:pt x="59" y="46"/>
                  <a:pt x="60" y="43"/>
                  <a:pt x="60" y="40"/>
                </a:cubicBezTo>
                <a:cubicBezTo>
                  <a:pt x="60" y="35"/>
                  <a:pt x="58" y="31"/>
                  <a:pt x="55" y="28"/>
                </a:cubicBezTo>
                <a:cubicBezTo>
                  <a:pt x="52" y="25"/>
                  <a:pt x="48" y="23"/>
                  <a:pt x="43" y="23"/>
                </a:cubicBezTo>
                <a:cubicBezTo>
                  <a:pt x="39" y="23"/>
                  <a:pt x="35" y="25"/>
                  <a:pt x="32" y="28"/>
                </a:cubicBezTo>
                <a:cubicBezTo>
                  <a:pt x="25" y="34"/>
                  <a:pt x="25" y="45"/>
                  <a:pt x="32" y="51"/>
                </a:cubicBezTo>
                <a:cubicBezTo>
                  <a:pt x="35" y="54"/>
                  <a:pt x="39" y="56"/>
                  <a:pt x="43" y="56"/>
                </a:cubicBezTo>
                <a:cubicBezTo>
                  <a:pt x="46" y="56"/>
                  <a:pt x="50" y="55"/>
                  <a:pt x="52" y="53"/>
                </a:cubicBezTo>
                <a:cubicBezTo>
                  <a:pt x="54" y="55"/>
                  <a:pt x="54" y="55"/>
                  <a:pt x="54" y="55"/>
                </a:cubicBezTo>
                <a:cubicBezTo>
                  <a:pt x="54" y="55"/>
                  <a:pt x="54" y="56"/>
                  <a:pt x="54" y="56"/>
                </a:cubicBezTo>
                <a:cubicBezTo>
                  <a:pt x="54" y="58"/>
                  <a:pt x="55" y="59"/>
                  <a:pt x="56" y="61"/>
                </a:cubicBezTo>
                <a:cubicBezTo>
                  <a:pt x="65" y="70"/>
                  <a:pt x="65" y="70"/>
                  <a:pt x="65" y="70"/>
                </a:cubicBezTo>
                <a:cubicBezTo>
                  <a:pt x="67" y="71"/>
                  <a:pt x="68" y="72"/>
                  <a:pt x="70" y="72"/>
                </a:cubicBezTo>
                <a:cubicBezTo>
                  <a:pt x="71" y="72"/>
                  <a:pt x="73" y="71"/>
                  <a:pt x="74" y="70"/>
                </a:cubicBezTo>
                <a:cubicBezTo>
                  <a:pt x="76" y="68"/>
                  <a:pt x="76" y="64"/>
                  <a:pt x="74" y="62"/>
                </a:cubicBezTo>
                <a:close/>
                <a:moveTo>
                  <a:pt x="43" y="53"/>
                </a:moveTo>
                <a:cubicBezTo>
                  <a:pt x="40" y="53"/>
                  <a:pt x="36" y="52"/>
                  <a:pt x="34" y="49"/>
                </a:cubicBezTo>
                <a:cubicBezTo>
                  <a:pt x="31" y="46"/>
                  <a:pt x="30" y="43"/>
                  <a:pt x="30" y="40"/>
                </a:cubicBezTo>
                <a:cubicBezTo>
                  <a:pt x="30" y="36"/>
                  <a:pt x="31" y="33"/>
                  <a:pt x="34" y="30"/>
                </a:cubicBezTo>
                <a:cubicBezTo>
                  <a:pt x="36" y="28"/>
                  <a:pt x="40" y="26"/>
                  <a:pt x="43" y="26"/>
                </a:cubicBezTo>
                <a:cubicBezTo>
                  <a:pt x="47" y="26"/>
                  <a:pt x="50" y="28"/>
                  <a:pt x="53" y="30"/>
                </a:cubicBezTo>
                <a:cubicBezTo>
                  <a:pt x="55" y="33"/>
                  <a:pt x="57" y="36"/>
                  <a:pt x="57" y="40"/>
                </a:cubicBezTo>
                <a:cubicBezTo>
                  <a:pt x="57" y="43"/>
                  <a:pt x="55" y="46"/>
                  <a:pt x="53" y="49"/>
                </a:cubicBezTo>
                <a:cubicBezTo>
                  <a:pt x="50" y="52"/>
                  <a:pt x="47" y="53"/>
                  <a:pt x="43" y="53"/>
                </a:cubicBezTo>
                <a:close/>
                <a:moveTo>
                  <a:pt x="56" y="52"/>
                </a:moveTo>
                <a:cubicBezTo>
                  <a:pt x="55" y="52"/>
                  <a:pt x="55" y="53"/>
                  <a:pt x="55" y="53"/>
                </a:cubicBezTo>
                <a:cubicBezTo>
                  <a:pt x="54" y="52"/>
                  <a:pt x="54" y="52"/>
                  <a:pt x="54" y="52"/>
                </a:cubicBezTo>
                <a:cubicBezTo>
                  <a:pt x="54" y="52"/>
                  <a:pt x="54" y="51"/>
                  <a:pt x="55" y="51"/>
                </a:cubicBezTo>
                <a:cubicBezTo>
                  <a:pt x="55" y="51"/>
                  <a:pt x="55" y="50"/>
                  <a:pt x="56" y="50"/>
                </a:cubicBezTo>
                <a:cubicBezTo>
                  <a:pt x="57" y="51"/>
                  <a:pt x="57" y="51"/>
                  <a:pt x="57" y="51"/>
                </a:cubicBezTo>
                <a:cubicBezTo>
                  <a:pt x="56" y="52"/>
                  <a:pt x="56" y="52"/>
                  <a:pt x="56" y="52"/>
                </a:cubicBezTo>
                <a:close/>
                <a:moveTo>
                  <a:pt x="72" y="68"/>
                </a:moveTo>
                <a:cubicBezTo>
                  <a:pt x="71" y="69"/>
                  <a:pt x="69" y="69"/>
                  <a:pt x="68" y="68"/>
                </a:cubicBezTo>
                <a:cubicBezTo>
                  <a:pt x="58" y="58"/>
                  <a:pt x="58" y="58"/>
                  <a:pt x="58" y="58"/>
                </a:cubicBezTo>
                <a:cubicBezTo>
                  <a:pt x="57" y="58"/>
                  <a:pt x="57" y="56"/>
                  <a:pt x="57" y="55"/>
                </a:cubicBezTo>
                <a:cubicBezTo>
                  <a:pt x="57" y="55"/>
                  <a:pt x="57" y="55"/>
                  <a:pt x="57" y="55"/>
                </a:cubicBezTo>
                <a:cubicBezTo>
                  <a:pt x="57" y="55"/>
                  <a:pt x="58" y="54"/>
                  <a:pt x="58" y="54"/>
                </a:cubicBezTo>
                <a:cubicBezTo>
                  <a:pt x="58" y="54"/>
                  <a:pt x="58" y="54"/>
                  <a:pt x="59" y="54"/>
                </a:cubicBezTo>
                <a:cubicBezTo>
                  <a:pt x="59" y="54"/>
                  <a:pt x="59" y="53"/>
                  <a:pt x="59" y="53"/>
                </a:cubicBezTo>
                <a:cubicBezTo>
                  <a:pt x="59" y="53"/>
                  <a:pt x="59" y="53"/>
                  <a:pt x="60" y="53"/>
                </a:cubicBezTo>
                <a:cubicBezTo>
                  <a:pt x="61" y="53"/>
                  <a:pt x="61" y="54"/>
                  <a:pt x="62" y="54"/>
                </a:cubicBezTo>
                <a:cubicBezTo>
                  <a:pt x="72" y="64"/>
                  <a:pt x="72" y="64"/>
                  <a:pt x="72" y="64"/>
                </a:cubicBezTo>
                <a:cubicBezTo>
                  <a:pt x="73" y="65"/>
                  <a:pt x="73" y="67"/>
                  <a:pt x="72" y="68"/>
                </a:cubicBezTo>
                <a:close/>
                <a:moveTo>
                  <a:pt x="36" y="33"/>
                </a:moveTo>
                <a:cubicBezTo>
                  <a:pt x="33" y="37"/>
                  <a:pt x="33" y="43"/>
                  <a:pt x="36" y="46"/>
                </a:cubicBezTo>
                <a:cubicBezTo>
                  <a:pt x="37" y="47"/>
                  <a:pt x="37" y="47"/>
                  <a:pt x="36" y="48"/>
                </a:cubicBezTo>
                <a:cubicBezTo>
                  <a:pt x="36" y="48"/>
                  <a:pt x="36" y="48"/>
                  <a:pt x="36" y="48"/>
                </a:cubicBezTo>
                <a:cubicBezTo>
                  <a:pt x="35" y="48"/>
                  <a:pt x="35" y="48"/>
                  <a:pt x="35" y="48"/>
                </a:cubicBezTo>
                <a:cubicBezTo>
                  <a:pt x="30" y="43"/>
                  <a:pt x="30" y="36"/>
                  <a:pt x="35" y="31"/>
                </a:cubicBezTo>
                <a:cubicBezTo>
                  <a:pt x="35" y="31"/>
                  <a:pt x="36" y="31"/>
                  <a:pt x="36" y="31"/>
                </a:cubicBezTo>
                <a:cubicBezTo>
                  <a:pt x="37" y="32"/>
                  <a:pt x="37" y="32"/>
                  <a:pt x="36" y="33"/>
                </a:cubicBezTo>
                <a:close/>
                <a:moveTo>
                  <a:pt x="54" y="61"/>
                </a:moveTo>
                <a:cubicBezTo>
                  <a:pt x="50" y="64"/>
                  <a:pt x="46" y="65"/>
                  <a:pt x="42" y="66"/>
                </a:cubicBezTo>
                <a:cubicBezTo>
                  <a:pt x="45" y="64"/>
                  <a:pt x="47" y="61"/>
                  <a:pt x="49" y="57"/>
                </a:cubicBezTo>
                <a:cubicBezTo>
                  <a:pt x="48" y="57"/>
                  <a:pt x="47" y="57"/>
                  <a:pt x="46" y="58"/>
                </a:cubicBezTo>
                <a:cubicBezTo>
                  <a:pt x="44" y="63"/>
                  <a:pt x="40" y="67"/>
                  <a:pt x="36" y="67"/>
                </a:cubicBezTo>
                <a:cubicBezTo>
                  <a:pt x="36" y="56"/>
                  <a:pt x="36" y="56"/>
                  <a:pt x="36" y="56"/>
                </a:cubicBezTo>
                <a:cubicBezTo>
                  <a:pt x="35" y="56"/>
                  <a:pt x="34" y="56"/>
                  <a:pt x="34" y="55"/>
                </a:cubicBezTo>
                <a:cubicBezTo>
                  <a:pt x="34" y="67"/>
                  <a:pt x="34" y="67"/>
                  <a:pt x="34" y="67"/>
                </a:cubicBezTo>
                <a:cubicBezTo>
                  <a:pt x="28" y="67"/>
                  <a:pt x="24" y="61"/>
                  <a:pt x="21" y="52"/>
                </a:cubicBezTo>
                <a:cubicBezTo>
                  <a:pt x="24" y="53"/>
                  <a:pt x="28" y="53"/>
                  <a:pt x="31" y="53"/>
                </a:cubicBezTo>
                <a:cubicBezTo>
                  <a:pt x="31" y="53"/>
                  <a:pt x="31" y="53"/>
                  <a:pt x="30" y="53"/>
                </a:cubicBezTo>
                <a:cubicBezTo>
                  <a:pt x="30" y="52"/>
                  <a:pt x="29" y="52"/>
                  <a:pt x="29" y="51"/>
                </a:cubicBezTo>
                <a:cubicBezTo>
                  <a:pt x="26" y="51"/>
                  <a:pt x="23" y="50"/>
                  <a:pt x="20" y="50"/>
                </a:cubicBezTo>
                <a:cubicBezTo>
                  <a:pt x="19" y="46"/>
                  <a:pt x="19" y="41"/>
                  <a:pt x="19" y="36"/>
                </a:cubicBezTo>
                <a:cubicBezTo>
                  <a:pt x="25" y="36"/>
                  <a:pt x="25" y="36"/>
                  <a:pt x="25" y="36"/>
                </a:cubicBezTo>
                <a:cubicBezTo>
                  <a:pt x="25" y="36"/>
                  <a:pt x="26" y="35"/>
                  <a:pt x="26" y="34"/>
                </a:cubicBezTo>
                <a:cubicBezTo>
                  <a:pt x="19" y="34"/>
                  <a:pt x="19" y="34"/>
                  <a:pt x="19" y="34"/>
                </a:cubicBezTo>
                <a:cubicBezTo>
                  <a:pt x="19" y="29"/>
                  <a:pt x="19" y="25"/>
                  <a:pt x="20" y="21"/>
                </a:cubicBezTo>
                <a:cubicBezTo>
                  <a:pt x="24" y="20"/>
                  <a:pt x="29" y="19"/>
                  <a:pt x="34" y="19"/>
                </a:cubicBezTo>
                <a:cubicBezTo>
                  <a:pt x="34" y="24"/>
                  <a:pt x="34" y="24"/>
                  <a:pt x="34" y="24"/>
                </a:cubicBezTo>
                <a:cubicBezTo>
                  <a:pt x="34" y="24"/>
                  <a:pt x="35" y="23"/>
                  <a:pt x="36" y="23"/>
                </a:cubicBezTo>
                <a:cubicBezTo>
                  <a:pt x="36" y="19"/>
                  <a:pt x="36" y="19"/>
                  <a:pt x="36" y="19"/>
                </a:cubicBezTo>
                <a:cubicBezTo>
                  <a:pt x="41" y="19"/>
                  <a:pt x="45" y="20"/>
                  <a:pt x="49" y="21"/>
                </a:cubicBezTo>
                <a:cubicBezTo>
                  <a:pt x="49" y="21"/>
                  <a:pt x="49" y="22"/>
                  <a:pt x="50" y="22"/>
                </a:cubicBezTo>
                <a:cubicBezTo>
                  <a:pt x="50" y="23"/>
                  <a:pt x="51" y="23"/>
                  <a:pt x="52" y="23"/>
                </a:cubicBezTo>
                <a:cubicBezTo>
                  <a:pt x="52" y="23"/>
                  <a:pt x="52" y="22"/>
                  <a:pt x="51" y="21"/>
                </a:cubicBezTo>
                <a:cubicBezTo>
                  <a:pt x="60" y="24"/>
                  <a:pt x="66" y="29"/>
                  <a:pt x="67" y="34"/>
                </a:cubicBezTo>
                <a:cubicBezTo>
                  <a:pt x="61" y="34"/>
                  <a:pt x="61" y="34"/>
                  <a:pt x="61" y="34"/>
                </a:cubicBezTo>
                <a:cubicBezTo>
                  <a:pt x="61" y="35"/>
                  <a:pt x="61" y="36"/>
                  <a:pt x="61" y="36"/>
                </a:cubicBezTo>
                <a:cubicBezTo>
                  <a:pt x="67" y="36"/>
                  <a:pt x="67" y="36"/>
                  <a:pt x="67" y="36"/>
                </a:cubicBezTo>
                <a:cubicBezTo>
                  <a:pt x="66" y="39"/>
                  <a:pt x="64" y="42"/>
                  <a:pt x="61" y="45"/>
                </a:cubicBezTo>
                <a:cubicBezTo>
                  <a:pt x="61" y="46"/>
                  <a:pt x="60" y="47"/>
                  <a:pt x="60" y="48"/>
                </a:cubicBezTo>
                <a:cubicBezTo>
                  <a:pt x="62" y="46"/>
                  <a:pt x="65" y="44"/>
                  <a:pt x="66" y="42"/>
                </a:cubicBezTo>
                <a:cubicBezTo>
                  <a:pt x="66" y="45"/>
                  <a:pt x="65" y="47"/>
                  <a:pt x="64" y="49"/>
                </a:cubicBezTo>
                <a:cubicBezTo>
                  <a:pt x="64" y="50"/>
                  <a:pt x="65" y="50"/>
                  <a:pt x="66" y="51"/>
                </a:cubicBezTo>
                <a:cubicBezTo>
                  <a:pt x="66" y="51"/>
                  <a:pt x="66" y="51"/>
                  <a:pt x="66" y="51"/>
                </a:cubicBezTo>
                <a:cubicBezTo>
                  <a:pt x="69" y="46"/>
                  <a:pt x="70" y="41"/>
                  <a:pt x="70" y="35"/>
                </a:cubicBezTo>
                <a:cubicBezTo>
                  <a:pt x="70" y="16"/>
                  <a:pt x="54" y="0"/>
                  <a:pt x="35" y="0"/>
                </a:cubicBezTo>
                <a:cubicBezTo>
                  <a:pt x="15" y="0"/>
                  <a:pt x="0" y="16"/>
                  <a:pt x="0" y="35"/>
                </a:cubicBezTo>
                <a:cubicBezTo>
                  <a:pt x="0" y="55"/>
                  <a:pt x="15" y="70"/>
                  <a:pt x="35" y="70"/>
                </a:cubicBezTo>
                <a:cubicBezTo>
                  <a:pt x="43" y="70"/>
                  <a:pt x="50" y="68"/>
                  <a:pt x="56" y="63"/>
                </a:cubicBezTo>
                <a:cubicBezTo>
                  <a:pt x="54" y="62"/>
                  <a:pt x="54" y="62"/>
                  <a:pt x="54" y="62"/>
                </a:cubicBezTo>
                <a:cubicBezTo>
                  <a:pt x="54" y="62"/>
                  <a:pt x="54" y="61"/>
                  <a:pt x="54" y="61"/>
                </a:cubicBezTo>
                <a:close/>
                <a:moveTo>
                  <a:pt x="66" y="28"/>
                </a:moveTo>
                <a:cubicBezTo>
                  <a:pt x="63" y="24"/>
                  <a:pt x="58" y="21"/>
                  <a:pt x="51" y="19"/>
                </a:cubicBezTo>
                <a:cubicBezTo>
                  <a:pt x="49" y="12"/>
                  <a:pt x="46" y="7"/>
                  <a:pt x="42" y="4"/>
                </a:cubicBezTo>
                <a:cubicBezTo>
                  <a:pt x="54" y="7"/>
                  <a:pt x="63" y="16"/>
                  <a:pt x="66" y="28"/>
                </a:cubicBezTo>
                <a:close/>
                <a:moveTo>
                  <a:pt x="36" y="3"/>
                </a:moveTo>
                <a:cubicBezTo>
                  <a:pt x="41" y="4"/>
                  <a:pt x="46" y="10"/>
                  <a:pt x="49" y="19"/>
                </a:cubicBezTo>
                <a:cubicBezTo>
                  <a:pt x="45" y="18"/>
                  <a:pt x="40" y="17"/>
                  <a:pt x="36" y="17"/>
                </a:cubicBezTo>
                <a:lnTo>
                  <a:pt x="36" y="3"/>
                </a:lnTo>
                <a:close/>
                <a:moveTo>
                  <a:pt x="34" y="3"/>
                </a:moveTo>
                <a:cubicBezTo>
                  <a:pt x="34" y="17"/>
                  <a:pt x="34" y="17"/>
                  <a:pt x="34" y="17"/>
                </a:cubicBezTo>
                <a:cubicBezTo>
                  <a:pt x="29" y="17"/>
                  <a:pt x="25" y="18"/>
                  <a:pt x="21" y="19"/>
                </a:cubicBezTo>
                <a:cubicBezTo>
                  <a:pt x="24" y="10"/>
                  <a:pt x="28" y="4"/>
                  <a:pt x="34" y="3"/>
                </a:cubicBezTo>
                <a:close/>
                <a:moveTo>
                  <a:pt x="28" y="4"/>
                </a:moveTo>
                <a:cubicBezTo>
                  <a:pt x="24" y="7"/>
                  <a:pt x="21" y="12"/>
                  <a:pt x="19" y="19"/>
                </a:cubicBezTo>
                <a:cubicBezTo>
                  <a:pt x="12" y="21"/>
                  <a:pt x="7" y="24"/>
                  <a:pt x="4" y="28"/>
                </a:cubicBezTo>
                <a:cubicBezTo>
                  <a:pt x="6" y="16"/>
                  <a:pt x="16" y="7"/>
                  <a:pt x="28" y="4"/>
                </a:cubicBezTo>
                <a:close/>
                <a:moveTo>
                  <a:pt x="18" y="21"/>
                </a:moveTo>
                <a:cubicBezTo>
                  <a:pt x="17" y="25"/>
                  <a:pt x="17" y="30"/>
                  <a:pt x="17" y="34"/>
                </a:cubicBezTo>
                <a:cubicBezTo>
                  <a:pt x="3" y="34"/>
                  <a:pt x="3" y="34"/>
                  <a:pt x="3" y="34"/>
                </a:cubicBezTo>
                <a:cubicBezTo>
                  <a:pt x="3" y="29"/>
                  <a:pt x="9" y="24"/>
                  <a:pt x="18" y="21"/>
                </a:cubicBezTo>
                <a:close/>
                <a:moveTo>
                  <a:pt x="17" y="36"/>
                </a:moveTo>
                <a:cubicBezTo>
                  <a:pt x="17" y="41"/>
                  <a:pt x="17" y="45"/>
                  <a:pt x="18" y="49"/>
                </a:cubicBezTo>
                <a:cubicBezTo>
                  <a:pt x="9" y="46"/>
                  <a:pt x="3" y="42"/>
                  <a:pt x="3" y="36"/>
                </a:cubicBezTo>
                <a:lnTo>
                  <a:pt x="17" y="36"/>
                </a:lnTo>
                <a:close/>
                <a:moveTo>
                  <a:pt x="4" y="42"/>
                </a:moveTo>
                <a:cubicBezTo>
                  <a:pt x="7" y="46"/>
                  <a:pt x="12" y="49"/>
                  <a:pt x="19" y="51"/>
                </a:cubicBezTo>
                <a:cubicBezTo>
                  <a:pt x="21" y="58"/>
                  <a:pt x="24" y="63"/>
                  <a:pt x="28" y="67"/>
                </a:cubicBezTo>
                <a:cubicBezTo>
                  <a:pt x="16" y="64"/>
                  <a:pt x="6" y="54"/>
                  <a:pt x="4" y="42"/>
                </a:cubicBezTo>
                <a:close/>
              </a:path>
            </a:pathLst>
          </a:custGeom>
          <a:solidFill>
            <a:schemeClr val="accent1"/>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0D7AB5"/>
              </a:solidFill>
              <a:effectLst/>
              <a:uLnTx/>
              <a:uFillTx/>
              <a:latin typeface="Merriweather"/>
              <a:ea typeface="+mn-ea"/>
              <a:cs typeface="+mn-cs"/>
            </a:endParaRPr>
          </a:p>
        </p:txBody>
      </p:sp>
      <p:sp>
        <p:nvSpPr>
          <p:cNvPr id="16" name="TextBox 15"/>
          <p:cNvSpPr txBox="1"/>
          <p:nvPr/>
        </p:nvSpPr>
        <p:spPr>
          <a:xfrm>
            <a:off x="6237102" y="3909341"/>
            <a:ext cx="1097280" cy="3683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id-ID" sz="1800" b="0" i="0" u="none" strike="noStrike" kern="1200" cap="none" spc="0" normalizeH="0" baseline="0" noProof="0" dirty="0">
                <a:ln>
                  <a:noFill/>
                </a:ln>
                <a:solidFill>
                  <a:srgbClr val="3F3F3F"/>
                </a:solidFill>
                <a:effectLst/>
                <a:uLnTx/>
                <a:uFillTx/>
                <a:latin typeface="Lato"/>
                <a:ea typeface="+mn-ea"/>
                <a:cs typeface="+mn-cs"/>
              </a:rPr>
              <a:t>项目指标</a:t>
            </a:r>
            <a:endParaRPr kumimoji="0" lang="zh-CN" altLang="id-ID" sz="1800" b="0" i="0" u="none" strike="noStrike" kern="1200" cap="none" spc="0" normalizeH="0" baseline="0" noProof="0" dirty="0">
              <a:ln>
                <a:noFill/>
              </a:ln>
              <a:solidFill>
                <a:srgbClr val="3F3F3F"/>
              </a:solidFill>
              <a:effectLst/>
              <a:uLnTx/>
              <a:uFillTx/>
              <a:latin typeface="Lato"/>
              <a:ea typeface="+mn-ea"/>
              <a:cs typeface="+mn-cs"/>
            </a:endParaRPr>
          </a:p>
        </p:txBody>
      </p:sp>
      <p:sp>
        <p:nvSpPr>
          <p:cNvPr id="17" name="Rectangle 16"/>
          <p:cNvSpPr/>
          <p:nvPr/>
        </p:nvSpPr>
        <p:spPr>
          <a:xfrm>
            <a:off x="5789295" y="4312285"/>
            <a:ext cx="3284855" cy="1373505"/>
          </a:xfrm>
          <a:prstGeom prst="rect">
            <a:avLst/>
          </a:prstGeom>
        </p:spPr>
        <p:txBody>
          <a:bodyPr wrap="square">
            <a:spAutoFit/>
          </a:bodyPr>
          <a:lstStyle/>
          <a:p>
            <a:pPr marL="0" marR="0" lvl="0" indent="0" algn="just" defTabSz="914400" rtl="0" eaLnBrk="1" fontAlgn="auto" latinLnBrk="0" hangingPunct="1">
              <a:lnSpc>
                <a:spcPts val="2000"/>
              </a:lnSpc>
              <a:spcBef>
                <a:spcPts val="0"/>
              </a:spcBef>
              <a:spcAft>
                <a:spcPts val="0"/>
              </a:spcAft>
              <a:buClrTx/>
              <a:buSzTx/>
              <a:buFontTx/>
              <a:buNone/>
              <a:defRPr/>
            </a:pPr>
            <a:r>
              <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1、精度（Precision）</a:t>
            </a:r>
            <a:endPar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2</a:t>
            </a:r>
            <a:r>
              <a:rPr kumimoji="0" lang="zh-CN" altLang="en-US" sz="1600" b="0" i="0" u="none" strike="noStrike" kern="1200" cap="none" spc="0" normalizeH="0" baseline="0" noProof="0" dirty="0">
                <a:ln>
                  <a:noFill/>
                </a:ln>
                <a:solidFill>
                  <a:srgbClr val="3F3F3F">
                    <a:lumMod val="60000"/>
                    <a:lumOff val="40000"/>
                  </a:srgbClr>
                </a:solidFill>
                <a:effectLst/>
                <a:uLnTx/>
                <a:uFillTx/>
                <a:latin typeface="Merriweather"/>
                <a:ea typeface="宋体" panose="02010600030101010101" pitchFamily="2" charset="-122"/>
                <a:cs typeface="Lato" panose="020F0502020204030203" pitchFamily="34" charset="0"/>
              </a:rPr>
              <a:t>、</a:t>
            </a:r>
            <a:r>
              <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敏感性（Sensitivity）</a:t>
            </a:r>
            <a:endPar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3</a:t>
            </a:r>
            <a:r>
              <a:rPr kumimoji="0" lang="zh-CN" altLang="en-US" sz="1600" b="0" i="0" u="none" strike="noStrike" kern="1200" cap="none" spc="0" normalizeH="0" baseline="0" noProof="0" dirty="0">
                <a:ln>
                  <a:noFill/>
                </a:ln>
                <a:solidFill>
                  <a:srgbClr val="3F3F3F">
                    <a:lumMod val="60000"/>
                    <a:lumOff val="40000"/>
                  </a:srgbClr>
                </a:solidFill>
                <a:effectLst/>
                <a:uLnTx/>
                <a:uFillTx/>
                <a:latin typeface="Merriweather"/>
                <a:ea typeface="宋体" panose="02010600030101010101" pitchFamily="2" charset="-122"/>
                <a:cs typeface="Lato" panose="020F0502020204030203" pitchFamily="34" charset="0"/>
              </a:rPr>
              <a:t>、</a:t>
            </a:r>
            <a:r>
              <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F1分数（F1-score）</a:t>
            </a:r>
            <a:endPar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4</a:t>
            </a:r>
            <a:r>
              <a:rPr kumimoji="0" lang="zh-CN" altLang="en-US" sz="1600" b="0" i="0" u="none" strike="noStrike" kern="1200" cap="none" spc="0" normalizeH="0" baseline="0" noProof="0" dirty="0">
                <a:ln>
                  <a:noFill/>
                </a:ln>
                <a:solidFill>
                  <a:srgbClr val="3F3F3F">
                    <a:lumMod val="60000"/>
                    <a:lumOff val="40000"/>
                  </a:srgbClr>
                </a:solidFill>
                <a:effectLst/>
                <a:uLnTx/>
                <a:uFillTx/>
                <a:latin typeface="Merriweather"/>
                <a:ea typeface="宋体" panose="02010600030101010101" pitchFamily="2" charset="-122"/>
                <a:cs typeface="Lato" panose="020F0502020204030203" pitchFamily="34" charset="0"/>
              </a:rPr>
              <a:t>、</a:t>
            </a:r>
            <a:r>
              <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mAP@0.5</a:t>
            </a:r>
            <a:endPar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5</a:t>
            </a:r>
            <a:r>
              <a:rPr kumimoji="0" lang="zh-CN" altLang="en-US" sz="1600" b="0" i="0" u="none" strike="noStrike" kern="1200" cap="none" spc="0" normalizeH="0" baseline="0" noProof="0" dirty="0">
                <a:ln>
                  <a:noFill/>
                </a:ln>
                <a:solidFill>
                  <a:srgbClr val="3F3F3F">
                    <a:lumMod val="60000"/>
                    <a:lumOff val="40000"/>
                  </a:srgbClr>
                </a:solidFill>
                <a:effectLst/>
                <a:uLnTx/>
                <a:uFillTx/>
                <a:latin typeface="Merriweather"/>
                <a:ea typeface="宋体" panose="02010600030101010101" pitchFamily="2" charset="-122"/>
                <a:cs typeface="Lato" panose="020F0502020204030203" pitchFamily="34" charset="0"/>
              </a:rPr>
              <a:t>、</a:t>
            </a:r>
            <a:r>
              <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rPr>
              <a:t>帧率（Frame Rate）</a:t>
            </a:r>
            <a:endParaRPr kumimoji="0" sz="1600" b="0" i="0" u="none" strike="noStrike" kern="1200" cap="none" spc="0" normalizeH="0" baseline="0" noProof="0" dirty="0">
              <a:ln>
                <a:noFill/>
              </a:ln>
              <a:solidFill>
                <a:srgbClr val="3F3F3F">
                  <a:lumMod val="60000"/>
                  <a:lumOff val="40000"/>
                </a:srgbClr>
              </a:solidFill>
              <a:effectLst/>
              <a:uLnTx/>
              <a:uFillTx/>
              <a:latin typeface="Merriweather"/>
              <a:ea typeface="Lato" panose="020F0502020204030203" pitchFamily="34" charset="0"/>
              <a:cs typeface="Lato" panose="020F0502020204030203" pitchFamily="34" charset="0"/>
            </a:endParaRPr>
          </a:p>
        </p:txBody>
      </p:sp>
      <p:sp>
        <p:nvSpPr>
          <p:cNvPr id="23" name="Freeform 247"/>
          <p:cNvSpPr>
            <a:spLocks noEditPoints="1"/>
          </p:cNvSpPr>
          <p:nvPr/>
        </p:nvSpPr>
        <p:spPr bwMode="auto">
          <a:xfrm>
            <a:off x="5807393" y="3770940"/>
            <a:ext cx="397651" cy="446773"/>
          </a:xfrm>
          <a:custGeom>
            <a:avLst/>
            <a:gdLst>
              <a:gd name="T0" fmla="*/ 18 w 72"/>
              <a:gd name="T1" fmla="*/ 7 h 78"/>
              <a:gd name="T2" fmla="*/ 27 w 72"/>
              <a:gd name="T3" fmla="*/ 5 h 78"/>
              <a:gd name="T4" fmla="*/ 29 w 72"/>
              <a:gd name="T5" fmla="*/ 0 h 78"/>
              <a:gd name="T6" fmla="*/ 31 w 72"/>
              <a:gd name="T7" fmla="*/ 2 h 78"/>
              <a:gd name="T8" fmla="*/ 29 w 72"/>
              <a:gd name="T9" fmla="*/ 14 h 78"/>
              <a:gd name="T10" fmla="*/ 27 w 72"/>
              <a:gd name="T11" fmla="*/ 12 h 78"/>
              <a:gd name="T12" fmla="*/ 26 w 72"/>
              <a:gd name="T13" fmla="*/ 13 h 78"/>
              <a:gd name="T14" fmla="*/ 33 w 72"/>
              <a:gd name="T15" fmla="*/ 13 h 78"/>
              <a:gd name="T16" fmla="*/ 31 w 72"/>
              <a:gd name="T17" fmla="*/ 8 h 78"/>
              <a:gd name="T18" fmla="*/ 29 w 72"/>
              <a:gd name="T19" fmla="*/ 18 h 78"/>
              <a:gd name="T20" fmla="*/ 27 w 72"/>
              <a:gd name="T21" fmla="*/ 8 h 78"/>
              <a:gd name="T22" fmla="*/ 72 w 72"/>
              <a:gd name="T23" fmla="*/ 10 h 78"/>
              <a:gd name="T24" fmla="*/ 67 w 72"/>
              <a:gd name="T25" fmla="*/ 78 h 78"/>
              <a:gd name="T26" fmla="*/ 0 w 72"/>
              <a:gd name="T27" fmla="*/ 73 h 78"/>
              <a:gd name="T28" fmla="*/ 5 w 72"/>
              <a:gd name="T29" fmla="*/ 5 h 78"/>
              <a:gd name="T30" fmla="*/ 13 w 72"/>
              <a:gd name="T31" fmla="*/ 2 h 78"/>
              <a:gd name="T32" fmla="*/ 16 w 72"/>
              <a:gd name="T33" fmla="*/ 0 h 78"/>
              <a:gd name="T34" fmla="*/ 18 w 72"/>
              <a:gd name="T35" fmla="*/ 12 h 78"/>
              <a:gd name="T36" fmla="*/ 15 w 72"/>
              <a:gd name="T37" fmla="*/ 14 h 78"/>
              <a:gd name="T38" fmla="*/ 13 w 72"/>
              <a:gd name="T39" fmla="*/ 10 h 78"/>
              <a:gd name="T40" fmla="*/ 16 w 72"/>
              <a:gd name="T41" fmla="*/ 16 h 78"/>
              <a:gd name="T42" fmla="*/ 18 w 72"/>
              <a:gd name="T43" fmla="*/ 10 h 78"/>
              <a:gd name="T44" fmla="*/ 21 w 72"/>
              <a:gd name="T45" fmla="*/ 13 h 78"/>
              <a:gd name="T46" fmla="*/ 10 w 72"/>
              <a:gd name="T47" fmla="*/ 13 h 78"/>
              <a:gd name="T48" fmla="*/ 13 w 72"/>
              <a:gd name="T49" fmla="*/ 7 h 78"/>
              <a:gd name="T50" fmla="*/ 2 w 72"/>
              <a:gd name="T51" fmla="*/ 10 h 78"/>
              <a:gd name="T52" fmla="*/ 70 w 72"/>
              <a:gd name="T53" fmla="*/ 30 h 78"/>
              <a:gd name="T54" fmla="*/ 67 w 72"/>
              <a:gd name="T55" fmla="*/ 7 h 78"/>
              <a:gd name="T56" fmla="*/ 58 w 72"/>
              <a:gd name="T57" fmla="*/ 8 h 78"/>
              <a:gd name="T58" fmla="*/ 56 w 72"/>
              <a:gd name="T59" fmla="*/ 18 h 78"/>
              <a:gd name="T60" fmla="*/ 54 w 72"/>
              <a:gd name="T61" fmla="*/ 8 h 78"/>
              <a:gd name="T62" fmla="*/ 45 w 72"/>
              <a:gd name="T63" fmla="*/ 7 h 78"/>
              <a:gd name="T64" fmla="*/ 48 w 72"/>
              <a:gd name="T65" fmla="*/ 13 h 78"/>
              <a:gd name="T66" fmla="*/ 37 w 72"/>
              <a:gd name="T67" fmla="*/ 13 h 78"/>
              <a:gd name="T68" fmla="*/ 40 w 72"/>
              <a:gd name="T69" fmla="*/ 7 h 78"/>
              <a:gd name="T70" fmla="*/ 31 w 72"/>
              <a:gd name="T71" fmla="*/ 5 h 78"/>
              <a:gd name="T72" fmla="*/ 40 w 72"/>
              <a:gd name="T73" fmla="*/ 2 h 78"/>
              <a:gd name="T74" fmla="*/ 43 w 72"/>
              <a:gd name="T75" fmla="*/ 0 h 78"/>
              <a:gd name="T76" fmla="*/ 45 w 72"/>
              <a:gd name="T77" fmla="*/ 5 h 78"/>
              <a:gd name="T78" fmla="*/ 54 w 72"/>
              <a:gd name="T79" fmla="*/ 2 h 78"/>
              <a:gd name="T80" fmla="*/ 56 w 72"/>
              <a:gd name="T81" fmla="*/ 0 h 78"/>
              <a:gd name="T82" fmla="*/ 58 w 72"/>
              <a:gd name="T83" fmla="*/ 5 h 78"/>
              <a:gd name="T84" fmla="*/ 72 w 72"/>
              <a:gd name="T85" fmla="*/ 10 h 78"/>
              <a:gd name="T86" fmla="*/ 45 w 72"/>
              <a:gd name="T87" fmla="*/ 12 h 78"/>
              <a:gd name="T88" fmla="*/ 42 w 72"/>
              <a:gd name="T89" fmla="*/ 14 h 78"/>
              <a:gd name="T90" fmla="*/ 40 w 72"/>
              <a:gd name="T91" fmla="*/ 10 h 78"/>
              <a:gd name="T92" fmla="*/ 43 w 72"/>
              <a:gd name="T93" fmla="*/ 16 h 78"/>
              <a:gd name="T94" fmla="*/ 45 w 72"/>
              <a:gd name="T95" fmla="*/ 10 h 78"/>
              <a:gd name="T96" fmla="*/ 58 w 72"/>
              <a:gd name="T97" fmla="*/ 12 h 78"/>
              <a:gd name="T98" fmla="*/ 56 w 72"/>
              <a:gd name="T99" fmla="*/ 14 h 78"/>
              <a:gd name="T100" fmla="*/ 54 w 72"/>
              <a:gd name="T101" fmla="*/ 10 h 78"/>
              <a:gd name="T102" fmla="*/ 56 w 72"/>
              <a:gd name="T103" fmla="*/ 16 h 78"/>
              <a:gd name="T104" fmla="*/ 58 w 72"/>
              <a:gd name="T105" fmla="*/ 10 h 78"/>
              <a:gd name="T106" fmla="*/ 51 w 72"/>
              <a:gd name="T107" fmla="*/ 41 h 78"/>
              <a:gd name="T108" fmla="*/ 26 w 72"/>
              <a:gd name="T109" fmla="*/ 49 h 78"/>
              <a:gd name="T110" fmla="*/ 20 w 72"/>
              <a:gd name="T111" fmla="*/ 54 h 78"/>
              <a:gd name="T112" fmla="*/ 34 w 72"/>
              <a:gd name="T113" fmla="*/ 67 h 78"/>
              <a:gd name="T114" fmla="*/ 56 w 72"/>
              <a:gd name="T115" fmla="*/ 4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 h="78">
                <a:moveTo>
                  <a:pt x="27" y="7"/>
                </a:moveTo>
                <a:cubicBezTo>
                  <a:pt x="18" y="7"/>
                  <a:pt x="18" y="7"/>
                  <a:pt x="18" y="7"/>
                </a:cubicBezTo>
                <a:cubicBezTo>
                  <a:pt x="18" y="5"/>
                  <a:pt x="18" y="5"/>
                  <a:pt x="18" y="5"/>
                </a:cubicBezTo>
                <a:cubicBezTo>
                  <a:pt x="27" y="5"/>
                  <a:pt x="27" y="5"/>
                  <a:pt x="27" y="5"/>
                </a:cubicBezTo>
                <a:cubicBezTo>
                  <a:pt x="27" y="2"/>
                  <a:pt x="27" y="2"/>
                  <a:pt x="27" y="2"/>
                </a:cubicBezTo>
                <a:cubicBezTo>
                  <a:pt x="27" y="1"/>
                  <a:pt x="28" y="0"/>
                  <a:pt x="29" y="0"/>
                </a:cubicBezTo>
                <a:cubicBezTo>
                  <a:pt x="29" y="0"/>
                  <a:pt x="29" y="0"/>
                  <a:pt x="29" y="0"/>
                </a:cubicBezTo>
                <a:cubicBezTo>
                  <a:pt x="31" y="0"/>
                  <a:pt x="31" y="1"/>
                  <a:pt x="31" y="2"/>
                </a:cubicBezTo>
                <a:cubicBezTo>
                  <a:pt x="31" y="12"/>
                  <a:pt x="31" y="12"/>
                  <a:pt x="31" y="12"/>
                </a:cubicBezTo>
                <a:cubicBezTo>
                  <a:pt x="31" y="13"/>
                  <a:pt x="31" y="14"/>
                  <a:pt x="29" y="14"/>
                </a:cubicBezTo>
                <a:cubicBezTo>
                  <a:pt x="29" y="14"/>
                  <a:pt x="29" y="14"/>
                  <a:pt x="29" y="14"/>
                </a:cubicBezTo>
                <a:cubicBezTo>
                  <a:pt x="28" y="14"/>
                  <a:pt x="27" y="13"/>
                  <a:pt x="27" y="12"/>
                </a:cubicBezTo>
                <a:cubicBezTo>
                  <a:pt x="27" y="10"/>
                  <a:pt x="27" y="10"/>
                  <a:pt x="27" y="10"/>
                </a:cubicBezTo>
                <a:cubicBezTo>
                  <a:pt x="26" y="11"/>
                  <a:pt x="26" y="12"/>
                  <a:pt x="26" y="13"/>
                </a:cubicBezTo>
                <a:cubicBezTo>
                  <a:pt x="26" y="15"/>
                  <a:pt x="27" y="16"/>
                  <a:pt x="29" y="16"/>
                </a:cubicBezTo>
                <a:cubicBezTo>
                  <a:pt x="31" y="16"/>
                  <a:pt x="33" y="15"/>
                  <a:pt x="33" y="13"/>
                </a:cubicBezTo>
                <a:cubicBezTo>
                  <a:pt x="33" y="12"/>
                  <a:pt x="32" y="11"/>
                  <a:pt x="31" y="10"/>
                </a:cubicBezTo>
                <a:cubicBezTo>
                  <a:pt x="31" y="8"/>
                  <a:pt x="31" y="8"/>
                  <a:pt x="31" y="8"/>
                </a:cubicBezTo>
                <a:cubicBezTo>
                  <a:pt x="33" y="9"/>
                  <a:pt x="35" y="11"/>
                  <a:pt x="35" y="13"/>
                </a:cubicBezTo>
                <a:cubicBezTo>
                  <a:pt x="35" y="16"/>
                  <a:pt x="32" y="18"/>
                  <a:pt x="29" y="18"/>
                </a:cubicBezTo>
                <a:cubicBezTo>
                  <a:pt x="26" y="18"/>
                  <a:pt x="24" y="16"/>
                  <a:pt x="24" y="13"/>
                </a:cubicBezTo>
                <a:cubicBezTo>
                  <a:pt x="24" y="11"/>
                  <a:pt x="25" y="9"/>
                  <a:pt x="27" y="8"/>
                </a:cubicBezTo>
                <a:lnTo>
                  <a:pt x="27" y="7"/>
                </a:lnTo>
                <a:close/>
                <a:moveTo>
                  <a:pt x="72" y="10"/>
                </a:moveTo>
                <a:cubicBezTo>
                  <a:pt x="72" y="73"/>
                  <a:pt x="72" y="73"/>
                  <a:pt x="72" y="73"/>
                </a:cubicBezTo>
                <a:cubicBezTo>
                  <a:pt x="72" y="76"/>
                  <a:pt x="69" y="78"/>
                  <a:pt x="67" y="78"/>
                </a:cubicBezTo>
                <a:cubicBezTo>
                  <a:pt x="5" y="78"/>
                  <a:pt x="5" y="78"/>
                  <a:pt x="5" y="78"/>
                </a:cubicBezTo>
                <a:cubicBezTo>
                  <a:pt x="3" y="78"/>
                  <a:pt x="0" y="76"/>
                  <a:pt x="0" y="73"/>
                </a:cubicBezTo>
                <a:cubicBezTo>
                  <a:pt x="0" y="10"/>
                  <a:pt x="0" y="10"/>
                  <a:pt x="0" y="10"/>
                </a:cubicBezTo>
                <a:cubicBezTo>
                  <a:pt x="0" y="7"/>
                  <a:pt x="3" y="5"/>
                  <a:pt x="5" y="5"/>
                </a:cubicBezTo>
                <a:cubicBezTo>
                  <a:pt x="13" y="5"/>
                  <a:pt x="13" y="5"/>
                  <a:pt x="13" y="5"/>
                </a:cubicBezTo>
                <a:cubicBezTo>
                  <a:pt x="13" y="2"/>
                  <a:pt x="13" y="2"/>
                  <a:pt x="13" y="2"/>
                </a:cubicBezTo>
                <a:cubicBezTo>
                  <a:pt x="13" y="1"/>
                  <a:pt x="14" y="0"/>
                  <a:pt x="15" y="0"/>
                </a:cubicBezTo>
                <a:cubicBezTo>
                  <a:pt x="16" y="0"/>
                  <a:pt x="16" y="0"/>
                  <a:pt x="16" y="0"/>
                </a:cubicBezTo>
                <a:cubicBezTo>
                  <a:pt x="17" y="0"/>
                  <a:pt x="18" y="1"/>
                  <a:pt x="18" y="2"/>
                </a:cubicBezTo>
                <a:cubicBezTo>
                  <a:pt x="18" y="12"/>
                  <a:pt x="18" y="12"/>
                  <a:pt x="18" y="12"/>
                </a:cubicBezTo>
                <a:cubicBezTo>
                  <a:pt x="18" y="13"/>
                  <a:pt x="17" y="14"/>
                  <a:pt x="16" y="14"/>
                </a:cubicBezTo>
                <a:cubicBezTo>
                  <a:pt x="15" y="14"/>
                  <a:pt x="15" y="14"/>
                  <a:pt x="15" y="14"/>
                </a:cubicBezTo>
                <a:cubicBezTo>
                  <a:pt x="14" y="14"/>
                  <a:pt x="13" y="13"/>
                  <a:pt x="13" y="12"/>
                </a:cubicBezTo>
                <a:cubicBezTo>
                  <a:pt x="13" y="10"/>
                  <a:pt x="13" y="10"/>
                  <a:pt x="13" y="10"/>
                </a:cubicBezTo>
                <a:cubicBezTo>
                  <a:pt x="13" y="11"/>
                  <a:pt x="12" y="12"/>
                  <a:pt x="12" y="13"/>
                </a:cubicBezTo>
                <a:cubicBezTo>
                  <a:pt x="12" y="15"/>
                  <a:pt x="14" y="16"/>
                  <a:pt x="16" y="16"/>
                </a:cubicBezTo>
                <a:cubicBezTo>
                  <a:pt x="18" y="16"/>
                  <a:pt x="19" y="15"/>
                  <a:pt x="19" y="13"/>
                </a:cubicBezTo>
                <a:cubicBezTo>
                  <a:pt x="19" y="12"/>
                  <a:pt x="19" y="11"/>
                  <a:pt x="18" y="10"/>
                </a:cubicBezTo>
                <a:cubicBezTo>
                  <a:pt x="18" y="8"/>
                  <a:pt x="18" y="8"/>
                  <a:pt x="18" y="8"/>
                </a:cubicBezTo>
                <a:cubicBezTo>
                  <a:pt x="20" y="9"/>
                  <a:pt x="21" y="11"/>
                  <a:pt x="21" y="13"/>
                </a:cubicBezTo>
                <a:cubicBezTo>
                  <a:pt x="21" y="16"/>
                  <a:pt x="19" y="18"/>
                  <a:pt x="16" y="18"/>
                </a:cubicBezTo>
                <a:cubicBezTo>
                  <a:pt x="13" y="18"/>
                  <a:pt x="10" y="16"/>
                  <a:pt x="10" y="13"/>
                </a:cubicBezTo>
                <a:cubicBezTo>
                  <a:pt x="10" y="11"/>
                  <a:pt x="12" y="9"/>
                  <a:pt x="13" y="8"/>
                </a:cubicBezTo>
                <a:cubicBezTo>
                  <a:pt x="13" y="7"/>
                  <a:pt x="13" y="7"/>
                  <a:pt x="13" y="7"/>
                </a:cubicBezTo>
                <a:cubicBezTo>
                  <a:pt x="5" y="7"/>
                  <a:pt x="5" y="7"/>
                  <a:pt x="5" y="7"/>
                </a:cubicBezTo>
                <a:cubicBezTo>
                  <a:pt x="4" y="7"/>
                  <a:pt x="2" y="8"/>
                  <a:pt x="2" y="10"/>
                </a:cubicBezTo>
                <a:cubicBezTo>
                  <a:pt x="2" y="30"/>
                  <a:pt x="2" y="30"/>
                  <a:pt x="2" y="30"/>
                </a:cubicBezTo>
                <a:cubicBezTo>
                  <a:pt x="70" y="30"/>
                  <a:pt x="70" y="30"/>
                  <a:pt x="70" y="30"/>
                </a:cubicBezTo>
                <a:cubicBezTo>
                  <a:pt x="70" y="10"/>
                  <a:pt x="70" y="10"/>
                  <a:pt x="70" y="10"/>
                </a:cubicBezTo>
                <a:cubicBezTo>
                  <a:pt x="70" y="8"/>
                  <a:pt x="68" y="7"/>
                  <a:pt x="67" y="7"/>
                </a:cubicBezTo>
                <a:cubicBezTo>
                  <a:pt x="58" y="7"/>
                  <a:pt x="58" y="7"/>
                  <a:pt x="58" y="7"/>
                </a:cubicBezTo>
                <a:cubicBezTo>
                  <a:pt x="58" y="8"/>
                  <a:pt x="58" y="8"/>
                  <a:pt x="58" y="8"/>
                </a:cubicBezTo>
                <a:cubicBezTo>
                  <a:pt x="60" y="9"/>
                  <a:pt x="62" y="11"/>
                  <a:pt x="62" y="13"/>
                </a:cubicBezTo>
                <a:cubicBezTo>
                  <a:pt x="62" y="16"/>
                  <a:pt x="59" y="18"/>
                  <a:pt x="56" y="18"/>
                </a:cubicBezTo>
                <a:cubicBezTo>
                  <a:pt x="53" y="18"/>
                  <a:pt x="51" y="16"/>
                  <a:pt x="51" y="13"/>
                </a:cubicBezTo>
                <a:cubicBezTo>
                  <a:pt x="51" y="11"/>
                  <a:pt x="52" y="9"/>
                  <a:pt x="54" y="8"/>
                </a:cubicBezTo>
                <a:cubicBezTo>
                  <a:pt x="54" y="7"/>
                  <a:pt x="54" y="7"/>
                  <a:pt x="54" y="7"/>
                </a:cubicBezTo>
                <a:cubicBezTo>
                  <a:pt x="45" y="7"/>
                  <a:pt x="45" y="7"/>
                  <a:pt x="45" y="7"/>
                </a:cubicBezTo>
                <a:cubicBezTo>
                  <a:pt x="45" y="8"/>
                  <a:pt x="45" y="8"/>
                  <a:pt x="45" y="8"/>
                </a:cubicBezTo>
                <a:cubicBezTo>
                  <a:pt x="47" y="9"/>
                  <a:pt x="48" y="11"/>
                  <a:pt x="48" y="13"/>
                </a:cubicBezTo>
                <a:cubicBezTo>
                  <a:pt x="48" y="16"/>
                  <a:pt x="46" y="18"/>
                  <a:pt x="43" y="18"/>
                </a:cubicBezTo>
                <a:cubicBezTo>
                  <a:pt x="40" y="18"/>
                  <a:pt x="37" y="16"/>
                  <a:pt x="37" y="13"/>
                </a:cubicBezTo>
                <a:cubicBezTo>
                  <a:pt x="37" y="11"/>
                  <a:pt x="39" y="9"/>
                  <a:pt x="40" y="8"/>
                </a:cubicBezTo>
                <a:cubicBezTo>
                  <a:pt x="40" y="7"/>
                  <a:pt x="40" y="7"/>
                  <a:pt x="40" y="7"/>
                </a:cubicBezTo>
                <a:cubicBezTo>
                  <a:pt x="31" y="7"/>
                  <a:pt x="31" y="7"/>
                  <a:pt x="31" y="7"/>
                </a:cubicBezTo>
                <a:cubicBezTo>
                  <a:pt x="31" y="5"/>
                  <a:pt x="31" y="5"/>
                  <a:pt x="31" y="5"/>
                </a:cubicBezTo>
                <a:cubicBezTo>
                  <a:pt x="40" y="5"/>
                  <a:pt x="40" y="5"/>
                  <a:pt x="40" y="5"/>
                </a:cubicBezTo>
                <a:cubicBezTo>
                  <a:pt x="40" y="2"/>
                  <a:pt x="40" y="2"/>
                  <a:pt x="40" y="2"/>
                </a:cubicBezTo>
                <a:cubicBezTo>
                  <a:pt x="40" y="1"/>
                  <a:pt x="41" y="0"/>
                  <a:pt x="42" y="0"/>
                </a:cubicBezTo>
                <a:cubicBezTo>
                  <a:pt x="43" y="0"/>
                  <a:pt x="43" y="0"/>
                  <a:pt x="43" y="0"/>
                </a:cubicBezTo>
                <a:cubicBezTo>
                  <a:pt x="44" y="0"/>
                  <a:pt x="45" y="1"/>
                  <a:pt x="45" y="2"/>
                </a:cubicBezTo>
                <a:cubicBezTo>
                  <a:pt x="45" y="5"/>
                  <a:pt x="45" y="5"/>
                  <a:pt x="45" y="5"/>
                </a:cubicBezTo>
                <a:cubicBezTo>
                  <a:pt x="54" y="5"/>
                  <a:pt x="54" y="5"/>
                  <a:pt x="54" y="5"/>
                </a:cubicBezTo>
                <a:cubicBezTo>
                  <a:pt x="54" y="2"/>
                  <a:pt x="54" y="2"/>
                  <a:pt x="54" y="2"/>
                </a:cubicBezTo>
                <a:cubicBezTo>
                  <a:pt x="54" y="1"/>
                  <a:pt x="55" y="0"/>
                  <a:pt x="56" y="0"/>
                </a:cubicBezTo>
                <a:cubicBezTo>
                  <a:pt x="56" y="0"/>
                  <a:pt x="56" y="0"/>
                  <a:pt x="56" y="0"/>
                </a:cubicBezTo>
                <a:cubicBezTo>
                  <a:pt x="58" y="0"/>
                  <a:pt x="58" y="1"/>
                  <a:pt x="58" y="2"/>
                </a:cubicBezTo>
                <a:cubicBezTo>
                  <a:pt x="58" y="5"/>
                  <a:pt x="58" y="5"/>
                  <a:pt x="58" y="5"/>
                </a:cubicBezTo>
                <a:cubicBezTo>
                  <a:pt x="67" y="5"/>
                  <a:pt x="67" y="5"/>
                  <a:pt x="67" y="5"/>
                </a:cubicBezTo>
                <a:cubicBezTo>
                  <a:pt x="69" y="5"/>
                  <a:pt x="72" y="7"/>
                  <a:pt x="72" y="10"/>
                </a:cubicBezTo>
                <a:close/>
                <a:moveTo>
                  <a:pt x="45" y="10"/>
                </a:moveTo>
                <a:cubicBezTo>
                  <a:pt x="45" y="12"/>
                  <a:pt x="45" y="12"/>
                  <a:pt x="45" y="12"/>
                </a:cubicBezTo>
                <a:cubicBezTo>
                  <a:pt x="45" y="13"/>
                  <a:pt x="44" y="14"/>
                  <a:pt x="43" y="14"/>
                </a:cubicBezTo>
                <a:cubicBezTo>
                  <a:pt x="42" y="14"/>
                  <a:pt x="42" y="14"/>
                  <a:pt x="42" y="14"/>
                </a:cubicBezTo>
                <a:cubicBezTo>
                  <a:pt x="41" y="14"/>
                  <a:pt x="40" y="13"/>
                  <a:pt x="40" y="12"/>
                </a:cubicBezTo>
                <a:cubicBezTo>
                  <a:pt x="40" y="10"/>
                  <a:pt x="40" y="10"/>
                  <a:pt x="40" y="10"/>
                </a:cubicBezTo>
                <a:cubicBezTo>
                  <a:pt x="40" y="11"/>
                  <a:pt x="39" y="12"/>
                  <a:pt x="39" y="13"/>
                </a:cubicBezTo>
                <a:cubicBezTo>
                  <a:pt x="39" y="15"/>
                  <a:pt x="41" y="16"/>
                  <a:pt x="43" y="16"/>
                </a:cubicBezTo>
                <a:cubicBezTo>
                  <a:pt x="45" y="16"/>
                  <a:pt x="46" y="15"/>
                  <a:pt x="46" y="13"/>
                </a:cubicBezTo>
                <a:cubicBezTo>
                  <a:pt x="46" y="12"/>
                  <a:pt x="46" y="11"/>
                  <a:pt x="45" y="10"/>
                </a:cubicBezTo>
                <a:close/>
                <a:moveTo>
                  <a:pt x="58" y="10"/>
                </a:moveTo>
                <a:cubicBezTo>
                  <a:pt x="58" y="12"/>
                  <a:pt x="58" y="12"/>
                  <a:pt x="58" y="12"/>
                </a:cubicBezTo>
                <a:cubicBezTo>
                  <a:pt x="58" y="13"/>
                  <a:pt x="58" y="14"/>
                  <a:pt x="56" y="14"/>
                </a:cubicBezTo>
                <a:cubicBezTo>
                  <a:pt x="56" y="14"/>
                  <a:pt x="56" y="14"/>
                  <a:pt x="56" y="14"/>
                </a:cubicBezTo>
                <a:cubicBezTo>
                  <a:pt x="55" y="14"/>
                  <a:pt x="54" y="13"/>
                  <a:pt x="54" y="12"/>
                </a:cubicBezTo>
                <a:cubicBezTo>
                  <a:pt x="54" y="10"/>
                  <a:pt x="54" y="10"/>
                  <a:pt x="54" y="10"/>
                </a:cubicBezTo>
                <a:cubicBezTo>
                  <a:pt x="53" y="11"/>
                  <a:pt x="53" y="12"/>
                  <a:pt x="53" y="13"/>
                </a:cubicBezTo>
                <a:cubicBezTo>
                  <a:pt x="53" y="15"/>
                  <a:pt x="54" y="16"/>
                  <a:pt x="56" y="16"/>
                </a:cubicBezTo>
                <a:cubicBezTo>
                  <a:pt x="58" y="16"/>
                  <a:pt x="60" y="15"/>
                  <a:pt x="60" y="13"/>
                </a:cubicBezTo>
                <a:cubicBezTo>
                  <a:pt x="60" y="12"/>
                  <a:pt x="59" y="11"/>
                  <a:pt x="58" y="10"/>
                </a:cubicBezTo>
                <a:close/>
                <a:moveTo>
                  <a:pt x="56" y="41"/>
                </a:moveTo>
                <a:cubicBezTo>
                  <a:pt x="55" y="39"/>
                  <a:pt x="52" y="39"/>
                  <a:pt x="51" y="41"/>
                </a:cubicBezTo>
                <a:cubicBezTo>
                  <a:pt x="34" y="57"/>
                  <a:pt x="34" y="57"/>
                  <a:pt x="34" y="57"/>
                </a:cubicBezTo>
                <a:cubicBezTo>
                  <a:pt x="26" y="49"/>
                  <a:pt x="26" y="49"/>
                  <a:pt x="26" y="49"/>
                </a:cubicBezTo>
                <a:cubicBezTo>
                  <a:pt x="24" y="47"/>
                  <a:pt x="22" y="47"/>
                  <a:pt x="20" y="49"/>
                </a:cubicBezTo>
                <a:cubicBezTo>
                  <a:pt x="19" y="50"/>
                  <a:pt x="19" y="53"/>
                  <a:pt x="20" y="54"/>
                </a:cubicBezTo>
                <a:cubicBezTo>
                  <a:pt x="32" y="66"/>
                  <a:pt x="32" y="66"/>
                  <a:pt x="32" y="66"/>
                </a:cubicBezTo>
                <a:cubicBezTo>
                  <a:pt x="32" y="66"/>
                  <a:pt x="33" y="67"/>
                  <a:pt x="34" y="67"/>
                </a:cubicBezTo>
                <a:cubicBezTo>
                  <a:pt x="35" y="67"/>
                  <a:pt x="36" y="66"/>
                  <a:pt x="37" y="66"/>
                </a:cubicBezTo>
                <a:cubicBezTo>
                  <a:pt x="56" y="46"/>
                  <a:pt x="56" y="46"/>
                  <a:pt x="56" y="46"/>
                </a:cubicBezTo>
                <a:cubicBezTo>
                  <a:pt x="58" y="45"/>
                  <a:pt x="58" y="42"/>
                  <a:pt x="56" y="41"/>
                </a:cubicBezTo>
                <a:close/>
              </a:path>
            </a:pathLst>
          </a:custGeom>
          <a:solidFill>
            <a:schemeClr val="accent1"/>
          </a:solidFill>
          <a:ln>
            <a:noFill/>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0D7AB5"/>
              </a:solidFill>
              <a:effectLst/>
              <a:uLnTx/>
              <a:uFillTx/>
              <a:latin typeface="Merriweather"/>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par>
                                    <p:cTn id="20" presetID="2" presetClass="entr" presetSubtype="2" fill="hold" grpId="0" nodeType="withEffect" p14:presetBounceEnd="60000">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14:bounceEnd="60000">
                                          <p:cBhvr additive="base">
                                            <p:cTn id="22" dur="500" fill="hold"/>
                                            <p:tgtEl>
                                              <p:spTgt spid="8"/>
                                            </p:tgtEl>
                                            <p:attrNameLst>
                                              <p:attrName>ppt_x</p:attrName>
                                            </p:attrNameLst>
                                          </p:cBhvr>
                                          <p:tavLst>
                                            <p:tav tm="0">
                                              <p:val>
                                                <p:strVal val="1+#ppt_w/2"/>
                                              </p:val>
                                            </p:tav>
                                            <p:tav tm="100000">
                                              <p:val>
                                                <p:strVal val="#ppt_x"/>
                                              </p:val>
                                            </p:tav>
                                          </p:tavLst>
                                        </p:anim>
                                        <p:anim calcmode="lin" valueType="num" p14:bounceEnd="60000">
                                          <p:cBhvr additive="base">
                                            <p:cTn id="23" dur="500" fill="hold"/>
                                            <p:tgtEl>
                                              <p:spTgt spid="8"/>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14:presetBounceEnd="60000">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14:bounceEnd="60000">
                                          <p:cBhvr additive="base">
                                            <p:cTn id="26" dur="500" fill="hold"/>
                                            <p:tgtEl>
                                              <p:spTgt spid="10"/>
                                            </p:tgtEl>
                                            <p:attrNameLst>
                                              <p:attrName>ppt_x</p:attrName>
                                            </p:attrNameLst>
                                          </p:cBhvr>
                                          <p:tavLst>
                                            <p:tav tm="0">
                                              <p:val>
                                                <p:strVal val="1+#ppt_w/2"/>
                                              </p:val>
                                            </p:tav>
                                            <p:tav tm="100000">
                                              <p:val>
                                                <p:strVal val="#ppt_x"/>
                                              </p:val>
                                            </p:tav>
                                          </p:tavLst>
                                        </p:anim>
                                        <p:anim calcmode="lin" valueType="num" p14:bounceEnd="60000">
                                          <p:cBhvr additive="base">
                                            <p:cTn id="27" dur="500" fill="hold"/>
                                            <p:tgtEl>
                                              <p:spTgt spid="1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14:presetBounceEnd="60000">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14:bounceEnd="60000">
                                          <p:cBhvr additive="base">
                                            <p:cTn id="30" dur="500" fill="hold"/>
                                            <p:tgtEl>
                                              <p:spTgt spid="16"/>
                                            </p:tgtEl>
                                            <p:attrNameLst>
                                              <p:attrName>ppt_x</p:attrName>
                                            </p:attrNameLst>
                                          </p:cBhvr>
                                          <p:tavLst>
                                            <p:tav tm="0">
                                              <p:val>
                                                <p:strVal val="1+#ppt_w/2"/>
                                              </p:val>
                                            </p:tav>
                                            <p:tav tm="100000">
                                              <p:val>
                                                <p:strVal val="#ppt_x"/>
                                              </p:val>
                                            </p:tav>
                                          </p:tavLst>
                                        </p:anim>
                                        <p:anim calcmode="lin" valueType="num" p14:bounceEnd="60000">
                                          <p:cBhvr additive="base">
                                            <p:cTn id="31" dur="500" fill="hold"/>
                                            <p:tgtEl>
                                              <p:spTgt spid="16"/>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14:presetBounceEnd="60000">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14:bounceEnd="60000">
                                          <p:cBhvr additive="base">
                                            <p:cTn id="34" dur="500" fill="hold"/>
                                            <p:tgtEl>
                                              <p:spTgt spid="9"/>
                                            </p:tgtEl>
                                            <p:attrNameLst>
                                              <p:attrName>ppt_x</p:attrName>
                                            </p:attrNameLst>
                                          </p:cBhvr>
                                          <p:tavLst>
                                            <p:tav tm="0">
                                              <p:val>
                                                <p:strVal val="0-#ppt_w/2"/>
                                              </p:val>
                                            </p:tav>
                                            <p:tav tm="100000">
                                              <p:val>
                                                <p:strVal val="#ppt_x"/>
                                              </p:val>
                                            </p:tav>
                                          </p:tavLst>
                                        </p:anim>
                                        <p:anim calcmode="lin" valueType="num" p14:bounceEnd="60000">
                                          <p:cBhvr additive="base">
                                            <p:cTn id="35" dur="500" fill="hold"/>
                                            <p:tgtEl>
                                              <p:spTgt spid="9"/>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14:presetBounceEnd="60000">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14:bounceEnd="60000">
                                          <p:cBhvr additive="base">
                                            <p:cTn id="38" dur="500" fill="hold"/>
                                            <p:tgtEl>
                                              <p:spTgt spid="11"/>
                                            </p:tgtEl>
                                            <p:attrNameLst>
                                              <p:attrName>ppt_x</p:attrName>
                                            </p:attrNameLst>
                                          </p:cBhvr>
                                          <p:tavLst>
                                            <p:tav tm="0">
                                              <p:val>
                                                <p:strVal val="0-#ppt_w/2"/>
                                              </p:val>
                                            </p:tav>
                                            <p:tav tm="100000">
                                              <p:val>
                                                <p:strVal val="#ppt_x"/>
                                              </p:val>
                                            </p:tav>
                                          </p:tavLst>
                                        </p:anim>
                                        <p:anim calcmode="lin" valueType="num" p14:bounceEnd="60000">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14:presetBounceEnd="60000">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14:bounceEnd="60000">
                                          <p:cBhvr additive="base">
                                            <p:cTn id="42" dur="500" fill="hold"/>
                                            <p:tgtEl>
                                              <p:spTgt spid="17"/>
                                            </p:tgtEl>
                                            <p:attrNameLst>
                                              <p:attrName>ppt_x</p:attrName>
                                            </p:attrNameLst>
                                          </p:cBhvr>
                                          <p:tavLst>
                                            <p:tav tm="0">
                                              <p:val>
                                                <p:strVal val="0-#ppt_w/2"/>
                                              </p:val>
                                            </p:tav>
                                            <p:tav tm="100000">
                                              <p:val>
                                                <p:strVal val="#ppt_x"/>
                                              </p:val>
                                            </p:tav>
                                          </p:tavLst>
                                        </p:anim>
                                        <p:anim calcmode="lin" valueType="num" p14:bounceEnd="60000">
                                          <p:cBhvr additive="base">
                                            <p:cTn id="43"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9" grpId="0" bldLvl="0" animBg="1"/>
          <p:bldP spid="20" grpId="0" bldLvl="0" animBg="1"/>
          <p:bldP spid="16" grpId="0"/>
          <p:bldP spid="17" grpId="0"/>
          <p:bldP spid="23" grpId="0" bldLvl="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par>
                                    <p:cTn id="20" presetID="2" presetClass="entr" presetSubtype="2"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1+#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1+#ppt_w/2"/>
                                              </p:val>
                                            </p:tav>
                                            <p:tav tm="100000">
                                              <p:val>
                                                <p:strVal val="#ppt_x"/>
                                              </p:val>
                                            </p:tav>
                                          </p:tavLst>
                                        </p:anim>
                                        <p:anim calcmode="lin" valueType="num">
                                          <p:cBhvr additive="base">
                                            <p:cTn id="31" dur="500" fill="hold"/>
                                            <p:tgtEl>
                                              <p:spTgt spid="16"/>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0-#ppt_w/2"/>
                                              </p:val>
                                            </p:tav>
                                            <p:tav tm="100000">
                                              <p:val>
                                                <p:strVal val="#ppt_x"/>
                                              </p:val>
                                            </p:tav>
                                          </p:tavLst>
                                        </p:anim>
                                        <p:anim calcmode="lin" valueType="num">
                                          <p:cBhvr additive="base">
                                            <p:cTn id="35" dur="500" fill="hold"/>
                                            <p:tgtEl>
                                              <p:spTgt spid="9"/>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0-#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0-#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9" grpId="0" bldLvl="0" animBg="1"/>
          <p:bldP spid="20" grpId="0" bldLvl="0" animBg="1"/>
          <p:bldP spid="16" grpId="0"/>
          <p:bldP spid="17" grpId="0"/>
          <p:bldP spid="23" grpId="0" bldLvl="0" animBg="1"/>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文本框 6"/>
          <p:cNvSpPr txBox="1">
            <a:spLocks noChangeArrowheads="1"/>
          </p:cNvSpPr>
          <p:nvPr/>
        </p:nvSpPr>
        <p:spPr bwMode="auto">
          <a:xfrm>
            <a:off x="5326381" y="2941545"/>
            <a:ext cx="153924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defTabSz="685800" fontAlgn="base">
              <a:lnSpc>
                <a:spcPct val="130000"/>
              </a:lnSpc>
              <a:spcBef>
                <a:spcPct val="0"/>
              </a:spcBef>
              <a:spcAft>
                <a:spcPct val="0"/>
              </a:spcAft>
              <a:defRPr/>
            </a:pPr>
            <a:r>
              <a:rPr lang="zh-CN" altLang="en-US" sz="2665" dirty="0">
                <a:solidFill>
                  <a:schemeClr val="tx2"/>
                </a:solidFill>
                <a:latin typeface="+mn-lt"/>
                <a:ea typeface="+mn-ea"/>
                <a:cs typeface="+mn-ea"/>
                <a:sym typeface="+mn-lt"/>
              </a:rPr>
              <a:t>程序</a:t>
            </a:r>
            <a:r>
              <a:rPr lang="zh-CN" altLang="en-US" sz="2665" dirty="0">
                <a:solidFill>
                  <a:schemeClr val="tx2"/>
                </a:solidFill>
                <a:latin typeface="+mn-lt"/>
                <a:ea typeface="+mn-ea"/>
                <a:cs typeface="+mn-ea"/>
                <a:sym typeface="+mn-lt"/>
              </a:rPr>
              <a:t>框架</a:t>
            </a:r>
            <a:endParaRPr lang="zh-CN" altLang="en-US" sz="2665" dirty="0">
              <a:solidFill>
                <a:schemeClr val="tx2"/>
              </a:solidFill>
              <a:latin typeface="+mn-lt"/>
              <a:ea typeface="+mn-ea"/>
              <a:cs typeface="+mn-ea"/>
              <a:sym typeface="+mn-lt"/>
            </a:endParaRPr>
          </a:p>
        </p:txBody>
      </p:sp>
      <p:sp>
        <p:nvSpPr>
          <p:cNvPr id="180" name="文本框 6"/>
          <p:cNvSpPr txBox="1">
            <a:spLocks noChangeArrowheads="1"/>
          </p:cNvSpPr>
          <p:nvPr/>
        </p:nvSpPr>
        <p:spPr bwMode="auto">
          <a:xfrm>
            <a:off x="4958080" y="2293434"/>
            <a:ext cx="2275840" cy="625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dist" defTabSz="685800" fontAlgn="base">
              <a:lnSpc>
                <a:spcPct val="130000"/>
              </a:lnSpc>
              <a:spcBef>
                <a:spcPct val="0"/>
              </a:spcBef>
              <a:spcAft>
                <a:spcPct val="0"/>
              </a:spcAft>
              <a:defRPr/>
            </a:pPr>
            <a:r>
              <a:rPr lang="en-US" altLang="zh-CN" sz="2665" dirty="0">
                <a:solidFill>
                  <a:schemeClr val="accent1"/>
                </a:solidFill>
                <a:latin typeface="+mn-lt"/>
                <a:ea typeface="+mn-ea"/>
                <a:cs typeface="+mn-ea"/>
                <a:sym typeface="+mn-lt"/>
              </a:rPr>
              <a:t>/ </a:t>
            </a:r>
            <a:r>
              <a:rPr lang="zh-CN" altLang="en-US" sz="2665" dirty="0">
                <a:solidFill>
                  <a:schemeClr val="accent1"/>
                </a:solidFill>
                <a:latin typeface="+mn-lt"/>
                <a:ea typeface="+mn-ea"/>
                <a:cs typeface="+mn-ea"/>
                <a:sym typeface="+mn-lt"/>
              </a:rPr>
              <a:t>第</a:t>
            </a:r>
            <a:r>
              <a:rPr lang="en-US" altLang="zh-CN" sz="2665" dirty="0">
                <a:solidFill>
                  <a:schemeClr val="accent1"/>
                </a:solidFill>
                <a:latin typeface="+mn-lt"/>
                <a:ea typeface="+mn-ea"/>
                <a:cs typeface="+mn-ea"/>
                <a:sym typeface="+mn-lt"/>
              </a:rPr>
              <a:t>2</a:t>
            </a:r>
            <a:r>
              <a:rPr lang="zh-CN" altLang="en-US" sz="2665" dirty="0">
                <a:solidFill>
                  <a:schemeClr val="accent1"/>
                </a:solidFill>
                <a:latin typeface="+mn-lt"/>
                <a:ea typeface="+mn-ea"/>
                <a:cs typeface="+mn-ea"/>
                <a:sym typeface="+mn-lt"/>
              </a:rPr>
              <a:t>章 </a:t>
            </a:r>
            <a:r>
              <a:rPr lang="en-US" altLang="zh-CN" sz="2665" dirty="0">
                <a:solidFill>
                  <a:schemeClr val="accent1"/>
                </a:solidFill>
                <a:latin typeface="+mn-lt"/>
                <a:ea typeface="+mn-ea"/>
                <a:cs typeface="+mn-ea"/>
                <a:sym typeface="+mn-lt"/>
              </a:rPr>
              <a:t>/</a:t>
            </a:r>
            <a:endParaRPr lang="zh-CN" altLang="en-US" sz="2665" dirty="0">
              <a:solidFill>
                <a:schemeClr val="accent1"/>
              </a:solidFill>
              <a:latin typeface="+mn-lt"/>
              <a:ea typeface="+mn-ea"/>
              <a:cs typeface="+mn-ea"/>
              <a:sym typeface="+mn-lt"/>
            </a:endParaRPr>
          </a:p>
        </p:txBody>
      </p:sp>
      <p:sp>
        <p:nvSpPr>
          <p:cNvPr id="3" name="矩形 2"/>
          <p:cNvSpPr/>
          <p:nvPr/>
        </p:nvSpPr>
        <p:spPr>
          <a:xfrm>
            <a:off x="5301553" y="3788737"/>
            <a:ext cx="1588897" cy="502766"/>
          </a:xfrm>
          <a:prstGeom prst="rect">
            <a:avLst/>
          </a:prstGeom>
        </p:spPr>
        <p:txBody>
          <a:bodyPr wrap="none">
            <a:spAutoFit/>
          </a:bodyPr>
          <a:lstStyle/>
          <a:p>
            <a:pPr lvl="0" algn="ctr"/>
            <a:r>
              <a:rPr lang="en-US" altLang="zh-CN" sz="2665" spc="800" dirty="0">
                <a:solidFill>
                  <a:schemeClr val="accent1"/>
                </a:solidFill>
                <a:cs typeface="+mn-ea"/>
                <a:sym typeface="+mn-lt"/>
              </a:rPr>
              <a:t>//////</a:t>
            </a:r>
            <a:endParaRPr lang="zh-CN" altLang="en-US" sz="2400"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3"/>
          <p:cNvSpPr txBox="1"/>
          <p:nvPr/>
        </p:nvSpPr>
        <p:spPr>
          <a:xfrm>
            <a:off x="1250579" y="1988696"/>
            <a:ext cx="596317" cy="615553"/>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4000" b="1" i="0" u="none" strike="noStrike" kern="1200" cap="none" spc="0" normalizeH="0" baseline="0" noProof="0" dirty="0">
                <a:ln>
                  <a:noFill/>
                </a:ln>
                <a:solidFill>
                  <a:srgbClr val="0D7AB5"/>
                </a:solidFill>
                <a:effectLst/>
                <a:uLnTx/>
                <a:uFillTx/>
                <a:latin typeface="Lato"/>
                <a:ea typeface="+mn-ea"/>
                <a:cs typeface="+mn-cs"/>
              </a:rPr>
              <a:t>01</a:t>
            </a:r>
            <a:endParaRPr kumimoji="0" lang="en-US" sz="4000" b="1" i="0" u="none" strike="noStrike" kern="1200" cap="none" spc="0" normalizeH="0" baseline="0" noProof="0" dirty="0">
              <a:ln>
                <a:noFill/>
              </a:ln>
              <a:solidFill>
                <a:srgbClr val="0D7AB5"/>
              </a:solidFill>
              <a:effectLst/>
              <a:uLnTx/>
              <a:uFillTx/>
              <a:latin typeface="Lato"/>
              <a:ea typeface="+mn-ea"/>
              <a:cs typeface="+mn-cs"/>
            </a:endParaRPr>
          </a:p>
        </p:txBody>
      </p:sp>
      <p:cxnSp>
        <p:nvCxnSpPr>
          <p:cNvPr id="28" name="Straight Connector 27"/>
          <p:cNvCxnSpPr/>
          <p:nvPr/>
        </p:nvCxnSpPr>
        <p:spPr>
          <a:xfrm>
            <a:off x="2087904" y="2330333"/>
            <a:ext cx="2166115" cy="0"/>
          </a:xfrm>
          <a:prstGeom prst="line">
            <a:avLst/>
          </a:prstGeom>
          <a:ln w="19050" cap="rnd">
            <a:solidFill>
              <a:schemeClr val="tx1">
                <a:lumMod val="40000"/>
                <a:lumOff val="6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2" name="Text Placeholder 3"/>
          <p:cNvSpPr txBox="1"/>
          <p:nvPr/>
        </p:nvSpPr>
        <p:spPr>
          <a:xfrm>
            <a:off x="4558905" y="1988696"/>
            <a:ext cx="596317" cy="615553"/>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4000" b="1" i="0" u="none" strike="noStrike" kern="1200" cap="none" spc="0" normalizeH="0" baseline="0" noProof="0" dirty="0">
                <a:ln>
                  <a:noFill/>
                </a:ln>
                <a:solidFill>
                  <a:srgbClr val="1E8ACA"/>
                </a:solidFill>
                <a:effectLst/>
                <a:uLnTx/>
                <a:uFillTx/>
                <a:latin typeface="Lato"/>
                <a:ea typeface="+mn-ea"/>
                <a:cs typeface="+mn-cs"/>
              </a:rPr>
              <a:t>02</a:t>
            </a:r>
            <a:endParaRPr kumimoji="0" lang="en-US" sz="4000" b="1" i="0" u="none" strike="noStrike" kern="1200" cap="none" spc="0" normalizeH="0" baseline="0" noProof="0" dirty="0">
              <a:ln>
                <a:noFill/>
              </a:ln>
              <a:solidFill>
                <a:srgbClr val="1E8ACA"/>
              </a:solidFill>
              <a:effectLst/>
              <a:uLnTx/>
              <a:uFillTx/>
              <a:latin typeface="Lato"/>
              <a:ea typeface="+mn-ea"/>
              <a:cs typeface="+mn-cs"/>
            </a:endParaRPr>
          </a:p>
        </p:txBody>
      </p:sp>
      <p:cxnSp>
        <p:nvCxnSpPr>
          <p:cNvPr id="33" name="Straight Connector 32"/>
          <p:cNvCxnSpPr/>
          <p:nvPr/>
        </p:nvCxnSpPr>
        <p:spPr>
          <a:xfrm>
            <a:off x="5361570" y="2330333"/>
            <a:ext cx="2166115" cy="0"/>
          </a:xfrm>
          <a:prstGeom prst="line">
            <a:avLst/>
          </a:prstGeom>
          <a:ln w="19050" cap="rnd">
            <a:solidFill>
              <a:schemeClr val="tx1">
                <a:lumMod val="40000"/>
                <a:lumOff val="6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7" name="Text Placeholder 3"/>
          <p:cNvSpPr txBox="1"/>
          <p:nvPr/>
        </p:nvSpPr>
        <p:spPr>
          <a:xfrm>
            <a:off x="7784139" y="1988696"/>
            <a:ext cx="596317" cy="615553"/>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4000" b="1" i="0" u="none" strike="noStrike" kern="1200" cap="none" spc="0" normalizeH="0" baseline="0" noProof="0" dirty="0">
                <a:ln>
                  <a:noFill/>
                </a:ln>
                <a:solidFill>
                  <a:srgbClr val="209BD3"/>
                </a:solidFill>
                <a:effectLst/>
                <a:uLnTx/>
                <a:uFillTx/>
                <a:latin typeface="Lato"/>
                <a:ea typeface="+mn-ea"/>
                <a:cs typeface="+mn-cs"/>
              </a:rPr>
              <a:t>03</a:t>
            </a:r>
            <a:endParaRPr kumimoji="0" lang="en-US" sz="4000" b="1" i="0" u="none" strike="noStrike" kern="1200" cap="none" spc="0" normalizeH="0" baseline="0" noProof="0" dirty="0">
              <a:ln>
                <a:noFill/>
              </a:ln>
              <a:solidFill>
                <a:srgbClr val="209BD3"/>
              </a:solidFill>
              <a:effectLst/>
              <a:uLnTx/>
              <a:uFillTx/>
              <a:latin typeface="Lato"/>
              <a:ea typeface="+mn-ea"/>
              <a:cs typeface="+mn-cs"/>
            </a:endParaRPr>
          </a:p>
        </p:txBody>
      </p:sp>
      <p:cxnSp>
        <p:nvCxnSpPr>
          <p:cNvPr id="41" name="Straight Connector 40"/>
          <p:cNvCxnSpPr/>
          <p:nvPr/>
        </p:nvCxnSpPr>
        <p:spPr>
          <a:xfrm>
            <a:off x="8609911" y="2330333"/>
            <a:ext cx="2166115" cy="0"/>
          </a:xfrm>
          <a:prstGeom prst="line">
            <a:avLst/>
          </a:prstGeom>
          <a:ln w="19050" cap="rnd">
            <a:solidFill>
              <a:schemeClr val="tx1">
                <a:lumMod val="40000"/>
                <a:lumOff val="60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rot="10800000" flipV="1">
            <a:off x="8542581" y="2330331"/>
            <a:ext cx="2233448" cy="1946891"/>
          </a:xfrm>
          <a:prstGeom prst="bentConnector3">
            <a:avLst>
              <a:gd name="adj1" fmla="val -6023"/>
            </a:avLst>
          </a:prstGeom>
          <a:ln w="190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3"/>
          <p:cNvSpPr txBox="1"/>
          <p:nvPr/>
        </p:nvSpPr>
        <p:spPr>
          <a:xfrm>
            <a:off x="1250579" y="3936108"/>
            <a:ext cx="596317" cy="615553"/>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4000" b="1" i="0" u="none" strike="noStrike" kern="1200" cap="none" spc="0" normalizeH="0" baseline="0" noProof="0" dirty="0">
                <a:ln>
                  <a:noFill/>
                </a:ln>
                <a:solidFill>
                  <a:srgbClr val="39C2F2"/>
                </a:solidFill>
                <a:effectLst/>
                <a:uLnTx/>
                <a:uFillTx/>
                <a:latin typeface="Lato"/>
                <a:ea typeface="+mn-ea"/>
                <a:cs typeface="+mn-cs"/>
              </a:rPr>
              <a:t>06</a:t>
            </a:r>
            <a:endParaRPr kumimoji="0" lang="en-US" sz="4000" b="1" i="0" u="none" strike="noStrike" kern="1200" cap="none" spc="0" normalizeH="0" baseline="0" noProof="0" dirty="0">
              <a:ln>
                <a:noFill/>
              </a:ln>
              <a:solidFill>
                <a:srgbClr val="39C2F2"/>
              </a:solidFill>
              <a:effectLst/>
              <a:uLnTx/>
              <a:uFillTx/>
              <a:latin typeface="Lato"/>
              <a:ea typeface="+mn-ea"/>
              <a:cs typeface="+mn-cs"/>
            </a:endParaRPr>
          </a:p>
        </p:txBody>
      </p:sp>
      <p:sp>
        <p:nvSpPr>
          <p:cNvPr id="47" name="Text Placeholder 3"/>
          <p:cNvSpPr txBox="1"/>
          <p:nvPr/>
        </p:nvSpPr>
        <p:spPr>
          <a:xfrm>
            <a:off x="4558905" y="3936108"/>
            <a:ext cx="596317" cy="615553"/>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4000" b="1" i="0" u="none" strike="noStrike" kern="1200" cap="none" spc="0" normalizeH="0" baseline="0" noProof="0" dirty="0">
                <a:ln>
                  <a:noFill/>
                </a:ln>
                <a:solidFill>
                  <a:srgbClr val="3FB5E8"/>
                </a:solidFill>
                <a:effectLst/>
                <a:uLnTx/>
                <a:uFillTx/>
                <a:latin typeface="Lato"/>
                <a:ea typeface="+mn-ea"/>
                <a:cs typeface="+mn-cs"/>
              </a:rPr>
              <a:t>05</a:t>
            </a:r>
            <a:endParaRPr kumimoji="0" lang="en-US" sz="4000" b="1" i="0" u="none" strike="noStrike" kern="1200" cap="none" spc="0" normalizeH="0" baseline="0" noProof="0" dirty="0">
              <a:ln>
                <a:noFill/>
              </a:ln>
              <a:solidFill>
                <a:srgbClr val="3FB5E8"/>
              </a:solidFill>
              <a:effectLst/>
              <a:uLnTx/>
              <a:uFillTx/>
              <a:latin typeface="Lato"/>
              <a:ea typeface="+mn-ea"/>
              <a:cs typeface="+mn-cs"/>
            </a:endParaRPr>
          </a:p>
        </p:txBody>
      </p:sp>
      <p:sp>
        <p:nvSpPr>
          <p:cNvPr id="51" name="Text Placeholder 3"/>
          <p:cNvSpPr txBox="1"/>
          <p:nvPr/>
        </p:nvSpPr>
        <p:spPr>
          <a:xfrm>
            <a:off x="7784139" y="3936108"/>
            <a:ext cx="596317" cy="615553"/>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4000" b="1" i="0" u="none" strike="noStrike" kern="1200" cap="none" spc="0" normalizeH="0" baseline="0" noProof="0" dirty="0">
                <a:ln>
                  <a:noFill/>
                </a:ln>
                <a:solidFill>
                  <a:srgbClr val="2EA2DB"/>
                </a:solidFill>
                <a:effectLst/>
                <a:uLnTx/>
                <a:uFillTx/>
                <a:latin typeface="Lato"/>
                <a:ea typeface="+mn-ea"/>
                <a:cs typeface="+mn-cs"/>
              </a:rPr>
              <a:t>04</a:t>
            </a:r>
            <a:endParaRPr kumimoji="0" lang="en-US" sz="4000" b="1" i="0" u="none" strike="noStrike" kern="1200" cap="none" spc="0" normalizeH="0" baseline="0" noProof="0" dirty="0">
              <a:ln>
                <a:noFill/>
              </a:ln>
              <a:solidFill>
                <a:srgbClr val="2EA2DB"/>
              </a:solidFill>
              <a:effectLst/>
              <a:uLnTx/>
              <a:uFillTx/>
              <a:latin typeface="Lato"/>
              <a:ea typeface="+mn-ea"/>
              <a:cs typeface="+mn-cs"/>
            </a:endParaRPr>
          </a:p>
        </p:txBody>
      </p:sp>
      <p:cxnSp>
        <p:nvCxnSpPr>
          <p:cNvPr id="55" name="Straight Connector 54"/>
          <p:cNvCxnSpPr/>
          <p:nvPr/>
        </p:nvCxnSpPr>
        <p:spPr>
          <a:xfrm flipH="1">
            <a:off x="5315356" y="4277223"/>
            <a:ext cx="2166115" cy="0"/>
          </a:xfrm>
          <a:prstGeom prst="line">
            <a:avLst/>
          </a:prstGeom>
          <a:ln w="19050" cap="rnd">
            <a:solidFill>
              <a:schemeClr val="tx1">
                <a:lumMod val="40000"/>
                <a:lumOff val="60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2041691" y="4277223"/>
            <a:ext cx="2166115" cy="0"/>
          </a:xfrm>
          <a:prstGeom prst="line">
            <a:avLst/>
          </a:prstGeom>
          <a:ln w="19050" cap="rnd">
            <a:solidFill>
              <a:schemeClr val="tx1">
                <a:lumMod val="40000"/>
                <a:lumOff val="6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a:spLocks noChangeArrowheads="1"/>
          </p:cNvSpPr>
          <p:nvPr/>
        </p:nvSpPr>
        <p:spPr bwMode="auto">
          <a:xfrm>
            <a:off x="1108256" y="2744497"/>
            <a:ext cx="2939870" cy="603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1、配置环境，导入需要的包和基本配置</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p:txBody>
      </p:sp>
      <p:sp>
        <p:nvSpPr>
          <p:cNvPr id="65" name="TextBox 64"/>
          <p:cNvSpPr txBox="1">
            <a:spLocks noChangeArrowheads="1"/>
          </p:cNvSpPr>
          <p:nvPr/>
        </p:nvSpPr>
        <p:spPr bwMode="auto">
          <a:xfrm>
            <a:off x="4424788" y="2712112"/>
            <a:ext cx="2939870" cy="1116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2、数据准备</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1)准备数据集</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2)生成数据集（划分训练集、验证集、测试集）</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p:txBody>
      </p:sp>
      <p:sp>
        <p:nvSpPr>
          <p:cNvPr id="68" name="TextBox 67"/>
          <p:cNvSpPr txBox="1">
            <a:spLocks noChangeArrowheads="1"/>
          </p:cNvSpPr>
          <p:nvPr/>
        </p:nvSpPr>
        <p:spPr bwMode="auto">
          <a:xfrm>
            <a:off x="7741364" y="2455572"/>
            <a:ext cx="2939870"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3、配置模型</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1)获得基本模型</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2)获得预训练权重</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3)修改数据配置文件</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4)修改模型超参数（hyp），进行数据增强</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p:txBody>
      </p:sp>
      <p:sp>
        <p:nvSpPr>
          <p:cNvPr id="87" name="TextBox 86"/>
          <p:cNvSpPr txBox="1">
            <a:spLocks noChangeArrowheads="1"/>
          </p:cNvSpPr>
          <p:nvPr/>
        </p:nvSpPr>
        <p:spPr bwMode="auto">
          <a:xfrm>
            <a:off x="1155246" y="4551883"/>
            <a:ext cx="2939870" cy="347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b="0" i="0" u="none" strike="noStrike" kern="1200" cap="none" spc="0" normalizeH="0" baseline="0" noProof="0" dirty="0">
                <a:ln>
                  <a:noFill/>
                </a:ln>
                <a:solidFill>
                  <a:srgbClr val="3F3F3F">
                    <a:lumMod val="60000"/>
                    <a:lumOff val="40000"/>
                  </a:srgbClr>
                </a:solidFill>
                <a:effectLst/>
                <a:uLnTx/>
                <a:uFillTx/>
                <a:latin typeface="Merriweather"/>
                <a:ea typeface="+mn-ea"/>
                <a:cs typeface="Arial" panose="020B0604020202020204" pitchFamily="34" charset="0"/>
              </a:rPr>
              <a:t>6、测试与模型评估</a:t>
            </a:r>
            <a:endParaRPr kumimoji="0" lang="en-US" sz="1400" b="0" i="0" u="none" strike="noStrike" kern="1200" cap="none" spc="0" normalizeH="0" baseline="0" noProof="0" dirty="0">
              <a:ln>
                <a:noFill/>
              </a:ln>
              <a:solidFill>
                <a:srgbClr val="3F3F3F">
                  <a:lumMod val="60000"/>
                  <a:lumOff val="40000"/>
                </a:srgbClr>
              </a:solidFill>
              <a:effectLst/>
              <a:uLnTx/>
              <a:uFillTx/>
              <a:latin typeface="Merriweather"/>
              <a:ea typeface="+mn-ea"/>
              <a:cs typeface="Arial" panose="020B0604020202020204" pitchFamily="34" charset="0"/>
            </a:endParaRPr>
          </a:p>
        </p:txBody>
      </p:sp>
      <p:sp>
        <p:nvSpPr>
          <p:cNvPr id="90" name="TextBox 89"/>
          <p:cNvSpPr txBox="1">
            <a:spLocks noChangeArrowheads="1"/>
          </p:cNvSpPr>
          <p:nvPr/>
        </p:nvSpPr>
        <p:spPr bwMode="auto">
          <a:xfrm>
            <a:off x="4424788" y="4551883"/>
            <a:ext cx="2939870" cy="603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5</a:t>
            </a:r>
            <a:r>
              <a:rPr kumimoji="0" lang="zh-CN" altLang="en-US" sz="1400" i="0" u="none" strike="noStrike" kern="1200" cap="none" spc="0" normalizeH="0" baseline="0" noProof="0">
                <a:ln>
                  <a:noFill/>
                </a:ln>
                <a:solidFill>
                  <a:srgbClr val="3F3F3F">
                    <a:lumMod val="60000"/>
                    <a:lumOff val="40000"/>
                  </a:srgbClr>
                </a:solidFill>
                <a:effectLst/>
                <a:uLnTx/>
                <a:uFillTx/>
                <a:latin typeface="Merriweather"/>
                <a:ea typeface="宋体" panose="02010600030101010101" pitchFamily="2" charset="-122"/>
                <a:cs typeface="Arial" panose="020B0604020202020204" pitchFamily="34" charset="0"/>
              </a:rPr>
              <a:t>、</a:t>
            </a: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训练结果可视化</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p:txBody>
      </p:sp>
      <p:sp>
        <p:nvSpPr>
          <p:cNvPr id="93" name="TextBox 92"/>
          <p:cNvSpPr txBox="1">
            <a:spLocks noChangeArrowheads="1"/>
          </p:cNvSpPr>
          <p:nvPr/>
        </p:nvSpPr>
        <p:spPr bwMode="auto">
          <a:xfrm>
            <a:off x="7814389" y="4551883"/>
            <a:ext cx="293987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4、训练模型</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1)设置opt参数</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a:p>
            <a:pPr marL="0" marR="0" lvl="0" indent="0" algn="just" defTabSz="914400" rtl="0" eaLnBrk="1" fontAlgn="auto" latinLnBrk="0" hangingPunct="1">
              <a:lnSpc>
                <a:spcPts val="2000"/>
              </a:lnSpc>
              <a:spcBef>
                <a:spcPts val="0"/>
              </a:spcBef>
              <a:spcAft>
                <a:spcPts val="0"/>
              </a:spcAft>
              <a:buClrTx/>
              <a:buSzTx/>
              <a:buFontTx/>
              <a:buNone/>
              <a:defRPr/>
            </a:pPr>
            <a:r>
              <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rPr>
              <a:t>2)运行 train.py开始训练模型</a:t>
            </a:r>
            <a:endParaRPr kumimoji="0" lang="en-US" sz="1400" i="0" u="none" strike="noStrike" kern="1200" cap="none" spc="0" normalizeH="0" baseline="0" noProof="0">
              <a:ln>
                <a:noFill/>
              </a:ln>
              <a:solidFill>
                <a:srgbClr val="3F3F3F">
                  <a:lumMod val="60000"/>
                  <a:lumOff val="40000"/>
                </a:srgbClr>
              </a:solidFill>
              <a:effectLst/>
              <a:uLnTx/>
              <a:uFillTx/>
              <a:latin typeface="Merriweather"/>
              <a:ea typeface="+mn-ea"/>
              <a:cs typeface="Arial" panose="020B0604020202020204" pitchFamily="34" charset="0"/>
            </a:endParaRPr>
          </a:p>
        </p:txBody>
      </p:sp>
      <p:cxnSp>
        <p:nvCxnSpPr>
          <p:cNvPr id="36" name="直接连接符 35"/>
          <p:cNvCxnSpPr/>
          <p:nvPr/>
        </p:nvCxnSpPr>
        <p:spPr>
          <a:xfrm>
            <a:off x="5822271" y="1062739"/>
            <a:ext cx="54746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8" name="TextBox 12"/>
          <p:cNvSpPr txBox="1"/>
          <p:nvPr/>
        </p:nvSpPr>
        <p:spPr>
          <a:xfrm>
            <a:off x="5224780" y="491703"/>
            <a:ext cx="1742440" cy="419735"/>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zh-CN" altLang="en-US" sz="2665" b="0" i="0" u="none" strike="noStrike" kern="1200" cap="none" spc="400" normalizeH="0" baseline="0" noProof="0" dirty="0">
                <a:ln>
                  <a:noFill/>
                </a:ln>
                <a:solidFill>
                  <a:srgbClr val="313C41"/>
                </a:solidFill>
                <a:effectLst/>
                <a:uLnTx/>
                <a:uFillTx/>
                <a:latin typeface="Arvo"/>
                <a:ea typeface="+mn-ea"/>
                <a:cs typeface="Arvo"/>
              </a:rPr>
              <a:t>基本框架</a:t>
            </a:r>
            <a:endParaRPr kumimoji="0" lang="zh-CN" altLang="en-US" sz="2665" b="0" i="0" u="none" strike="noStrike" kern="1200" cap="none" spc="400" normalizeH="0" baseline="0" noProof="0" dirty="0">
              <a:ln>
                <a:noFill/>
              </a:ln>
              <a:solidFill>
                <a:srgbClr val="313C41"/>
              </a:solidFill>
              <a:effectLst/>
              <a:uLnTx/>
              <a:uFillTx/>
              <a:latin typeface="Arvo"/>
              <a:ea typeface="+mn-ea"/>
              <a:cs typeface="Arvo"/>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 presetClass="entr" presetSubtype="8" fill="hold" grpId="0" nodeType="afterEffect" p14:presetBounceEnd="60000">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14:bounceEnd="60000">
                                          <p:cBhvr additive="base">
                                            <p:cTn id="13" dur="500" fill="hold"/>
                                            <p:tgtEl>
                                              <p:spTgt spid="59"/>
                                            </p:tgtEl>
                                            <p:attrNameLst>
                                              <p:attrName>ppt_x</p:attrName>
                                            </p:attrNameLst>
                                          </p:cBhvr>
                                          <p:tavLst>
                                            <p:tav tm="0">
                                              <p:val>
                                                <p:strVal val="0-#ppt_w/2"/>
                                              </p:val>
                                            </p:tav>
                                            <p:tav tm="100000">
                                              <p:val>
                                                <p:strVal val="#ppt_x"/>
                                              </p:val>
                                            </p:tav>
                                          </p:tavLst>
                                        </p:anim>
                                        <p:anim calcmode="lin" valueType="num" p14:bounceEnd="60000">
                                          <p:cBhvr additive="base">
                                            <p:cTn id="14" dur="500" fill="hold"/>
                                            <p:tgtEl>
                                              <p:spTgt spid="59"/>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left)">
                                          <p:cBhvr>
                                            <p:cTn id="18" dur="500"/>
                                            <p:tgtEl>
                                              <p:spTgt spid="28"/>
                                            </p:tgtEl>
                                          </p:cBhvr>
                                        </p:animEffect>
                                      </p:childTnLst>
                                    </p:cTn>
                                  </p:par>
                                </p:childTnLst>
                              </p:cTn>
                            </p:par>
                            <p:par>
                              <p:cTn id="19" fill="hold">
                                <p:stCondLst>
                                  <p:cond delay="1500"/>
                                </p:stCondLst>
                                <p:childTnLst>
                                  <p:par>
                                    <p:cTn id="20" presetID="53" presetClass="entr" presetSubtype="16"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p:cTn id="22" dur="500" fill="hold"/>
                                            <p:tgtEl>
                                              <p:spTgt spid="32"/>
                                            </p:tgtEl>
                                            <p:attrNameLst>
                                              <p:attrName>ppt_w</p:attrName>
                                            </p:attrNameLst>
                                          </p:cBhvr>
                                          <p:tavLst>
                                            <p:tav tm="0">
                                              <p:val>
                                                <p:fltVal val="0"/>
                                              </p:val>
                                            </p:tav>
                                            <p:tav tm="100000">
                                              <p:val>
                                                <p:strVal val="#ppt_w"/>
                                              </p:val>
                                            </p:tav>
                                          </p:tavLst>
                                        </p:anim>
                                        <p:anim calcmode="lin" valueType="num">
                                          <p:cBhvr>
                                            <p:cTn id="23" dur="500" fill="hold"/>
                                            <p:tgtEl>
                                              <p:spTgt spid="32"/>
                                            </p:tgtEl>
                                            <p:attrNameLst>
                                              <p:attrName>ppt_h</p:attrName>
                                            </p:attrNameLst>
                                          </p:cBhvr>
                                          <p:tavLst>
                                            <p:tav tm="0">
                                              <p:val>
                                                <p:fltVal val="0"/>
                                              </p:val>
                                            </p:tav>
                                            <p:tav tm="100000">
                                              <p:val>
                                                <p:strVal val="#ppt_h"/>
                                              </p:val>
                                            </p:tav>
                                          </p:tavLst>
                                        </p:anim>
                                        <p:animEffect transition="in" filter="fade">
                                          <p:cBhvr>
                                            <p:cTn id="24" dur="500"/>
                                            <p:tgtEl>
                                              <p:spTgt spid="32"/>
                                            </p:tgtEl>
                                          </p:cBhvr>
                                        </p:animEffect>
                                      </p:childTnLst>
                                    </p:cTn>
                                  </p:par>
                                </p:childTnLst>
                              </p:cTn>
                            </p:par>
                            <p:par>
                              <p:cTn id="25" fill="hold">
                                <p:stCondLst>
                                  <p:cond delay="2000"/>
                                </p:stCondLst>
                                <p:childTnLst>
                                  <p:par>
                                    <p:cTn id="26" presetID="2" presetClass="entr" presetSubtype="8" fill="hold" grpId="0" nodeType="afterEffect" p14:presetBounceEnd="60000">
                                      <p:stCondLst>
                                        <p:cond delay="0"/>
                                      </p:stCondLst>
                                      <p:childTnLst>
                                        <p:set>
                                          <p:cBhvr>
                                            <p:cTn id="27" dur="1" fill="hold">
                                              <p:stCondLst>
                                                <p:cond delay="0"/>
                                              </p:stCondLst>
                                            </p:cTn>
                                            <p:tgtEl>
                                              <p:spTgt spid="65"/>
                                            </p:tgtEl>
                                            <p:attrNameLst>
                                              <p:attrName>style.visibility</p:attrName>
                                            </p:attrNameLst>
                                          </p:cBhvr>
                                          <p:to>
                                            <p:strVal val="visible"/>
                                          </p:to>
                                        </p:set>
                                        <p:anim calcmode="lin" valueType="num" p14:bounceEnd="60000">
                                          <p:cBhvr additive="base">
                                            <p:cTn id="28" dur="500" fill="hold"/>
                                            <p:tgtEl>
                                              <p:spTgt spid="65"/>
                                            </p:tgtEl>
                                            <p:attrNameLst>
                                              <p:attrName>ppt_x</p:attrName>
                                            </p:attrNameLst>
                                          </p:cBhvr>
                                          <p:tavLst>
                                            <p:tav tm="0">
                                              <p:val>
                                                <p:strVal val="0-#ppt_w/2"/>
                                              </p:val>
                                            </p:tav>
                                            <p:tav tm="100000">
                                              <p:val>
                                                <p:strVal val="#ppt_x"/>
                                              </p:val>
                                            </p:tav>
                                          </p:tavLst>
                                        </p:anim>
                                        <p:anim calcmode="lin" valueType="num" p14:bounceEnd="60000">
                                          <p:cBhvr additive="base">
                                            <p:cTn id="29" dur="500" fill="hold"/>
                                            <p:tgtEl>
                                              <p:spTgt spid="65"/>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500"/>
                                            <p:tgtEl>
                                              <p:spTgt spid="33"/>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p:cTn id="37" dur="500" fill="hold"/>
                                            <p:tgtEl>
                                              <p:spTgt spid="37"/>
                                            </p:tgtEl>
                                            <p:attrNameLst>
                                              <p:attrName>ppt_w</p:attrName>
                                            </p:attrNameLst>
                                          </p:cBhvr>
                                          <p:tavLst>
                                            <p:tav tm="0">
                                              <p:val>
                                                <p:fltVal val="0"/>
                                              </p:val>
                                            </p:tav>
                                            <p:tav tm="100000">
                                              <p:val>
                                                <p:strVal val="#ppt_w"/>
                                              </p:val>
                                            </p:tav>
                                          </p:tavLst>
                                        </p:anim>
                                        <p:anim calcmode="lin" valueType="num">
                                          <p:cBhvr>
                                            <p:cTn id="38" dur="500" fill="hold"/>
                                            <p:tgtEl>
                                              <p:spTgt spid="37"/>
                                            </p:tgtEl>
                                            <p:attrNameLst>
                                              <p:attrName>ppt_h</p:attrName>
                                            </p:attrNameLst>
                                          </p:cBhvr>
                                          <p:tavLst>
                                            <p:tav tm="0">
                                              <p:val>
                                                <p:fltVal val="0"/>
                                              </p:val>
                                            </p:tav>
                                            <p:tav tm="100000">
                                              <p:val>
                                                <p:strVal val="#ppt_h"/>
                                              </p:val>
                                            </p:tav>
                                          </p:tavLst>
                                        </p:anim>
                                        <p:animEffect transition="in" filter="fade">
                                          <p:cBhvr>
                                            <p:cTn id="39" dur="500"/>
                                            <p:tgtEl>
                                              <p:spTgt spid="37"/>
                                            </p:tgtEl>
                                          </p:cBhvr>
                                        </p:animEffect>
                                      </p:childTnLst>
                                    </p:cTn>
                                  </p:par>
                                </p:childTnLst>
                              </p:cTn>
                            </p:par>
                            <p:par>
                              <p:cTn id="40" fill="hold">
                                <p:stCondLst>
                                  <p:cond delay="3500"/>
                                </p:stCondLst>
                                <p:childTnLst>
                                  <p:par>
                                    <p:cTn id="41" presetID="2" presetClass="entr" presetSubtype="8" fill="hold" grpId="0" nodeType="afterEffect" p14:presetBounceEnd="60000">
                                      <p:stCondLst>
                                        <p:cond delay="0"/>
                                      </p:stCondLst>
                                      <p:childTnLst>
                                        <p:set>
                                          <p:cBhvr>
                                            <p:cTn id="42" dur="1" fill="hold">
                                              <p:stCondLst>
                                                <p:cond delay="0"/>
                                              </p:stCondLst>
                                            </p:cTn>
                                            <p:tgtEl>
                                              <p:spTgt spid="68"/>
                                            </p:tgtEl>
                                            <p:attrNameLst>
                                              <p:attrName>style.visibility</p:attrName>
                                            </p:attrNameLst>
                                          </p:cBhvr>
                                          <p:to>
                                            <p:strVal val="visible"/>
                                          </p:to>
                                        </p:set>
                                        <p:anim calcmode="lin" valueType="num" p14:bounceEnd="60000">
                                          <p:cBhvr additive="base">
                                            <p:cTn id="43" dur="500" fill="hold"/>
                                            <p:tgtEl>
                                              <p:spTgt spid="68"/>
                                            </p:tgtEl>
                                            <p:attrNameLst>
                                              <p:attrName>ppt_x</p:attrName>
                                            </p:attrNameLst>
                                          </p:cBhvr>
                                          <p:tavLst>
                                            <p:tav tm="0">
                                              <p:val>
                                                <p:strVal val="0-#ppt_w/2"/>
                                              </p:val>
                                            </p:tav>
                                            <p:tav tm="100000">
                                              <p:val>
                                                <p:strVal val="#ppt_x"/>
                                              </p:val>
                                            </p:tav>
                                          </p:tavLst>
                                        </p:anim>
                                        <p:anim calcmode="lin" valueType="num" p14:bounceEnd="60000">
                                          <p:cBhvr additive="base">
                                            <p:cTn id="44" dur="500" fill="hold"/>
                                            <p:tgtEl>
                                              <p:spTgt spid="68"/>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22" presetClass="entr" presetSubtype="8"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left)">
                                          <p:cBhvr>
                                            <p:cTn id="48" dur="500"/>
                                            <p:tgtEl>
                                              <p:spTgt spid="41"/>
                                            </p:tgtEl>
                                          </p:cBhvr>
                                        </p:animEffect>
                                      </p:childTnLst>
                                    </p:cTn>
                                  </p:par>
                                </p:childTnLst>
                              </p:cTn>
                            </p:par>
                            <p:par>
                              <p:cTn id="49" fill="hold">
                                <p:stCondLst>
                                  <p:cond delay="4500"/>
                                </p:stCondLst>
                                <p:childTnLst>
                                  <p:par>
                                    <p:cTn id="50" presetID="22" presetClass="entr" presetSubtype="1" fill="hold"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up)">
                                          <p:cBhvr>
                                            <p:cTn id="52" dur="500"/>
                                            <p:tgtEl>
                                              <p:spTgt spid="42"/>
                                            </p:tgtEl>
                                          </p:cBhvr>
                                        </p:animEffect>
                                      </p:childTnLst>
                                    </p:cTn>
                                  </p:par>
                                </p:childTnLst>
                              </p:cTn>
                            </p:par>
                            <p:par>
                              <p:cTn id="53" fill="hold">
                                <p:stCondLst>
                                  <p:cond delay="5000"/>
                                </p:stCondLst>
                                <p:childTnLst>
                                  <p:par>
                                    <p:cTn id="54" presetID="53" presetClass="entr" presetSubtype="16" fill="hold" grpId="0" nodeType="afterEffect">
                                      <p:stCondLst>
                                        <p:cond delay="0"/>
                                      </p:stCondLst>
                                      <p:childTnLst>
                                        <p:set>
                                          <p:cBhvr>
                                            <p:cTn id="55" dur="1" fill="hold">
                                              <p:stCondLst>
                                                <p:cond delay="0"/>
                                              </p:stCondLst>
                                            </p:cTn>
                                            <p:tgtEl>
                                              <p:spTgt spid="51"/>
                                            </p:tgtEl>
                                            <p:attrNameLst>
                                              <p:attrName>style.visibility</p:attrName>
                                            </p:attrNameLst>
                                          </p:cBhvr>
                                          <p:to>
                                            <p:strVal val="visible"/>
                                          </p:to>
                                        </p:set>
                                        <p:anim calcmode="lin" valueType="num">
                                          <p:cBhvr>
                                            <p:cTn id="56" dur="500" fill="hold"/>
                                            <p:tgtEl>
                                              <p:spTgt spid="51"/>
                                            </p:tgtEl>
                                            <p:attrNameLst>
                                              <p:attrName>ppt_w</p:attrName>
                                            </p:attrNameLst>
                                          </p:cBhvr>
                                          <p:tavLst>
                                            <p:tav tm="0">
                                              <p:val>
                                                <p:fltVal val="0"/>
                                              </p:val>
                                            </p:tav>
                                            <p:tav tm="100000">
                                              <p:val>
                                                <p:strVal val="#ppt_w"/>
                                              </p:val>
                                            </p:tav>
                                          </p:tavLst>
                                        </p:anim>
                                        <p:anim calcmode="lin" valueType="num">
                                          <p:cBhvr>
                                            <p:cTn id="57" dur="500" fill="hold"/>
                                            <p:tgtEl>
                                              <p:spTgt spid="51"/>
                                            </p:tgtEl>
                                            <p:attrNameLst>
                                              <p:attrName>ppt_h</p:attrName>
                                            </p:attrNameLst>
                                          </p:cBhvr>
                                          <p:tavLst>
                                            <p:tav tm="0">
                                              <p:val>
                                                <p:fltVal val="0"/>
                                              </p:val>
                                            </p:tav>
                                            <p:tav tm="100000">
                                              <p:val>
                                                <p:strVal val="#ppt_h"/>
                                              </p:val>
                                            </p:tav>
                                          </p:tavLst>
                                        </p:anim>
                                        <p:animEffect transition="in" filter="fade">
                                          <p:cBhvr>
                                            <p:cTn id="58" dur="500"/>
                                            <p:tgtEl>
                                              <p:spTgt spid="51"/>
                                            </p:tgtEl>
                                          </p:cBhvr>
                                        </p:animEffect>
                                      </p:childTnLst>
                                    </p:cTn>
                                  </p:par>
                                </p:childTnLst>
                              </p:cTn>
                            </p:par>
                            <p:par>
                              <p:cTn id="59" fill="hold">
                                <p:stCondLst>
                                  <p:cond delay="5500"/>
                                </p:stCondLst>
                                <p:childTnLst>
                                  <p:par>
                                    <p:cTn id="60" presetID="2" presetClass="entr" presetSubtype="2" fill="hold" grpId="0" nodeType="afterEffect" p14:presetBounceEnd="60000">
                                      <p:stCondLst>
                                        <p:cond delay="0"/>
                                      </p:stCondLst>
                                      <p:childTnLst>
                                        <p:set>
                                          <p:cBhvr>
                                            <p:cTn id="61" dur="1" fill="hold">
                                              <p:stCondLst>
                                                <p:cond delay="0"/>
                                              </p:stCondLst>
                                            </p:cTn>
                                            <p:tgtEl>
                                              <p:spTgt spid="93"/>
                                            </p:tgtEl>
                                            <p:attrNameLst>
                                              <p:attrName>style.visibility</p:attrName>
                                            </p:attrNameLst>
                                          </p:cBhvr>
                                          <p:to>
                                            <p:strVal val="visible"/>
                                          </p:to>
                                        </p:set>
                                        <p:anim calcmode="lin" valueType="num" p14:bounceEnd="60000">
                                          <p:cBhvr additive="base">
                                            <p:cTn id="62" dur="500" fill="hold"/>
                                            <p:tgtEl>
                                              <p:spTgt spid="93"/>
                                            </p:tgtEl>
                                            <p:attrNameLst>
                                              <p:attrName>ppt_x</p:attrName>
                                            </p:attrNameLst>
                                          </p:cBhvr>
                                          <p:tavLst>
                                            <p:tav tm="0">
                                              <p:val>
                                                <p:strVal val="1+#ppt_w/2"/>
                                              </p:val>
                                            </p:tav>
                                            <p:tav tm="100000">
                                              <p:val>
                                                <p:strVal val="#ppt_x"/>
                                              </p:val>
                                            </p:tav>
                                          </p:tavLst>
                                        </p:anim>
                                        <p:anim calcmode="lin" valueType="num" p14:bounceEnd="60000">
                                          <p:cBhvr additive="base">
                                            <p:cTn id="63" dur="500" fill="hold"/>
                                            <p:tgtEl>
                                              <p:spTgt spid="93"/>
                                            </p:tgtEl>
                                            <p:attrNameLst>
                                              <p:attrName>ppt_y</p:attrName>
                                            </p:attrNameLst>
                                          </p:cBhvr>
                                          <p:tavLst>
                                            <p:tav tm="0">
                                              <p:val>
                                                <p:strVal val="#ppt_y"/>
                                              </p:val>
                                            </p:tav>
                                            <p:tav tm="100000">
                                              <p:val>
                                                <p:strVal val="#ppt_y"/>
                                              </p:val>
                                            </p:tav>
                                          </p:tavLst>
                                        </p:anim>
                                      </p:childTnLst>
                                    </p:cTn>
                                  </p:par>
                                </p:childTnLst>
                              </p:cTn>
                            </p:par>
                            <p:par>
                              <p:cTn id="64" fill="hold">
                                <p:stCondLst>
                                  <p:cond delay="6000"/>
                                </p:stCondLst>
                                <p:childTnLst>
                                  <p:par>
                                    <p:cTn id="65" presetID="22" presetClass="entr" presetSubtype="2" fill="hold"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wipe(right)">
                                          <p:cBhvr>
                                            <p:cTn id="67" dur="500"/>
                                            <p:tgtEl>
                                              <p:spTgt spid="55"/>
                                            </p:tgtEl>
                                          </p:cBhvr>
                                        </p:animEffect>
                                      </p:childTnLst>
                                    </p:cTn>
                                  </p:par>
                                </p:childTnLst>
                              </p:cTn>
                            </p:par>
                            <p:par>
                              <p:cTn id="68" fill="hold">
                                <p:stCondLst>
                                  <p:cond delay="6500"/>
                                </p:stCondLst>
                                <p:childTnLst>
                                  <p:par>
                                    <p:cTn id="69" presetID="53" presetClass="entr" presetSubtype="16" fill="hold" grpId="0" nodeType="afterEffect">
                                      <p:stCondLst>
                                        <p:cond delay="0"/>
                                      </p:stCondLst>
                                      <p:childTnLst>
                                        <p:set>
                                          <p:cBhvr>
                                            <p:cTn id="70" dur="1" fill="hold">
                                              <p:stCondLst>
                                                <p:cond delay="0"/>
                                              </p:stCondLst>
                                            </p:cTn>
                                            <p:tgtEl>
                                              <p:spTgt spid="47"/>
                                            </p:tgtEl>
                                            <p:attrNameLst>
                                              <p:attrName>style.visibility</p:attrName>
                                            </p:attrNameLst>
                                          </p:cBhvr>
                                          <p:to>
                                            <p:strVal val="visible"/>
                                          </p:to>
                                        </p:set>
                                        <p:anim calcmode="lin" valueType="num">
                                          <p:cBhvr>
                                            <p:cTn id="71" dur="500" fill="hold"/>
                                            <p:tgtEl>
                                              <p:spTgt spid="47"/>
                                            </p:tgtEl>
                                            <p:attrNameLst>
                                              <p:attrName>ppt_w</p:attrName>
                                            </p:attrNameLst>
                                          </p:cBhvr>
                                          <p:tavLst>
                                            <p:tav tm="0">
                                              <p:val>
                                                <p:fltVal val="0"/>
                                              </p:val>
                                            </p:tav>
                                            <p:tav tm="100000">
                                              <p:val>
                                                <p:strVal val="#ppt_w"/>
                                              </p:val>
                                            </p:tav>
                                          </p:tavLst>
                                        </p:anim>
                                        <p:anim calcmode="lin" valueType="num">
                                          <p:cBhvr>
                                            <p:cTn id="72" dur="500" fill="hold"/>
                                            <p:tgtEl>
                                              <p:spTgt spid="47"/>
                                            </p:tgtEl>
                                            <p:attrNameLst>
                                              <p:attrName>ppt_h</p:attrName>
                                            </p:attrNameLst>
                                          </p:cBhvr>
                                          <p:tavLst>
                                            <p:tav tm="0">
                                              <p:val>
                                                <p:fltVal val="0"/>
                                              </p:val>
                                            </p:tav>
                                            <p:tav tm="100000">
                                              <p:val>
                                                <p:strVal val="#ppt_h"/>
                                              </p:val>
                                            </p:tav>
                                          </p:tavLst>
                                        </p:anim>
                                        <p:animEffect transition="in" filter="fade">
                                          <p:cBhvr>
                                            <p:cTn id="73" dur="500"/>
                                            <p:tgtEl>
                                              <p:spTgt spid="47"/>
                                            </p:tgtEl>
                                          </p:cBhvr>
                                        </p:animEffect>
                                      </p:childTnLst>
                                    </p:cTn>
                                  </p:par>
                                </p:childTnLst>
                              </p:cTn>
                            </p:par>
                            <p:par>
                              <p:cTn id="74" fill="hold">
                                <p:stCondLst>
                                  <p:cond delay="7000"/>
                                </p:stCondLst>
                                <p:childTnLst>
                                  <p:par>
                                    <p:cTn id="75" presetID="2" presetClass="entr" presetSubtype="2" fill="hold" grpId="0" nodeType="afterEffect" p14:presetBounceEnd="60000">
                                      <p:stCondLst>
                                        <p:cond delay="0"/>
                                      </p:stCondLst>
                                      <p:childTnLst>
                                        <p:set>
                                          <p:cBhvr>
                                            <p:cTn id="76" dur="1" fill="hold">
                                              <p:stCondLst>
                                                <p:cond delay="0"/>
                                              </p:stCondLst>
                                            </p:cTn>
                                            <p:tgtEl>
                                              <p:spTgt spid="90"/>
                                            </p:tgtEl>
                                            <p:attrNameLst>
                                              <p:attrName>style.visibility</p:attrName>
                                            </p:attrNameLst>
                                          </p:cBhvr>
                                          <p:to>
                                            <p:strVal val="visible"/>
                                          </p:to>
                                        </p:set>
                                        <p:anim calcmode="lin" valueType="num" p14:bounceEnd="60000">
                                          <p:cBhvr additive="base">
                                            <p:cTn id="77" dur="500" fill="hold"/>
                                            <p:tgtEl>
                                              <p:spTgt spid="90"/>
                                            </p:tgtEl>
                                            <p:attrNameLst>
                                              <p:attrName>ppt_x</p:attrName>
                                            </p:attrNameLst>
                                          </p:cBhvr>
                                          <p:tavLst>
                                            <p:tav tm="0">
                                              <p:val>
                                                <p:strVal val="1+#ppt_w/2"/>
                                              </p:val>
                                            </p:tav>
                                            <p:tav tm="100000">
                                              <p:val>
                                                <p:strVal val="#ppt_x"/>
                                              </p:val>
                                            </p:tav>
                                          </p:tavLst>
                                        </p:anim>
                                        <p:anim calcmode="lin" valueType="num" p14:bounceEnd="60000">
                                          <p:cBhvr additive="base">
                                            <p:cTn id="78" dur="500" fill="hold"/>
                                            <p:tgtEl>
                                              <p:spTgt spid="90"/>
                                            </p:tgtEl>
                                            <p:attrNameLst>
                                              <p:attrName>ppt_y</p:attrName>
                                            </p:attrNameLst>
                                          </p:cBhvr>
                                          <p:tavLst>
                                            <p:tav tm="0">
                                              <p:val>
                                                <p:strVal val="#ppt_y"/>
                                              </p:val>
                                            </p:tav>
                                            <p:tav tm="100000">
                                              <p:val>
                                                <p:strVal val="#ppt_y"/>
                                              </p:val>
                                            </p:tav>
                                          </p:tavLst>
                                        </p:anim>
                                      </p:childTnLst>
                                    </p:cTn>
                                  </p:par>
                                </p:childTnLst>
                              </p:cTn>
                            </p:par>
                            <p:par>
                              <p:cTn id="79" fill="hold">
                                <p:stCondLst>
                                  <p:cond delay="7500"/>
                                </p:stCondLst>
                                <p:childTnLst>
                                  <p:par>
                                    <p:cTn id="80" presetID="22" presetClass="entr" presetSubtype="2" fill="hold" nodeType="after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wipe(right)">
                                          <p:cBhvr>
                                            <p:cTn id="82" dur="500"/>
                                            <p:tgtEl>
                                              <p:spTgt spid="56"/>
                                            </p:tgtEl>
                                          </p:cBhvr>
                                        </p:animEffect>
                                      </p:childTnLst>
                                    </p:cTn>
                                  </p:par>
                                </p:childTnLst>
                              </p:cTn>
                            </p:par>
                            <p:par>
                              <p:cTn id="83" fill="hold">
                                <p:stCondLst>
                                  <p:cond delay="8000"/>
                                </p:stCondLst>
                                <p:childTnLst>
                                  <p:par>
                                    <p:cTn id="84" presetID="53" presetClass="entr" presetSubtype="16" fill="hold" grpId="0" nodeType="afterEffect">
                                      <p:stCondLst>
                                        <p:cond delay="0"/>
                                      </p:stCondLst>
                                      <p:childTnLst>
                                        <p:set>
                                          <p:cBhvr>
                                            <p:cTn id="85" dur="1" fill="hold">
                                              <p:stCondLst>
                                                <p:cond delay="0"/>
                                              </p:stCondLst>
                                            </p:cTn>
                                            <p:tgtEl>
                                              <p:spTgt spid="43"/>
                                            </p:tgtEl>
                                            <p:attrNameLst>
                                              <p:attrName>style.visibility</p:attrName>
                                            </p:attrNameLst>
                                          </p:cBhvr>
                                          <p:to>
                                            <p:strVal val="visible"/>
                                          </p:to>
                                        </p:set>
                                        <p:anim calcmode="lin" valueType="num">
                                          <p:cBhvr>
                                            <p:cTn id="86" dur="500" fill="hold"/>
                                            <p:tgtEl>
                                              <p:spTgt spid="43"/>
                                            </p:tgtEl>
                                            <p:attrNameLst>
                                              <p:attrName>ppt_w</p:attrName>
                                            </p:attrNameLst>
                                          </p:cBhvr>
                                          <p:tavLst>
                                            <p:tav tm="0">
                                              <p:val>
                                                <p:fltVal val="0"/>
                                              </p:val>
                                            </p:tav>
                                            <p:tav tm="100000">
                                              <p:val>
                                                <p:strVal val="#ppt_w"/>
                                              </p:val>
                                            </p:tav>
                                          </p:tavLst>
                                        </p:anim>
                                        <p:anim calcmode="lin" valueType="num">
                                          <p:cBhvr>
                                            <p:cTn id="87" dur="500" fill="hold"/>
                                            <p:tgtEl>
                                              <p:spTgt spid="43"/>
                                            </p:tgtEl>
                                            <p:attrNameLst>
                                              <p:attrName>ppt_h</p:attrName>
                                            </p:attrNameLst>
                                          </p:cBhvr>
                                          <p:tavLst>
                                            <p:tav tm="0">
                                              <p:val>
                                                <p:fltVal val="0"/>
                                              </p:val>
                                            </p:tav>
                                            <p:tav tm="100000">
                                              <p:val>
                                                <p:strVal val="#ppt_h"/>
                                              </p:val>
                                            </p:tav>
                                          </p:tavLst>
                                        </p:anim>
                                        <p:animEffect transition="in" filter="fade">
                                          <p:cBhvr>
                                            <p:cTn id="88" dur="500"/>
                                            <p:tgtEl>
                                              <p:spTgt spid="43"/>
                                            </p:tgtEl>
                                          </p:cBhvr>
                                        </p:animEffect>
                                      </p:childTnLst>
                                    </p:cTn>
                                  </p:par>
                                </p:childTnLst>
                              </p:cTn>
                            </p:par>
                            <p:par>
                              <p:cTn id="89" fill="hold">
                                <p:stCondLst>
                                  <p:cond delay="8500"/>
                                </p:stCondLst>
                                <p:childTnLst>
                                  <p:par>
                                    <p:cTn id="90" presetID="2" presetClass="entr" presetSubtype="2" fill="hold" grpId="0" nodeType="afterEffect" p14:presetBounceEnd="60000">
                                      <p:stCondLst>
                                        <p:cond delay="0"/>
                                      </p:stCondLst>
                                      <p:childTnLst>
                                        <p:set>
                                          <p:cBhvr>
                                            <p:cTn id="91" dur="1" fill="hold">
                                              <p:stCondLst>
                                                <p:cond delay="0"/>
                                              </p:stCondLst>
                                            </p:cTn>
                                            <p:tgtEl>
                                              <p:spTgt spid="87"/>
                                            </p:tgtEl>
                                            <p:attrNameLst>
                                              <p:attrName>style.visibility</p:attrName>
                                            </p:attrNameLst>
                                          </p:cBhvr>
                                          <p:to>
                                            <p:strVal val="visible"/>
                                          </p:to>
                                        </p:set>
                                        <p:anim calcmode="lin" valueType="num" p14:bounceEnd="60000">
                                          <p:cBhvr additive="base">
                                            <p:cTn id="92" dur="500" fill="hold"/>
                                            <p:tgtEl>
                                              <p:spTgt spid="87"/>
                                            </p:tgtEl>
                                            <p:attrNameLst>
                                              <p:attrName>ppt_x</p:attrName>
                                            </p:attrNameLst>
                                          </p:cBhvr>
                                          <p:tavLst>
                                            <p:tav tm="0">
                                              <p:val>
                                                <p:strVal val="1+#ppt_w/2"/>
                                              </p:val>
                                            </p:tav>
                                            <p:tav tm="100000">
                                              <p:val>
                                                <p:strVal val="#ppt_x"/>
                                              </p:val>
                                            </p:tav>
                                          </p:tavLst>
                                        </p:anim>
                                        <p:anim calcmode="lin" valueType="num" p14:bounceEnd="60000">
                                          <p:cBhvr additive="base">
                                            <p:cTn id="93" dur="500" fill="hold"/>
                                            <p:tgtEl>
                                              <p:spTgt spid="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2" grpId="0"/>
          <p:bldP spid="37" grpId="0"/>
          <p:bldP spid="43" grpId="0"/>
          <p:bldP spid="47" grpId="0"/>
          <p:bldP spid="51" grpId="0"/>
          <p:bldP spid="59" grpId="0"/>
          <p:bldP spid="65" grpId="0"/>
          <p:bldP spid="68" grpId="0"/>
          <p:bldP spid="87" grpId="0"/>
          <p:bldP spid="90" grpId="0"/>
          <p:bldP spid="9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additive="base">
                                            <p:cTn id="13" dur="500" fill="hold"/>
                                            <p:tgtEl>
                                              <p:spTgt spid="59"/>
                                            </p:tgtEl>
                                            <p:attrNameLst>
                                              <p:attrName>ppt_x</p:attrName>
                                            </p:attrNameLst>
                                          </p:cBhvr>
                                          <p:tavLst>
                                            <p:tav tm="0">
                                              <p:val>
                                                <p:strVal val="0-#ppt_w/2"/>
                                              </p:val>
                                            </p:tav>
                                            <p:tav tm="100000">
                                              <p:val>
                                                <p:strVal val="#ppt_x"/>
                                              </p:val>
                                            </p:tav>
                                          </p:tavLst>
                                        </p:anim>
                                        <p:anim calcmode="lin" valueType="num">
                                          <p:cBhvr additive="base">
                                            <p:cTn id="14" dur="500" fill="hold"/>
                                            <p:tgtEl>
                                              <p:spTgt spid="59"/>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left)">
                                          <p:cBhvr>
                                            <p:cTn id="18" dur="500"/>
                                            <p:tgtEl>
                                              <p:spTgt spid="28"/>
                                            </p:tgtEl>
                                          </p:cBhvr>
                                        </p:animEffect>
                                      </p:childTnLst>
                                    </p:cTn>
                                  </p:par>
                                </p:childTnLst>
                              </p:cTn>
                            </p:par>
                            <p:par>
                              <p:cTn id="19" fill="hold">
                                <p:stCondLst>
                                  <p:cond delay="1500"/>
                                </p:stCondLst>
                                <p:childTnLst>
                                  <p:par>
                                    <p:cTn id="20" presetID="53" presetClass="entr" presetSubtype="16"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p:cTn id="22" dur="500" fill="hold"/>
                                            <p:tgtEl>
                                              <p:spTgt spid="32"/>
                                            </p:tgtEl>
                                            <p:attrNameLst>
                                              <p:attrName>ppt_w</p:attrName>
                                            </p:attrNameLst>
                                          </p:cBhvr>
                                          <p:tavLst>
                                            <p:tav tm="0">
                                              <p:val>
                                                <p:fltVal val="0"/>
                                              </p:val>
                                            </p:tav>
                                            <p:tav tm="100000">
                                              <p:val>
                                                <p:strVal val="#ppt_w"/>
                                              </p:val>
                                            </p:tav>
                                          </p:tavLst>
                                        </p:anim>
                                        <p:anim calcmode="lin" valueType="num">
                                          <p:cBhvr>
                                            <p:cTn id="23" dur="500" fill="hold"/>
                                            <p:tgtEl>
                                              <p:spTgt spid="32"/>
                                            </p:tgtEl>
                                            <p:attrNameLst>
                                              <p:attrName>ppt_h</p:attrName>
                                            </p:attrNameLst>
                                          </p:cBhvr>
                                          <p:tavLst>
                                            <p:tav tm="0">
                                              <p:val>
                                                <p:fltVal val="0"/>
                                              </p:val>
                                            </p:tav>
                                            <p:tav tm="100000">
                                              <p:val>
                                                <p:strVal val="#ppt_h"/>
                                              </p:val>
                                            </p:tav>
                                          </p:tavLst>
                                        </p:anim>
                                        <p:animEffect transition="in" filter="fade">
                                          <p:cBhvr>
                                            <p:cTn id="24" dur="500"/>
                                            <p:tgtEl>
                                              <p:spTgt spid="32"/>
                                            </p:tgtEl>
                                          </p:cBhvr>
                                        </p:animEffect>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65"/>
                                            </p:tgtEl>
                                            <p:attrNameLst>
                                              <p:attrName>style.visibility</p:attrName>
                                            </p:attrNameLst>
                                          </p:cBhvr>
                                          <p:to>
                                            <p:strVal val="visible"/>
                                          </p:to>
                                        </p:set>
                                        <p:anim calcmode="lin" valueType="num">
                                          <p:cBhvr additive="base">
                                            <p:cTn id="28" dur="500" fill="hold"/>
                                            <p:tgtEl>
                                              <p:spTgt spid="65"/>
                                            </p:tgtEl>
                                            <p:attrNameLst>
                                              <p:attrName>ppt_x</p:attrName>
                                            </p:attrNameLst>
                                          </p:cBhvr>
                                          <p:tavLst>
                                            <p:tav tm="0">
                                              <p:val>
                                                <p:strVal val="0-#ppt_w/2"/>
                                              </p:val>
                                            </p:tav>
                                            <p:tav tm="100000">
                                              <p:val>
                                                <p:strVal val="#ppt_x"/>
                                              </p:val>
                                            </p:tav>
                                          </p:tavLst>
                                        </p:anim>
                                        <p:anim calcmode="lin" valueType="num">
                                          <p:cBhvr additive="base">
                                            <p:cTn id="29" dur="500" fill="hold"/>
                                            <p:tgtEl>
                                              <p:spTgt spid="65"/>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500"/>
                                            <p:tgtEl>
                                              <p:spTgt spid="33"/>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p:cTn id="37" dur="500" fill="hold"/>
                                            <p:tgtEl>
                                              <p:spTgt spid="37"/>
                                            </p:tgtEl>
                                            <p:attrNameLst>
                                              <p:attrName>ppt_w</p:attrName>
                                            </p:attrNameLst>
                                          </p:cBhvr>
                                          <p:tavLst>
                                            <p:tav tm="0">
                                              <p:val>
                                                <p:fltVal val="0"/>
                                              </p:val>
                                            </p:tav>
                                            <p:tav tm="100000">
                                              <p:val>
                                                <p:strVal val="#ppt_w"/>
                                              </p:val>
                                            </p:tav>
                                          </p:tavLst>
                                        </p:anim>
                                        <p:anim calcmode="lin" valueType="num">
                                          <p:cBhvr>
                                            <p:cTn id="38" dur="500" fill="hold"/>
                                            <p:tgtEl>
                                              <p:spTgt spid="37"/>
                                            </p:tgtEl>
                                            <p:attrNameLst>
                                              <p:attrName>ppt_h</p:attrName>
                                            </p:attrNameLst>
                                          </p:cBhvr>
                                          <p:tavLst>
                                            <p:tav tm="0">
                                              <p:val>
                                                <p:fltVal val="0"/>
                                              </p:val>
                                            </p:tav>
                                            <p:tav tm="100000">
                                              <p:val>
                                                <p:strVal val="#ppt_h"/>
                                              </p:val>
                                            </p:tav>
                                          </p:tavLst>
                                        </p:anim>
                                        <p:animEffect transition="in" filter="fade">
                                          <p:cBhvr>
                                            <p:cTn id="39" dur="500"/>
                                            <p:tgtEl>
                                              <p:spTgt spid="37"/>
                                            </p:tgtEl>
                                          </p:cBhvr>
                                        </p:animEffect>
                                      </p:childTnLst>
                                    </p:cTn>
                                  </p:par>
                                </p:childTnLst>
                              </p:cTn>
                            </p:par>
                            <p:par>
                              <p:cTn id="40" fill="hold">
                                <p:stCondLst>
                                  <p:cond delay="3500"/>
                                </p:stCondLst>
                                <p:childTnLst>
                                  <p:par>
                                    <p:cTn id="41" presetID="2" presetClass="entr" presetSubtype="8" fill="hold" grpId="0" nodeType="afterEffect">
                                      <p:stCondLst>
                                        <p:cond delay="0"/>
                                      </p:stCondLst>
                                      <p:childTnLst>
                                        <p:set>
                                          <p:cBhvr>
                                            <p:cTn id="42" dur="1" fill="hold">
                                              <p:stCondLst>
                                                <p:cond delay="0"/>
                                              </p:stCondLst>
                                            </p:cTn>
                                            <p:tgtEl>
                                              <p:spTgt spid="68"/>
                                            </p:tgtEl>
                                            <p:attrNameLst>
                                              <p:attrName>style.visibility</p:attrName>
                                            </p:attrNameLst>
                                          </p:cBhvr>
                                          <p:to>
                                            <p:strVal val="visible"/>
                                          </p:to>
                                        </p:set>
                                        <p:anim calcmode="lin" valueType="num">
                                          <p:cBhvr additive="base">
                                            <p:cTn id="43" dur="500" fill="hold"/>
                                            <p:tgtEl>
                                              <p:spTgt spid="68"/>
                                            </p:tgtEl>
                                            <p:attrNameLst>
                                              <p:attrName>ppt_x</p:attrName>
                                            </p:attrNameLst>
                                          </p:cBhvr>
                                          <p:tavLst>
                                            <p:tav tm="0">
                                              <p:val>
                                                <p:strVal val="0-#ppt_w/2"/>
                                              </p:val>
                                            </p:tav>
                                            <p:tav tm="100000">
                                              <p:val>
                                                <p:strVal val="#ppt_x"/>
                                              </p:val>
                                            </p:tav>
                                          </p:tavLst>
                                        </p:anim>
                                        <p:anim calcmode="lin" valueType="num">
                                          <p:cBhvr additive="base">
                                            <p:cTn id="44" dur="500" fill="hold"/>
                                            <p:tgtEl>
                                              <p:spTgt spid="68"/>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22" presetClass="entr" presetSubtype="8"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left)">
                                          <p:cBhvr>
                                            <p:cTn id="48" dur="500"/>
                                            <p:tgtEl>
                                              <p:spTgt spid="41"/>
                                            </p:tgtEl>
                                          </p:cBhvr>
                                        </p:animEffect>
                                      </p:childTnLst>
                                    </p:cTn>
                                  </p:par>
                                </p:childTnLst>
                              </p:cTn>
                            </p:par>
                            <p:par>
                              <p:cTn id="49" fill="hold">
                                <p:stCondLst>
                                  <p:cond delay="4500"/>
                                </p:stCondLst>
                                <p:childTnLst>
                                  <p:par>
                                    <p:cTn id="50" presetID="22" presetClass="entr" presetSubtype="1" fill="hold"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up)">
                                          <p:cBhvr>
                                            <p:cTn id="52" dur="500"/>
                                            <p:tgtEl>
                                              <p:spTgt spid="42"/>
                                            </p:tgtEl>
                                          </p:cBhvr>
                                        </p:animEffect>
                                      </p:childTnLst>
                                    </p:cTn>
                                  </p:par>
                                </p:childTnLst>
                              </p:cTn>
                            </p:par>
                            <p:par>
                              <p:cTn id="53" fill="hold">
                                <p:stCondLst>
                                  <p:cond delay="5000"/>
                                </p:stCondLst>
                                <p:childTnLst>
                                  <p:par>
                                    <p:cTn id="54" presetID="53" presetClass="entr" presetSubtype="16" fill="hold" grpId="0" nodeType="afterEffect">
                                      <p:stCondLst>
                                        <p:cond delay="0"/>
                                      </p:stCondLst>
                                      <p:childTnLst>
                                        <p:set>
                                          <p:cBhvr>
                                            <p:cTn id="55" dur="1" fill="hold">
                                              <p:stCondLst>
                                                <p:cond delay="0"/>
                                              </p:stCondLst>
                                            </p:cTn>
                                            <p:tgtEl>
                                              <p:spTgt spid="51"/>
                                            </p:tgtEl>
                                            <p:attrNameLst>
                                              <p:attrName>style.visibility</p:attrName>
                                            </p:attrNameLst>
                                          </p:cBhvr>
                                          <p:to>
                                            <p:strVal val="visible"/>
                                          </p:to>
                                        </p:set>
                                        <p:anim calcmode="lin" valueType="num">
                                          <p:cBhvr>
                                            <p:cTn id="56" dur="500" fill="hold"/>
                                            <p:tgtEl>
                                              <p:spTgt spid="51"/>
                                            </p:tgtEl>
                                            <p:attrNameLst>
                                              <p:attrName>ppt_w</p:attrName>
                                            </p:attrNameLst>
                                          </p:cBhvr>
                                          <p:tavLst>
                                            <p:tav tm="0">
                                              <p:val>
                                                <p:fltVal val="0"/>
                                              </p:val>
                                            </p:tav>
                                            <p:tav tm="100000">
                                              <p:val>
                                                <p:strVal val="#ppt_w"/>
                                              </p:val>
                                            </p:tav>
                                          </p:tavLst>
                                        </p:anim>
                                        <p:anim calcmode="lin" valueType="num">
                                          <p:cBhvr>
                                            <p:cTn id="57" dur="500" fill="hold"/>
                                            <p:tgtEl>
                                              <p:spTgt spid="51"/>
                                            </p:tgtEl>
                                            <p:attrNameLst>
                                              <p:attrName>ppt_h</p:attrName>
                                            </p:attrNameLst>
                                          </p:cBhvr>
                                          <p:tavLst>
                                            <p:tav tm="0">
                                              <p:val>
                                                <p:fltVal val="0"/>
                                              </p:val>
                                            </p:tav>
                                            <p:tav tm="100000">
                                              <p:val>
                                                <p:strVal val="#ppt_h"/>
                                              </p:val>
                                            </p:tav>
                                          </p:tavLst>
                                        </p:anim>
                                        <p:animEffect transition="in" filter="fade">
                                          <p:cBhvr>
                                            <p:cTn id="58" dur="500"/>
                                            <p:tgtEl>
                                              <p:spTgt spid="51"/>
                                            </p:tgtEl>
                                          </p:cBhvr>
                                        </p:animEffect>
                                      </p:childTnLst>
                                    </p:cTn>
                                  </p:par>
                                </p:childTnLst>
                              </p:cTn>
                            </p:par>
                            <p:par>
                              <p:cTn id="59" fill="hold">
                                <p:stCondLst>
                                  <p:cond delay="5500"/>
                                </p:stCondLst>
                                <p:childTnLst>
                                  <p:par>
                                    <p:cTn id="60" presetID="2" presetClass="entr" presetSubtype="2" fill="hold" grpId="0" nodeType="afterEffect">
                                      <p:stCondLst>
                                        <p:cond delay="0"/>
                                      </p:stCondLst>
                                      <p:childTnLst>
                                        <p:set>
                                          <p:cBhvr>
                                            <p:cTn id="61" dur="1" fill="hold">
                                              <p:stCondLst>
                                                <p:cond delay="0"/>
                                              </p:stCondLst>
                                            </p:cTn>
                                            <p:tgtEl>
                                              <p:spTgt spid="93"/>
                                            </p:tgtEl>
                                            <p:attrNameLst>
                                              <p:attrName>style.visibility</p:attrName>
                                            </p:attrNameLst>
                                          </p:cBhvr>
                                          <p:to>
                                            <p:strVal val="visible"/>
                                          </p:to>
                                        </p:set>
                                        <p:anim calcmode="lin" valueType="num">
                                          <p:cBhvr additive="base">
                                            <p:cTn id="62" dur="500" fill="hold"/>
                                            <p:tgtEl>
                                              <p:spTgt spid="93"/>
                                            </p:tgtEl>
                                            <p:attrNameLst>
                                              <p:attrName>ppt_x</p:attrName>
                                            </p:attrNameLst>
                                          </p:cBhvr>
                                          <p:tavLst>
                                            <p:tav tm="0">
                                              <p:val>
                                                <p:strVal val="1+#ppt_w/2"/>
                                              </p:val>
                                            </p:tav>
                                            <p:tav tm="100000">
                                              <p:val>
                                                <p:strVal val="#ppt_x"/>
                                              </p:val>
                                            </p:tav>
                                          </p:tavLst>
                                        </p:anim>
                                        <p:anim calcmode="lin" valueType="num">
                                          <p:cBhvr additive="base">
                                            <p:cTn id="63" dur="500" fill="hold"/>
                                            <p:tgtEl>
                                              <p:spTgt spid="93"/>
                                            </p:tgtEl>
                                            <p:attrNameLst>
                                              <p:attrName>ppt_y</p:attrName>
                                            </p:attrNameLst>
                                          </p:cBhvr>
                                          <p:tavLst>
                                            <p:tav tm="0">
                                              <p:val>
                                                <p:strVal val="#ppt_y"/>
                                              </p:val>
                                            </p:tav>
                                            <p:tav tm="100000">
                                              <p:val>
                                                <p:strVal val="#ppt_y"/>
                                              </p:val>
                                            </p:tav>
                                          </p:tavLst>
                                        </p:anim>
                                      </p:childTnLst>
                                    </p:cTn>
                                  </p:par>
                                </p:childTnLst>
                              </p:cTn>
                            </p:par>
                            <p:par>
                              <p:cTn id="64" fill="hold">
                                <p:stCondLst>
                                  <p:cond delay="6000"/>
                                </p:stCondLst>
                                <p:childTnLst>
                                  <p:par>
                                    <p:cTn id="65" presetID="22" presetClass="entr" presetSubtype="2" fill="hold" nodeType="after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wipe(right)">
                                          <p:cBhvr>
                                            <p:cTn id="67" dur="500"/>
                                            <p:tgtEl>
                                              <p:spTgt spid="55"/>
                                            </p:tgtEl>
                                          </p:cBhvr>
                                        </p:animEffect>
                                      </p:childTnLst>
                                    </p:cTn>
                                  </p:par>
                                </p:childTnLst>
                              </p:cTn>
                            </p:par>
                            <p:par>
                              <p:cTn id="68" fill="hold">
                                <p:stCondLst>
                                  <p:cond delay="6500"/>
                                </p:stCondLst>
                                <p:childTnLst>
                                  <p:par>
                                    <p:cTn id="69" presetID="53" presetClass="entr" presetSubtype="16" fill="hold" grpId="0" nodeType="afterEffect">
                                      <p:stCondLst>
                                        <p:cond delay="0"/>
                                      </p:stCondLst>
                                      <p:childTnLst>
                                        <p:set>
                                          <p:cBhvr>
                                            <p:cTn id="70" dur="1" fill="hold">
                                              <p:stCondLst>
                                                <p:cond delay="0"/>
                                              </p:stCondLst>
                                            </p:cTn>
                                            <p:tgtEl>
                                              <p:spTgt spid="47"/>
                                            </p:tgtEl>
                                            <p:attrNameLst>
                                              <p:attrName>style.visibility</p:attrName>
                                            </p:attrNameLst>
                                          </p:cBhvr>
                                          <p:to>
                                            <p:strVal val="visible"/>
                                          </p:to>
                                        </p:set>
                                        <p:anim calcmode="lin" valueType="num">
                                          <p:cBhvr>
                                            <p:cTn id="71" dur="500" fill="hold"/>
                                            <p:tgtEl>
                                              <p:spTgt spid="47"/>
                                            </p:tgtEl>
                                            <p:attrNameLst>
                                              <p:attrName>ppt_w</p:attrName>
                                            </p:attrNameLst>
                                          </p:cBhvr>
                                          <p:tavLst>
                                            <p:tav tm="0">
                                              <p:val>
                                                <p:fltVal val="0"/>
                                              </p:val>
                                            </p:tav>
                                            <p:tav tm="100000">
                                              <p:val>
                                                <p:strVal val="#ppt_w"/>
                                              </p:val>
                                            </p:tav>
                                          </p:tavLst>
                                        </p:anim>
                                        <p:anim calcmode="lin" valueType="num">
                                          <p:cBhvr>
                                            <p:cTn id="72" dur="500" fill="hold"/>
                                            <p:tgtEl>
                                              <p:spTgt spid="47"/>
                                            </p:tgtEl>
                                            <p:attrNameLst>
                                              <p:attrName>ppt_h</p:attrName>
                                            </p:attrNameLst>
                                          </p:cBhvr>
                                          <p:tavLst>
                                            <p:tav tm="0">
                                              <p:val>
                                                <p:fltVal val="0"/>
                                              </p:val>
                                            </p:tav>
                                            <p:tav tm="100000">
                                              <p:val>
                                                <p:strVal val="#ppt_h"/>
                                              </p:val>
                                            </p:tav>
                                          </p:tavLst>
                                        </p:anim>
                                        <p:animEffect transition="in" filter="fade">
                                          <p:cBhvr>
                                            <p:cTn id="73" dur="500"/>
                                            <p:tgtEl>
                                              <p:spTgt spid="47"/>
                                            </p:tgtEl>
                                          </p:cBhvr>
                                        </p:animEffect>
                                      </p:childTnLst>
                                    </p:cTn>
                                  </p:par>
                                </p:childTnLst>
                              </p:cTn>
                            </p:par>
                            <p:par>
                              <p:cTn id="74" fill="hold">
                                <p:stCondLst>
                                  <p:cond delay="7000"/>
                                </p:stCondLst>
                                <p:childTnLst>
                                  <p:par>
                                    <p:cTn id="75" presetID="2" presetClass="entr" presetSubtype="2" fill="hold" grpId="0" nodeType="afterEffect">
                                      <p:stCondLst>
                                        <p:cond delay="0"/>
                                      </p:stCondLst>
                                      <p:childTnLst>
                                        <p:set>
                                          <p:cBhvr>
                                            <p:cTn id="76" dur="1" fill="hold">
                                              <p:stCondLst>
                                                <p:cond delay="0"/>
                                              </p:stCondLst>
                                            </p:cTn>
                                            <p:tgtEl>
                                              <p:spTgt spid="90"/>
                                            </p:tgtEl>
                                            <p:attrNameLst>
                                              <p:attrName>style.visibility</p:attrName>
                                            </p:attrNameLst>
                                          </p:cBhvr>
                                          <p:to>
                                            <p:strVal val="visible"/>
                                          </p:to>
                                        </p:set>
                                        <p:anim calcmode="lin" valueType="num">
                                          <p:cBhvr additive="base">
                                            <p:cTn id="77" dur="500" fill="hold"/>
                                            <p:tgtEl>
                                              <p:spTgt spid="90"/>
                                            </p:tgtEl>
                                            <p:attrNameLst>
                                              <p:attrName>ppt_x</p:attrName>
                                            </p:attrNameLst>
                                          </p:cBhvr>
                                          <p:tavLst>
                                            <p:tav tm="0">
                                              <p:val>
                                                <p:strVal val="1+#ppt_w/2"/>
                                              </p:val>
                                            </p:tav>
                                            <p:tav tm="100000">
                                              <p:val>
                                                <p:strVal val="#ppt_x"/>
                                              </p:val>
                                            </p:tav>
                                          </p:tavLst>
                                        </p:anim>
                                        <p:anim calcmode="lin" valueType="num">
                                          <p:cBhvr additive="base">
                                            <p:cTn id="78" dur="500" fill="hold"/>
                                            <p:tgtEl>
                                              <p:spTgt spid="90"/>
                                            </p:tgtEl>
                                            <p:attrNameLst>
                                              <p:attrName>ppt_y</p:attrName>
                                            </p:attrNameLst>
                                          </p:cBhvr>
                                          <p:tavLst>
                                            <p:tav tm="0">
                                              <p:val>
                                                <p:strVal val="#ppt_y"/>
                                              </p:val>
                                            </p:tav>
                                            <p:tav tm="100000">
                                              <p:val>
                                                <p:strVal val="#ppt_y"/>
                                              </p:val>
                                            </p:tav>
                                          </p:tavLst>
                                        </p:anim>
                                      </p:childTnLst>
                                    </p:cTn>
                                  </p:par>
                                </p:childTnLst>
                              </p:cTn>
                            </p:par>
                            <p:par>
                              <p:cTn id="79" fill="hold">
                                <p:stCondLst>
                                  <p:cond delay="7500"/>
                                </p:stCondLst>
                                <p:childTnLst>
                                  <p:par>
                                    <p:cTn id="80" presetID="22" presetClass="entr" presetSubtype="2" fill="hold" nodeType="after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wipe(right)">
                                          <p:cBhvr>
                                            <p:cTn id="82" dur="500"/>
                                            <p:tgtEl>
                                              <p:spTgt spid="56"/>
                                            </p:tgtEl>
                                          </p:cBhvr>
                                        </p:animEffect>
                                      </p:childTnLst>
                                    </p:cTn>
                                  </p:par>
                                </p:childTnLst>
                              </p:cTn>
                            </p:par>
                            <p:par>
                              <p:cTn id="83" fill="hold">
                                <p:stCondLst>
                                  <p:cond delay="8000"/>
                                </p:stCondLst>
                                <p:childTnLst>
                                  <p:par>
                                    <p:cTn id="84" presetID="53" presetClass="entr" presetSubtype="16" fill="hold" grpId="0" nodeType="afterEffect">
                                      <p:stCondLst>
                                        <p:cond delay="0"/>
                                      </p:stCondLst>
                                      <p:childTnLst>
                                        <p:set>
                                          <p:cBhvr>
                                            <p:cTn id="85" dur="1" fill="hold">
                                              <p:stCondLst>
                                                <p:cond delay="0"/>
                                              </p:stCondLst>
                                            </p:cTn>
                                            <p:tgtEl>
                                              <p:spTgt spid="43"/>
                                            </p:tgtEl>
                                            <p:attrNameLst>
                                              <p:attrName>style.visibility</p:attrName>
                                            </p:attrNameLst>
                                          </p:cBhvr>
                                          <p:to>
                                            <p:strVal val="visible"/>
                                          </p:to>
                                        </p:set>
                                        <p:anim calcmode="lin" valueType="num">
                                          <p:cBhvr>
                                            <p:cTn id="86" dur="500" fill="hold"/>
                                            <p:tgtEl>
                                              <p:spTgt spid="43"/>
                                            </p:tgtEl>
                                            <p:attrNameLst>
                                              <p:attrName>ppt_w</p:attrName>
                                            </p:attrNameLst>
                                          </p:cBhvr>
                                          <p:tavLst>
                                            <p:tav tm="0">
                                              <p:val>
                                                <p:fltVal val="0"/>
                                              </p:val>
                                            </p:tav>
                                            <p:tav tm="100000">
                                              <p:val>
                                                <p:strVal val="#ppt_w"/>
                                              </p:val>
                                            </p:tav>
                                          </p:tavLst>
                                        </p:anim>
                                        <p:anim calcmode="lin" valueType="num">
                                          <p:cBhvr>
                                            <p:cTn id="87" dur="500" fill="hold"/>
                                            <p:tgtEl>
                                              <p:spTgt spid="43"/>
                                            </p:tgtEl>
                                            <p:attrNameLst>
                                              <p:attrName>ppt_h</p:attrName>
                                            </p:attrNameLst>
                                          </p:cBhvr>
                                          <p:tavLst>
                                            <p:tav tm="0">
                                              <p:val>
                                                <p:fltVal val="0"/>
                                              </p:val>
                                            </p:tav>
                                            <p:tav tm="100000">
                                              <p:val>
                                                <p:strVal val="#ppt_h"/>
                                              </p:val>
                                            </p:tav>
                                          </p:tavLst>
                                        </p:anim>
                                        <p:animEffect transition="in" filter="fade">
                                          <p:cBhvr>
                                            <p:cTn id="88" dur="500"/>
                                            <p:tgtEl>
                                              <p:spTgt spid="43"/>
                                            </p:tgtEl>
                                          </p:cBhvr>
                                        </p:animEffect>
                                      </p:childTnLst>
                                    </p:cTn>
                                  </p:par>
                                </p:childTnLst>
                              </p:cTn>
                            </p:par>
                            <p:par>
                              <p:cTn id="89" fill="hold">
                                <p:stCondLst>
                                  <p:cond delay="8500"/>
                                </p:stCondLst>
                                <p:childTnLst>
                                  <p:par>
                                    <p:cTn id="90" presetID="2" presetClass="entr" presetSubtype="2" fill="hold" grpId="0" nodeType="afterEffect">
                                      <p:stCondLst>
                                        <p:cond delay="0"/>
                                      </p:stCondLst>
                                      <p:childTnLst>
                                        <p:set>
                                          <p:cBhvr>
                                            <p:cTn id="91" dur="1" fill="hold">
                                              <p:stCondLst>
                                                <p:cond delay="0"/>
                                              </p:stCondLst>
                                            </p:cTn>
                                            <p:tgtEl>
                                              <p:spTgt spid="87"/>
                                            </p:tgtEl>
                                            <p:attrNameLst>
                                              <p:attrName>style.visibility</p:attrName>
                                            </p:attrNameLst>
                                          </p:cBhvr>
                                          <p:to>
                                            <p:strVal val="visible"/>
                                          </p:to>
                                        </p:set>
                                        <p:anim calcmode="lin" valueType="num">
                                          <p:cBhvr additive="base">
                                            <p:cTn id="92" dur="500" fill="hold"/>
                                            <p:tgtEl>
                                              <p:spTgt spid="87"/>
                                            </p:tgtEl>
                                            <p:attrNameLst>
                                              <p:attrName>ppt_x</p:attrName>
                                            </p:attrNameLst>
                                          </p:cBhvr>
                                          <p:tavLst>
                                            <p:tav tm="0">
                                              <p:val>
                                                <p:strVal val="1+#ppt_w/2"/>
                                              </p:val>
                                            </p:tav>
                                            <p:tav tm="100000">
                                              <p:val>
                                                <p:strVal val="#ppt_x"/>
                                              </p:val>
                                            </p:tav>
                                          </p:tavLst>
                                        </p:anim>
                                        <p:anim calcmode="lin" valueType="num">
                                          <p:cBhvr additive="base">
                                            <p:cTn id="93" dur="500" fill="hold"/>
                                            <p:tgtEl>
                                              <p:spTgt spid="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2" grpId="0"/>
          <p:bldP spid="37" grpId="0"/>
          <p:bldP spid="43" grpId="0"/>
          <p:bldP spid="47" grpId="0"/>
          <p:bldP spid="51" grpId="0"/>
          <p:bldP spid="59" grpId="0"/>
          <p:bldP spid="65" grpId="0"/>
          <p:bldP spid="68" grpId="0"/>
          <p:bldP spid="87" grpId="0"/>
          <p:bldP spid="90" grpId="0"/>
          <p:bldP spid="93"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文本框 6"/>
          <p:cNvSpPr txBox="1">
            <a:spLocks noChangeArrowheads="1"/>
          </p:cNvSpPr>
          <p:nvPr/>
        </p:nvSpPr>
        <p:spPr bwMode="auto">
          <a:xfrm>
            <a:off x="5326381" y="2941545"/>
            <a:ext cx="153924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defTabSz="685800" fontAlgn="base">
              <a:lnSpc>
                <a:spcPct val="130000"/>
              </a:lnSpc>
              <a:spcBef>
                <a:spcPct val="0"/>
              </a:spcBef>
              <a:spcAft>
                <a:spcPct val="0"/>
              </a:spcAft>
              <a:defRPr/>
            </a:pPr>
            <a:r>
              <a:rPr lang="zh-CN" altLang="en-US" sz="2665" dirty="0">
                <a:solidFill>
                  <a:schemeClr val="tx2"/>
                </a:solidFill>
                <a:latin typeface="+mn-lt"/>
                <a:ea typeface="+mn-ea"/>
                <a:cs typeface="+mn-ea"/>
                <a:sym typeface="+mn-lt"/>
              </a:rPr>
              <a:t>技术</a:t>
            </a:r>
            <a:r>
              <a:rPr lang="zh-CN" altLang="en-US" sz="2665" dirty="0">
                <a:solidFill>
                  <a:schemeClr val="tx2"/>
                </a:solidFill>
                <a:latin typeface="+mn-lt"/>
                <a:ea typeface="+mn-ea"/>
                <a:cs typeface="+mn-ea"/>
                <a:sym typeface="+mn-lt"/>
              </a:rPr>
              <a:t>难点</a:t>
            </a:r>
            <a:endParaRPr lang="zh-CN" altLang="en-US" sz="2665" dirty="0">
              <a:solidFill>
                <a:schemeClr val="tx2"/>
              </a:solidFill>
              <a:latin typeface="+mn-lt"/>
              <a:ea typeface="+mn-ea"/>
              <a:cs typeface="+mn-ea"/>
              <a:sym typeface="+mn-lt"/>
            </a:endParaRPr>
          </a:p>
        </p:txBody>
      </p:sp>
      <p:sp>
        <p:nvSpPr>
          <p:cNvPr id="180" name="文本框 6"/>
          <p:cNvSpPr txBox="1">
            <a:spLocks noChangeArrowheads="1"/>
          </p:cNvSpPr>
          <p:nvPr/>
        </p:nvSpPr>
        <p:spPr bwMode="auto">
          <a:xfrm>
            <a:off x="4958080" y="2293434"/>
            <a:ext cx="2275840" cy="625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dist" defTabSz="685800" fontAlgn="base">
              <a:lnSpc>
                <a:spcPct val="130000"/>
              </a:lnSpc>
              <a:spcBef>
                <a:spcPct val="0"/>
              </a:spcBef>
              <a:spcAft>
                <a:spcPct val="0"/>
              </a:spcAft>
              <a:defRPr/>
            </a:pPr>
            <a:r>
              <a:rPr lang="en-US" altLang="zh-CN" sz="2665" dirty="0">
                <a:solidFill>
                  <a:schemeClr val="accent1"/>
                </a:solidFill>
                <a:latin typeface="+mn-lt"/>
                <a:ea typeface="+mn-ea"/>
                <a:cs typeface="+mn-ea"/>
                <a:sym typeface="+mn-lt"/>
              </a:rPr>
              <a:t>/ </a:t>
            </a:r>
            <a:r>
              <a:rPr lang="zh-CN" altLang="en-US" sz="2665" dirty="0">
                <a:solidFill>
                  <a:schemeClr val="accent1"/>
                </a:solidFill>
                <a:latin typeface="+mn-lt"/>
                <a:ea typeface="+mn-ea"/>
                <a:cs typeface="+mn-ea"/>
                <a:sym typeface="+mn-lt"/>
              </a:rPr>
              <a:t>第</a:t>
            </a:r>
            <a:r>
              <a:rPr lang="en-US" altLang="zh-CN" sz="2665" dirty="0">
                <a:solidFill>
                  <a:schemeClr val="accent1"/>
                </a:solidFill>
                <a:latin typeface="+mn-lt"/>
                <a:ea typeface="+mn-ea"/>
                <a:cs typeface="+mn-ea"/>
                <a:sym typeface="+mn-lt"/>
              </a:rPr>
              <a:t>3</a:t>
            </a:r>
            <a:r>
              <a:rPr lang="zh-CN" altLang="en-US" sz="2665" dirty="0">
                <a:solidFill>
                  <a:schemeClr val="accent1"/>
                </a:solidFill>
                <a:latin typeface="+mn-lt"/>
                <a:ea typeface="+mn-ea"/>
                <a:cs typeface="+mn-ea"/>
                <a:sym typeface="+mn-lt"/>
              </a:rPr>
              <a:t>章 </a:t>
            </a:r>
            <a:r>
              <a:rPr lang="en-US" altLang="zh-CN" sz="2665" dirty="0">
                <a:solidFill>
                  <a:schemeClr val="accent1"/>
                </a:solidFill>
                <a:latin typeface="+mn-lt"/>
                <a:ea typeface="+mn-ea"/>
                <a:cs typeface="+mn-ea"/>
                <a:sym typeface="+mn-lt"/>
              </a:rPr>
              <a:t>/</a:t>
            </a:r>
            <a:endParaRPr lang="zh-CN" altLang="en-US" sz="2665" dirty="0">
              <a:solidFill>
                <a:schemeClr val="accent1"/>
              </a:solidFill>
              <a:latin typeface="+mn-lt"/>
              <a:ea typeface="+mn-ea"/>
              <a:cs typeface="+mn-ea"/>
              <a:sym typeface="+mn-lt"/>
            </a:endParaRPr>
          </a:p>
        </p:txBody>
      </p:sp>
      <p:sp>
        <p:nvSpPr>
          <p:cNvPr id="3" name="矩形 2"/>
          <p:cNvSpPr/>
          <p:nvPr/>
        </p:nvSpPr>
        <p:spPr>
          <a:xfrm>
            <a:off x="5301553" y="3800802"/>
            <a:ext cx="1588897" cy="502766"/>
          </a:xfrm>
          <a:prstGeom prst="rect">
            <a:avLst/>
          </a:prstGeom>
        </p:spPr>
        <p:txBody>
          <a:bodyPr wrap="none">
            <a:spAutoFit/>
          </a:bodyPr>
          <a:lstStyle/>
          <a:p>
            <a:pPr lvl="0" algn="ctr"/>
            <a:r>
              <a:rPr lang="en-US" altLang="zh-CN" sz="2665" spc="800" dirty="0">
                <a:solidFill>
                  <a:schemeClr val="accent1"/>
                </a:solidFill>
                <a:cs typeface="+mn-ea"/>
                <a:sym typeface="+mn-lt"/>
              </a:rPr>
              <a:t>//////</a:t>
            </a:r>
            <a:endParaRPr lang="zh-CN" altLang="en-US" sz="2400"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622" descr="IMG_256"/>
          <p:cNvPicPr>
            <a:picLocks noChangeAspect="1"/>
          </p:cNvPicPr>
          <p:nvPr>
            <p:custDataLst>
              <p:tags r:id="rId1"/>
            </p:custDataLst>
          </p:nvPr>
        </p:nvPicPr>
        <p:blipFill>
          <a:blip r:embed="rId2"/>
          <a:stretch>
            <a:fillRect/>
          </a:stretch>
        </p:blipFill>
        <p:spPr>
          <a:xfrm>
            <a:off x="1139508" y="4814253"/>
            <a:ext cx="2343785" cy="1828165"/>
          </a:xfrm>
          <a:prstGeom prst="rect">
            <a:avLst/>
          </a:prstGeom>
          <a:noFill/>
          <a:ln w="9525">
            <a:noFill/>
          </a:ln>
        </p:spPr>
      </p:pic>
      <p:sp>
        <p:nvSpPr>
          <p:cNvPr id="18" name="Rounded Rectangle 17"/>
          <p:cNvSpPr/>
          <p:nvPr/>
        </p:nvSpPr>
        <p:spPr>
          <a:xfrm>
            <a:off x="165735" y="1288415"/>
            <a:ext cx="3261995" cy="5456555"/>
          </a:xfrm>
          <a:prstGeom prst="roundRect">
            <a:avLst>
              <a:gd name="adj" fmla="val 4218"/>
            </a:avLst>
          </a:prstGeom>
          <a:noFill/>
          <a:ln>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3F3F3F"/>
              </a:solidFill>
              <a:effectLst/>
              <a:uLnTx/>
              <a:uFillTx/>
              <a:latin typeface="Merriweather"/>
              <a:ea typeface="+mn-ea"/>
              <a:cs typeface="+mn-cs"/>
            </a:endParaRPr>
          </a:p>
        </p:txBody>
      </p:sp>
      <p:sp>
        <p:nvSpPr>
          <p:cNvPr id="19" name="Content Placeholder 2"/>
          <p:cNvSpPr txBox="1"/>
          <p:nvPr/>
        </p:nvSpPr>
        <p:spPr>
          <a:xfrm>
            <a:off x="334010" y="1739265"/>
            <a:ext cx="2925445" cy="314706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465"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1</a:t>
            </a: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）conf-thres：</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 这个就是置信度的阈值，通俗一点来说就是网络对检测目标相信的程度.如果这里设置为0的话，那么网络只要认为这他预测的这个目标有一点点的概率是正确的目标，他都会给框出来。</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l"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2）iou-thres:</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该参数为调整IOU的阈值，更NMS息息相关，具体过程我放到NMS里面</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IOU可以理解预测框和真实框的交并比</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p:txBody>
      </p:sp>
      <p:sp>
        <p:nvSpPr>
          <p:cNvPr id="20" name="Title 13"/>
          <p:cNvSpPr txBox="1"/>
          <p:nvPr/>
        </p:nvSpPr>
        <p:spPr>
          <a:xfrm>
            <a:off x="352689" y="1288466"/>
            <a:ext cx="2819927" cy="450850"/>
          </a:xfrm>
          <a:prstGeom prst="rect">
            <a:avLst/>
          </a:prstGeom>
        </p:spPr>
        <p:txBody>
          <a:bodyPr vert="horz" lIns="121920" tIns="60960" rIns="121920" bIns="6096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135" b="0" i="0" u="none" strike="noStrike" kern="1200" cap="none" spc="0" normalizeH="0" baseline="0" noProof="0" dirty="0">
                <a:ln>
                  <a:noFill/>
                </a:ln>
                <a:solidFill>
                  <a:srgbClr val="3F3F3F"/>
                </a:solidFill>
                <a:effectLst/>
                <a:uLnTx/>
                <a:uFillTx/>
                <a:latin typeface="Lato"/>
                <a:ea typeface="+mj-ea"/>
                <a:cs typeface="+mj-cs"/>
              </a:rPr>
              <a:t>置信度</a:t>
            </a:r>
            <a:endParaRPr kumimoji="0" lang="zh-CN" altLang="en-US" sz="2135" b="0" i="0" u="none" strike="noStrike" kern="1200" cap="none" spc="0" normalizeH="0" baseline="0" noProof="0" dirty="0">
              <a:ln>
                <a:noFill/>
              </a:ln>
              <a:solidFill>
                <a:srgbClr val="3F3F3F"/>
              </a:solidFill>
              <a:effectLst/>
              <a:uLnTx/>
              <a:uFillTx/>
              <a:latin typeface="Lato"/>
              <a:ea typeface="+mj-ea"/>
              <a:cs typeface="+mj-cs"/>
            </a:endParaRPr>
          </a:p>
        </p:txBody>
      </p:sp>
      <p:sp>
        <p:nvSpPr>
          <p:cNvPr id="24" name="Rounded Rectangle 23"/>
          <p:cNvSpPr/>
          <p:nvPr/>
        </p:nvSpPr>
        <p:spPr>
          <a:xfrm>
            <a:off x="3644900" y="1287780"/>
            <a:ext cx="3258185" cy="5457190"/>
          </a:xfrm>
          <a:prstGeom prst="roundRect">
            <a:avLst>
              <a:gd name="adj" fmla="val 4218"/>
            </a:avLst>
          </a:prstGeom>
          <a:noFill/>
          <a:ln>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3F3F3F"/>
              </a:solidFill>
              <a:effectLst/>
              <a:uLnTx/>
              <a:uFillTx/>
              <a:latin typeface="Merriweather"/>
              <a:ea typeface="+mn-ea"/>
              <a:cs typeface="+mn-cs"/>
            </a:endParaRPr>
          </a:p>
        </p:txBody>
      </p:sp>
      <p:sp>
        <p:nvSpPr>
          <p:cNvPr id="25" name="Content Placeholder 2"/>
          <p:cNvSpPr txBox="1"/>
          <p:nvPr/>
        </p:nvSpPr>
        <p:spPr>
          <a:xfrm>
            <a:off x="3813810" y="1631315"/>
            <a:ext cx="2925445" cy="3110865"/>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算法的大致过程：每轮选取置信度最大的 Bounding Box（简称 BBox） 接着关注所有剩下的 BBox 中与选取的 BBox 有着高重叠（IoU）的，它们将在这一轮被抑制。这一轮选取的 BBox 会被保留输出，且不会在下一轮出现。接着开始下一轮，重复上述过程：选取置信度最大 BBox ，抑制高 IoU BBox。</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第一步：对 BBox 按置信度排序，选取置信度最高的 BBox（所以一开始置信度最高的 BBox 一定会被留下来）；</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第二步：对剩下的 BBox 和已经选取的 BBox 计算 IOU，淘汰（抑制） IOU 大于设定阈值的 BBox（在图例中这些淘汰的 BBox 的置信度被设定为0）；</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第三步：重复上述两个步骤，直到所有的 BBox 都被处理完，这时候每一轮选取的 BBox 就是最后结果。</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lang="id-ID" sz="1465" b="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a:t>
            </a:r>
            <a:endParaRPr kumimoji="0" lang="en-US" sz="1465" b="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p:txBody>
      </p:sp>
      <p:sp>
        <p:nvSpPr>
          <p:cNvPr id="26" name="Title 13"/>
          <p:cNvSpPr txBox="1"/>
          <p:nvPr/>
        </p:nvSpPr>
        <p:spPr>
          <a:xfrm>
            <a:off x="3813411" y="1275768"/>
            <a:ext cx="2819927" cy="450850"/>
          </a:xfrm>
          <a:prstGeom prst="rect">
            <a:avLst/>
          </a:prstGeom>
        </p:spPr>
        <p:txBody>
          <a:bodyPr vert="horz" lIns="121920" tIns="60960" rIns="121920" bIns="6096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135" b="0" i="0" u="none" strike="noStrike" kern="1200" cap="none" spc="0" normalizeH="0" baseline="0" noProof="0" dirty="0">
                <a:ln>
                  <a:noFill/>
                </a:ln>
                <a:solidFill>
                  <a:srgbClr val="3F3F3F"/>
                </a:solidFill>
                <a:effectLst/>
                <a:uLnTx/>
                <a:uFillTx/>
                <a:latin typeface="Lato"/>
                <a:ea typeface="+mj-ea"/>
                <a:cs typeface="+mj-cs"/>
              </a:rPr>
              <a:t>NMS</a:t>
            </a:r>
            <a:endParaRPr kumimoji="0" lang="en-US" sz="2135" b="0" i="0" u="none" strike="noStrike" kern="1200" cap="none" spc="0" normalizeH="0" baseline="0" noProof="0" dirty="0">
              <a:ln>
                <a:noFill/>
              </a:ln>
              <a:solidFill>
                <a:srgbClr val="3F3F3F"/>
              </a:solidFill>
              <a:effectLst/>
              <a:uLnTx/>
              <a:uFillTx/>
              <a:latin typeface="Lato"/>
              <a:ea typeface="+mj-ea"/>
              <a:cs typeface="+mj-cs"/>
            </a:endParaRPr>
          </a:p>
        </p:txBody>
      </p:sp>
      <p:sp>
        <p:nvSpPr>
          <p:cNvPr id="30" name="Rounded Rectangle 29"/>
          <p:cNvSpPr/>
          <p:nvPr/>
        </p:nvSpPr>
        <p:spPr>
          <a:xfrm>
            <a:off x="7063740" y="1300480"/>
            <a:ext cx="5127625" cy="5138420"/>
          </a:xfrm>
          <a:prstGeom prst="roundRect">
            <a:avLst>
              <a:gd name="adj" fmla="val 4218"/>
            </a:avLst>
          </a:prstGeom>
          <a:noFill/>
          <a:ln>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3F3F3F"/>
              </a:solidFill>
              <a:effectLst/>
              <a:uLnTx/>
              <a:uFillTx/>
              <a:latin typeface="Merriweather"/>
              <a:ea typeface="+mn-ea"/>
              <a:cs typeface="+mn-cs"/>
            </a:endParaRPr>
          </a:p>
        </p:txBody>
      </p:sp>
      <p:cxnSp>
        <p:nvCxnSpPr>
          <p:cNvPr id="42" name="Straight Connector 41"/>
          <p:cNvCxnSpPr/>
          <p:nvPr/>
        </p:nvCxnSpPr>
        <p:spPr>
          <a:xfrm>
            <a:off x="1458255" y="1727163"/>
            <a:ext cx="679914" cy="0"/>
          </a:xfrm>
          <a:prstGeom prst="line">
            <a:avLst/>
          </a:prstGeom>
          <a:ln w="28575" cap="rnd">
            <a:round/>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892942" y="1726528"/>
            <a:ext cx="679914" cy="0"/>
          </a:xfrm>
          <a:prstGeom prst="line">
            <a:avLst/>
          </a:prstGeom>
          <a:ln w="28575" cap="rnd">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783536" y="1054484"/>
            <a:ext cx="54746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TextBox 12"/>
          <p:cNvSpPr txBox="1"/>
          <p:nvPr/>
        </p:nvSpPr>
        <p:spPr>
          <a:xfrm>
            <a:off x="5224780" y="491703"/>
            <a:ext cx="1742440" cy="419735"/>
          </a:xfrm>
          <a:prstGeom prst="rect">
            <a:avLst/>
          </a:prstGeom>
          <a:noFill/>
        </p:spPr>
        <p:txBody>
          <a:bodyPr wrap="none" rtlCol="0">
            <a:spAutoFit/>
          </a:bodyPr>
          <a:lstStyle/>
          <a:p>
            <a:pPr marR="0" indent="0" algn="ctr" defTabSz="914400" fontAlgn="auto">
              <a:lnSpc>
                <a:spcPct val="80000"/>
              </a:lnSpc>
              <a:spcBef>
                <a:spcPts val="0"/>
              </a:spcBef>
              <a:spcAft>
                <a:spcPts val="0"/>
              </a:spcAft>
              <a:buClrTx/>
              <a:buSzTx/>
              <a:buFontTx/>
              <a:buNone/>
              <a:defRPr/>
            </a:pPr>
            <a:r>
              <a:rPr kumimoji="0" lang="zh-CN" altLang="en-US" sz="2665" b="0" i="0" kern="1200" cap="none" spc="400" normalizeH="0" baseline="0" noProof="0" dirty="0">
                <a:solidFill>
                  <a:srgbClr val="313C41"/>
                </a:solidFill>
                <a:latin typeface="Arvo"/>
                <a:ea typeface="+mn-ea"/>
                <a:cs typeface="Arvo"/>
              </a:rPr>
              <a:t>部分知识</a:t>
            </a:r>
            <a:endParaRPr kumimoji="0" lang="zh-CN" altLang="en-US" sz="2665" b="0" i="0" kern="1200" cap="none" spc="400" normalizeH="0" baseline="0" noProof="0" dirty="0">
              <a:solidFill>
                <a:srgbClr val="313C41"/>
              </a:solidFill>
              <a:latin typeface="Arvo"/>
              <a:ea typeface="+mn-ea"/>
              <a:cs typeface="Arvo"/>
            </a:endParaRPr>
          </a:p>
        </p:txBody>
      </p:sp>
      <p:pic>
        <p:nvPicPr>
          <p:cNvPr id="3" name="图片 2"/>
          <p:cNvPicPr>
            <a:picLocks noChangeAspect="1"/>
          </p:cNvPicPr>
          <p:nvPr>
            <p:custDataLst>
              <p:tags r:id="rId3"/>
            </p:custDataLst>
          </p:nvPr>
        </p:nvPicPr>
        <p:blipFill>
          <a:blip r:embed="rId4"/>
          <a:srcRect r="7475"/>
          <a:stretch>
            <a:fillRect/>
          </a:stretch>
        </p:blipFill>
        <p:spPr>
          <a:xfrm>
            <a:off x="7125335" y="1360805"/>
            <a:ext cx="5001260" cy="2613660"/>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7078980" y="4142105"/>
            <a:ext cx="5037455" cy="21031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6" presetClass="entr" presetSubtype="37"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barn(outVertical)">
                                      <p:cBhvr>
                                        <p:cTn id="10" dur="500"/>
                                        <p:tgtEl>
                                          <p:spTgt spid="4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up)">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6" presetClass="entr" presetSubtype="37" fill="hold"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barn(outVertical)">
                                      <p:cBhvr>
                                        <p:cTn id="23" dur="500"/>
                                        <p:tgtEl>
                                          <p:spTgt spid="43"/>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up)">
                                      <p:cBhvr>
                                        <p:cTn id="26" dur="500"/>
                                        <p:tgtEl>
                                          <p:spTgt spid="2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P spid="20" grpId="0"/>
      <p:bldP spid="24" grpId="0" bldLvl="0" animBg="1"/>
      <p:bldP spid="25" grpId="0"/>
      <p:bldP spid="26" grpId="0"/>
      <p:bldP spid="30"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p:nvPr/>
        </p:nvSpPr>
        <p:spPr>
          <a:xfrm>
            <a:off x="108585" y="1855470"/>
            <a:ext cx="2925445" cy="314706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YOLOv5代码里，关于数据增强策略还是挺多的，这里简单罗列部分方法：</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a:p>
            <a:pPr marL="0" marR="0" lvl="0" indent="0" algn="l"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Mosaic，将四张图片拼成一张图片</a:t>
            </a:r>
            <a:endParaRPr kumimoji="0" sz="120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p:txBody>
      </p:sp>
      <p:sp>
        <p:nvSpPr>
          <p:cNvPr id="24" name="Rounded Rectangle 23"/>
          <p:cNvSpPr/>
          <p:nvPr/>
        </p:nvSpPr>
        <p:spPr>
          <a:xfrm>
            <a:off x="108585" y="1287780"/>
            <a:ext cx="6794500" cy="5457190"/>
          </a:xfrm>
          <a:prstGeom prst="roundRect">
            <a:avLst>
              <a:gd name="adj" fmla="val 4218"/>
            </a:avLst>
          </a:prstGeom>
          <a:noFill/>
          <a:ln>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3F3F3F"/>
              </a:solidFill>
              <a:effectLst/>
              <a:uLnTx/>
              <a:uFillTx/>
              <a:latin typeface="Merriweather"/>
              <a:ea typeface="+mn-ea"/>
              <a:cs typeface="+mn-cs"/>
            </a:endParaRPr>
          </a:p>
        </p:txBody>
      </p:sp>
      <p:sp>
        <p:nvSpPr>
          <p:cNvPr id="25" name="Content Placeholder 2"/>
          <p:cNvSpPr txBox="1"/>
          <p:nvPr/>
        </p:nvSpPr>
        <p:spPr>
          <a:xfrm>
            <a:off x="2974975" y="1901825"/>
            <a:ext cx="3455670" cy="1168400"/>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lang="id-ID" sz="1200" b="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Copy paste，将部分目标随机的粘贴到图片中，前提是数据要有segments数据才行，即每个目标的实例分割信息。下面是Copy paste原论文中的示意图。</a:t>
            </a:r>
            <a:r>
              <a:rPr kumimoji="0" lang="id-ID" sz="1465" b="0" i="0" u="none" strike="noStrike" kern="1200" cap="none" spc="0" normalizeH="0" baseline="0" noProof="0" dirty="0">
                <a:ln>
                  <a:noFill/>
                </a:ln>
                <a:solidFill>
                  <a:srgbClr val="3F3F3F">
                    <a:lumMod val="60000"/>
                    <a:lumOff val="40000"/>
                  </a:srgbClr>
                </a:solidFill>
                <a:effectLst/>
                <a:uLnTx/>
                <a:uFillTx/>
                <a:latin typeface="Merriweather"/>
                <a:ea typeface="+mn-ea"/>
                <a:cs typeface="+mn-cs"/>
              </a:rPr>
              <a:t>-</a:t>
            </a:r>
            <a:endParaRPr kumimoji="0" lang="en-US" sz="1465" b="0" i="0" u="none" strike="noStrike" kern="1200" cap="none" spc="0" normalizeH="0" baseline="0" noProof="0" dirty="0">
              <a:ln>
                <a:noFill/>
              </a:ln>
              <a:solidFill>
                <a:srgbClr val="3F3F3F">
                  <a:lumMod val="60000"/>
                  <a:lumOff val="40000"/>
                </a:srgbClr>
              </a:solidFill>
              <a:effectLst/>
              <a:uLnTx/>
              <a:uFillTx/>
              <a:latin typeface="Merriweather"/>
              <a:ea typeface="+mn-ea"/>
              <a:cs typeface="+mn-cs"/>
            </a:endParaRPr>
          </a:p>
        </p:txBody>
      </p:sp>
      <p:sp>
        <p:nvSpPr>
          <p:cNvPr id="26" name="Title 13"/>
          <p:cNvSpPr txBox="1"/>
          <p:nvPr/>
        </p:nvSpPr>
        <p:spPr>
          <a:xfrm>
            <a:off x="2674856" y="1300533"/>
            <a:ext cx="2819927" cy="450850"/>
          </a:xfrm>
          <a:prstGeom prst="rect">
            <a:avLst/>
          </a:prstGeom>
        </p:spPr>
        <p:txBody>
          <a:bodyPr vert="horz" lIns="121920" tIns="60960" rIns="121920" bIns="6096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135" b="0" i="0" u="none" strike="noStrike" kern="1200" cap="none" spc="0" normalizeH="0" baseline="0" noProof="0" dirty="0">
                <a:ln>
                  <a:noFill/>
                </a:ln>
                <a:solidFill>
                  <a:srgbClr val="3F3F3F"/>
                </a:solidFill>
                <a:effectLst/>
                <a:uLnTx/>
                <a:uFillTx/>
                <a:latin typeface="Lato"/>
                <a:ea typeface="+mj-ea"/>
                <a:cs typeface="+mj-cs"/>
              </a:rPr>
              <a:t>数据增强</a:t>
            </a:r>
            <a:endParaRPr kumimoji="0" lang="zh-CN" altLang="en-US" sz="2135" b="0" i="0" u="none" strike="noStrike" kern="1200" cap="none" spc="0" normalizeH="0" baseline="0" noProof="0" dirty="0">
              <a:ln>
                <a:noFill/>
              </a:ln>
              <a:solidFill>
                <a:srgbClr val="3F3F3F"/>
              </a:solidFill>
              <a:effectLst/>
              <a:uLnTx/>
              <a:uFillTx/>
              <a:latin typeface="Lato"/>
              <a:ea typeface="+mj-ea"/>
              <a:cs typeface="+mj-cs"/>
            </a:endParaRPr>
          </a:p>
        </p:txBody>
      </p:sp>
      <p:sp>
        <p:nvSpPr>
          <p:cNvPr id="30" name="Rounded Rectangle 29"/>
          <p:cNvSpPr/>
          <p:nvPr/>
        </p:nvSpPr>
        <p:spPr>
          <a:xfrm>
            <a:off x="7063740" y="1300480"/>
            <a:ext cx="5127625" cy="5138420"/>
          </a:xfrm>
          <a:prstGeom prst="roundRect">
            <a:avLst>
              <a:gd name="adj" fmla="val 4218"/>
            </a:avLst>
          </a:prstGeom>
          <a:noFill/>
          <a:ln>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rgbClr val="3F3F3F"/>
              </a:solidFill>
              <a:effectLst/>
              <a:uLnTx/>
              <a:uFillTx/>
              <a:latin typeface="Merriweather"/>
              <a:ea typeface="+mn-ea"/>
              <a:cs typeface="+mn-cs"/>
            </a:endParaRPr>
          </a:p>
        </p:txBody>
      </p:sp>
      <p:cxnSp>
        <p:nvCxnSpPr>
          <p:cNvPr id="43" name="Straight Connector 42"/>
          <p:cNvCxnSpPr/>
          <p:nvPr/>
        </p:nvCxnSpPr>
        <p:spPr>
          <a:xfrm>
            <a:off x="3814077" y="1751293"/>
            <a:ext cx="679914" cy="0"/>
          </a:xfrm>
          <a:prstGeom prst="line">
            <a:avLst/>
          </a:prstGeom>
          <a:ln w="28575" cap="rnd">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783536" y="1054484"/>
            <a:ext cx="54746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TextBox 12"/>
          <p:cNvSpPr txBox="1"/>
          <p:nvPr/>
        </p:nvSpPr>
        <p:spPr>
          <a:xfrm>
            <a:off x="5224780" y="491703"/>
            <a:ext cx="1742440" cy="419735"/>
          </a:xfrm>
          <a:prstGeom prst="rect">
            <a:avLst/>
          </a:prstGeom>
          <a:noFill/>
        </p:spPr>
        <p:txBody>
          <a:bodyPr wrap="none" rtlCol="0">
            <a:spAutoFit/>
          </a:bodyPr>
          <a:lstStyle/>
          <a:p>
            <a:pPr marR="0" indent="0" algn="ctr" defTabSz="914400" fontAlgn="auto">
              <a:lnSpc>
                <a:spcPct val="80000"/>
              </a:lnSpc>
              <a:spcBef>
                <a:spcPts val="0"/>
              </a:spcBef>
              <a:spcAft>
                <a:spcPts val="0"/>
              </a:spcAft>
              <a:buClrTx/>
              <a:buSzTx/>
              <a:buFontTx/>
              <a:buNone/>
              <a:defRPr/>
            </a:pPr>
            <a:r>
              <a:rPr kumimoji="0" lang="zh-CN" altLang="en-US" sz="2665" b="0" i="0" kern="1200" cap="none" spc="400" normalizeH="0" baseline="0" noProof="0" dirty="0">
                <a:solidFill>
                  <a:srgbClr val="313C41"/>
                </a:solidFill>
                <a:latin typeface="Arvo"/>
                <a:ea typeface="+mn-ea"/>
                <a:cs typeface="Arvo"/>
              </a:rPr>
              <a:t>部分知识</a:t>
            </a:r>
            <a:endParaRPr kumimoji="0" lang="zh-CN" altLang="en-US" sz="2665" b="0" i="0" kern="1200" cap="none" spc="400" normalizeH="0" baseline="0" noProof="0" dirty="0">
              <a:solidFill>
                <a:srgbClr val="313C41"/>
              </a:solidFill>
              <a:latin typeface="Arvo"/>
              <a:ea typeface="+mn-ea"/>
              <a:cs typeface="Arvo"/>
            </a:endParaRPr>
          </a:p>
        </p:txBody>
      </p:sp>
      <p:pic>
        <p:nvPicPr>
          <p:cNvPr id="5" name="图片 4"/>
          <p:cNvPicPr>
            <a:picLocks noChangeAspect="1"/>
          </p:cNvPicPr>
          <p:nvPr>
            <p:custDataLst>
              <p:tags r:id="rId1"/>
            </p:custDataLst>
          </p:nvPr>
        </p:nvPicPr>
        <p:blipFill>
          <a:blip r:embed="rId2"/>
          <a:stretch>
            <a:fillRect/>
          </a:stretch>
        </p:blipFill>
        <p:spPr>
          <a:xfrm>
            <a:off x="108585" y="3142615"/>
            <a:ext cx="5928360" cy="2522220"/>
          </a:xfrm>
          <a:prstGeom prst="rect">
            <a:avLst/>
          </a:prstGeom>
        </p:spPr>
      </p:pic>
      <p:pic>
        <p:nvPicPr>
          <p:cNvPr id="100" name="图片 99"/>
          <p:cNvPicPr/>
          <p:nvPr>
            <p:custDataLst>
              <p:tags r:id="rId3"/>
            </p:custDataLst>
          </p:nvPr>
        </p:nvPicPr>
        <p:blipFill>
          <a:blip r:embed="rId4"/>
          <a:stretch>
            <a:fillRect/>
          </a:stretch>
        </p:blipFill>
        <p:spPr>
          <a:xfrm>
            <a:off x="6112510" y="3986530"/>
            <a:ext cx="6079490" cy="2261235"/>
          </a:xfrm>
          <a:prstGeom prst="rect">
            <a:avLst/>
          </a:prstGeom>
          <a:noFill/>
          <a:ln w="9525">
            <a:noFill/>
          </a:ln>
        </p:spPr>
      </p:pic>
      <p:sp>
        <p:nvSpPr>
          <p:cNvPr id="8" name="文本框 7"/>
          <p:cNvSpPr txBox="1"/>
          <p:nvPr/>
        </p:nvSpPr>
        <p:spPr>
          <a:xfrm>
            <a:off x="7294245" y="2848610"/>
            <a:ext cx="4666615" cy="1161415"/>
          </a:xfrm>
          <a:prstGeom prst="rect">
            <a:avLst/>
          </a:prstGeom>
          <a:noFill/>
        </p:spPr>
        <p:txBody>
          <a:bodyPr wrap="square" rtlCol="0" anchor="t">
            <a:noAutofit/>
          </a:bodyPr>
          <a:p>
            <a:r>
              <a:rPr lang="zh-CN" altLang="en-US" sz="1200">
                <a:sym typeface="+mn-ea"/>
              </a:rPr>
              <a:t>Albumentations，主要是做些滤波、直方图均衡化以及改变图片质量等等，</a:t>
            </a:r>
            <a:endParaRPr lang="zh-CN" altLang="en-US" sz="1200"/>
          </a:p>
          <a:p>
            <a:r>
              <a:rPr lang="zh-CN" altLang="en-US" sz="1200">
                <a:sym typeface="+mn-ea"/>
              </a:rPr>
              <a:t>Augment HSV(Hue, Saturation, Value)，随机调整色度，饱和度以及明度。</a:t>
            </a:r>
            <a:endParaRPr lang="zh-CN" altLang="en-US" sz="1200"/>
          </a:p>
          <a:p>
            <a:endParaRPr lang="zh-CN" altLang="en-US" sz="1200"/>
          </a:p>
        </p:txBody>
      </p:sp>
      <p:sp>
        <p:nvSpPr>
          <p:cNvPr id="9" name="文本框 8"/>
          <p:cNvSpPr txBox="1"/>
          <p:nvPr/>
        </p:nvSpPr>
        <p:spPr>
          <a:xfrm>
            <a:off x="7182485" y="1391285"/>
            <a:ext cx="4864735" cy="360045"/>
          </a:xfrm>
          <a:prstGeom prst="rect">
            <a:avLst/>
          </a:prstGeom>
          <a:noFill/>
        </p:spPr>
        <p:txBody>
          <a:bodyPr wrap="square" rtlCol="0">
            <a:noAutofit/>
          </a:bodyPr>
          <a:p>
            <a:r>
              <a:rPr lang="zh-CN" altLang="en-US" sz="1200"/>
              <a:t>Random affine(Rotation, Scale, Translation and Shear)，随机进行仿射变换，但根据配置文件里的超参数发现只使用了Scale和Translation即缩放和平移。</a:t>
            </a:r>
            <a:endParaRPr lang="zh-CN" altLang="en-US" sz="1200"/>
          </a:p>
          <a:p>
            <a:endParaRPr lang="zh-CN" altLang="en-US" sz="1200"/>
          </a:p>
          <a:p>
            <a:r>
              <a:rPr lang="zh-CN" altLang="en-US" sz="1200"/>
              <a:t>MixUp，就是将两张图片按照一定的透明度融合在一起，具体有没有用不太清楚，毕竟没有论文，也没有消融实验。代码中只有较大的模型才使用到了MixUp，而且每次只有10%的概率会使用到。</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6" presetClass="entr" presetSubtype="37" fill="hold" nodeType="with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barn(outVertical)">
                                      <p:cBhvr>
                                        <p:cTn id="14" dur="500"/>
                                        <p:tgtEl>
                                          <p:spTgt spid="43"/>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up)">
                                      <p:cBhvr>
                                        <p:cTn id="17" dur="5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bldLvl="0" animBg="1"/>
      <p:bldP spid="25" grpId="0"/>
      <p:bldP spid="26" grpId="0"/>
      <p:bldP spid="3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文本框 6"/>
          <p:cNvSpPr txBox="1">
            <a:spLocks noChangeArrowheads="1"/>
          </p:cNvSpPr>
          <p:nvPr/>
        </p:nvSpPr>
        <p:spPr bwMode="auto">
          <a:xfrm>
            <a:off x="5326381" y="2941545"/>
            <a:ext cx="153924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defTabSz="685800" fontAlgn="base">
              <a:lnSpc>
                <a:spcPct val="130000"/>
              </a:lnSpc>
              <a:spcBef>
                <a:spcPct val="0"/>
              </a:spcBef>
              <a:spcAft>
                <a:spcPct val="0"/>
              </a:spcAft>
              <a:defRPr/>
            </a:pPr>
            <a:r>
              <a:rPr lang="zh-CN" altLang="en-US" sz="2665" dirty="0">
                <a:solidFill>
                  <a:schemeClr val="tx2"/>
                </a:solidFill>
                <a:latin typeface="+mn-lt"/>
                <a:ea typeface="+mn-ea"/>
                <a:cs typeface="+mn-ea"/>
                <a:sym typeface="+mn-lt"/>
              </a:rPr>
              <a:t>项目</a:t>
            </a:r>
            <a:r>
              <a:rPr lang="zh-CN" altLang="en-US" sz="2665" dirty="0">
                <a:solidFill>
                  <a:schemeClr val="tx2"/>
                </a:solidFill>
                <a:latin typeface="+mn-lt"/>
                <a:ea typeface="+mn-ea"/>
                <a:cs typeface="+mn-ea"/>
                <a:sym typeface="+mn-lt"/>
              </a:rPr>
              <a:t>结果</a:t>
            </a:r>
            <a:endParaRPr lang="zh-CN" altLang="en-US" sz="2665" dirty="0">
              <a:solidFill>
                <a:schemeClr val="tx2"/>
              </a:solidFill>
              <a:latin typeface="+mn-lt"/>
              <a:ea typeface="+mn-ea"/>
              <a:cs typeface="+mn-ea"/>
              <a:sym typeface="+mn-lt"/>
            </a:endParaRPr>
          </a:p>
        </p:txBody>
      </p:sp>
      <p:sp>
        <p:nvSpPr>
          <p:cNvPr id="180" name="文本框 6"/>
          <p:cNvSpPr txBox="1">
            <a:spLocks noChangeArrowheads="1"/>
          </p:cNvSpPr>
          <p:nvPr/>
        </p:nvSpPr>
        <p:spPr bwMode="auto">
          <a:xfrm>
            <a:off x="4958080" y="2293434"/>
            <a:ext cx="2275840" cy="625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dist" defTabSz="685800" fontAlgn="base">
              <a:lnSpc>
                <a:spcPct val="130000"/>
              </a:lnSpc>
              <a:spcBef>
                <a:spcPct val="0"/>
              </a:spcBef>
              <a:spcAft>
                <a:spcPct val="0"/>
              </a:spcAft>
              <a:defRPr/>
            </a:pPr>
            <a:r>
              <a:rPr lang="en-US" altLang="zh-CN" sz="2665" dirty="0">
                <a:solidFill>
                  <a:schemeClr val="accent1"/>
                </a:solidFill>
                <a:latin typeface="+mn-lt"/>
                <a:ea typeface="+mn-ea"/>
                <a:cs typeface="+mn-ea"/>
                <a:sym typeface="+mn-lt"/>
              </a:rPr>
              <a:t>/ </a:t>
            </a:r>
            <a:r>
              <a:rPr lang="zh-CN" altLang="en-US" sz="2665" dirty="0">
                <a:solidFill>
                  <a:schemeClr val="accent1"/>
                </a:solidFill>
                <a:latin typeface="+mn-lt"/>
                <a:ea typeface="+mn-ea"/>
                <a:cs typeface="+mn-ea"/>
                <a:sym typeface="+mn-lt"/>
              </a:rPr>
              <a:t>第</a:t>
            </a:r>
            <a:r>
              <a:rPr lang="en-US" altLang="zh-CN" sz="2665" dirty="0">
                <a:solidFill>
                  <a:schemeClr val="accent1"/>
                </a:solidFill>
                <a:latin typeface="+mn-lt"/>
                <a:ea typeface="+mn-ea"/>
                <a:cs typeface="+mn-ea"/>
                <a:sym typeface="+mn-lt"/>
              </a:rPr>
              <a:t>4</a:t>
            </a:r>
            <a:r>
              <a:rPr lang="zh-CN" altLang="en-US" sz="2665" dirty="0">
                <a:solidFill>
                  <a:schemeClr val="accent1"/>
                </a:solidFill>
                <a:latin typeface="+mn-lt"/>
                <a:ea typeface="+mn-ea"/>
                <a:cs typeface="+mn-ea"/>
                <a:sym typeface="+mn-lt"/>
              </a:rPr>
              <a:t>章 </a:t>
            </a:r>
            <a:r>
              <a:rPr lang="en-US" altLang="zh-CN" sz="2665" dirty="0">
                <a:solidFill>
                  <a:schemeClr val="accent1"/>
                </a:solidFill>
                <a:latin typeface="+mn-lt"/>
                <a:ea typeface="+mn-ea"/>
                <a:cs typeface="+mn-ea"/>
                <a:sym typeface="+mn-lt"/>
              </a:rPr>
              <a:t>/</a:t>
            </a:r>
            <a:endParaRPr lang="zh-CN" altLang="en-US" sz="2665" dirty="0">
              <a:solidFill>
                <a:schemeClr val="accent1"/>
              </a:solidFill>
              <a:latin typeface="+mn-lt"/>
              <a:ea typeface="+mn-ea"/>
              <a:cs typeface="+mn-ea"/>
              <a:sym typeface="+mn-lt"/>
            </a:endParaRPr>
          </a:p>
        </p:txBody>
      </p:sp>
      <p:sp>
        <p:nvSpPr>
          <p:cNvPr id="3" name="矩形 2"/>
          <p:cNvSpPr/>
          <p:nvPr/>
        </p:nvSpPr>
        <p:spPr>
          <a:xfrm>
            <a:off x="5326318" y="3677612"/>
            <a:ext cx="1588897" cy="502766"/>
          </a:xfrm>
          <a:prstGeom prst="rect">
            <a:avLst/>
          </a:prstGeom>
        </p:spPr>
        <p:txBody>
          <a:bodyPr wrap="none">
            <a:spAutoFit/>
          </a:bodyPr>
          <a:lstStyle/>
          <a:p>
            <a:pPr lvl="0" algn="ctr"/>
            <a:r>
              <a:rPr lang="en-US" altLang="zh-CN" sz="2665" spc="800" dirty="0">
                <a:solidFill>
                  <a:schemeClr val="accent1"/>
                </a:solidFill>
                <a:cs typeface="+mn-ea"/>
                <a:sym typeface="+mn-lt"/>
              </a:rPr>
              <a:t>//////</a:t>
            </a:r>
            <a:endParaRPr lang="zh-CN" altLang="en-US" sz="2400"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071245" y="281940"/>
            <a:ext cx="7460615" cy="2716530"/>
          </a:xfrm>
          <a:prstGeom prst="rect">
            <a:avLst/>
          </a:prstGeom>
          <a:noFill/>
          <a:ln w="9525">
            <a:noFill/>
          </a:ln>
        </p:spPr>
        <p:txBody>
          <a:bodyPr>
            <a:noAutofit/>
          </a:bodyPr>
          <a:p>
            <a:pPr indent="0"/>
            <a:r>
              <a:rPr lang="zh-CN" b="0">
                <a:ea typeface="宋体" panose="02010600030101010101" pitchFamily="2" charset="-122"/>
              </a:rPr>
              <a:t>labels：第一个图是训练集得数据量，每个类别有多少个；第二个是框的尺寸和数量；第三个是center点的位置。可以看到</a:t>
            </a:r>
            <a:r>
              <a:rPr lang="zh-CN" b="0">
                <a:ea typeface="宋体" panose="02010600030101010101" pitchFamily="2" charset="-122"/>
              </a:rPr>
              <a:t>息肉数据集中口罩的位置大多分布在图像的中心；第四个是labeld的高宽。</a:t>
            </a:r>
            <a:r>
              <a:rPr lang="zh-CN" b="0">
                <a:ea typeface="宋体" panose="02010600030101010101" pitchFamily="2" charset="-122"/>
              </a:rPr>
              <a:t>息肉一般相比于整个图片比较小，所以看到样本大多分布在（0-0.3，0-0.3）。</a:t>
            </a:r>
            <a:endParaRPr lang="zh-CN" altLang="en-US" b="0">
              <a:ea typeface="宋体" panose="02010600030101010101" pitchFamily="2" charset="-122"/>
            </a:endParaRPr>
          </a:p>
        </p:txBody>
      </p:sp>
      <p:pic>
        <p:nvPicPr>
          <p:cNvPr id="2" name="图片 1"/>
          <p:cNvPicPr/>
          <p:nvPr/>
        </p:nvPicPr>
        <p:blipFill>
          <a:blip r:embed="rId1"/>
          <a:stretch>
            <a:fillRect/>
          </a:stretch>
        </p:blipFill>
        <p:spPr>
          <a:xfrm>
            <a:off x="2099945" y="2588895"/>
            <a:ext cx="5468620" cy="426974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文本框 100"/>
          <p:cNvSpPr txBox="1"/>
          <p:nvPr/>
        </p:nvSpPr>
        <p:spPr>
          <a:xfrm>
            <a:off x="399415" y="1443355"/>
            <a:ext cx="3935730" cy="3971925"/>
          </a:xfrm>
          <a:prstGeom prst="rect">
            <a:avLst/>
          </a:prstGeom>
          <a:noFill/>
          <a:ln w="9525">
            <a:noFill/>
          </a:ln>
        </p:spPr>
        <p:txBody>
          <a:bodyPr>
            <a:noAutofit/>
          </a:bodyPr>
          <a:p>
            <a:pPr indent="0"/>
            <a:r>
              <a:rPr lang="zh-CN" b="0">
                <a:ea typeface="宋体" panose="02010600030101010101" pitchFamily="2" charset="-122"/>
              </a:rPr>
              <a:t>labels_correlogram：第一行图表明中心点横坐标x的分布情况，可以看到大部分集中在整幅图的中心位置；第二行图表明中心点纵坐标y的分布情况，可以看到大部分集中在整幅图的中心位置；第三行图表明框的宽的分布情况，可以看到大部分框的宽的大小大概是整幅图的宽的五分之一；第四行图表明框的高的分布情况，可以看到大部分框的高的大小低于整幅图的高的一半</a:t>
            </a:r>
            <a:endParaRPr lang="zh-CN" altLang="en-US" b="0">
              <a:ea typeface="宋体" panose="02010600030101010101" pitchFamily="2" charset="-122"/>
            </a:endParaRPr>
          </a:p>
        </p:txBody>
      </p:sp>
      <p:pic>
        <p:nvPicPr>
          <p:cNvPr id="2" name="图片 -2147482596"/>
          <p:cNvPicPr>
            <a:picLocks noChangeAspect="1"/>
          </p:cNvPicPr>
          <p:nvPr>
            <p:custDataLst>
              <p:tags r:id="rId1"/>
            </p:custDataLst>
          </p:nvPr>
        </p:nvPicPr>
        <p:blipFill>
          <a:blip r:embed="rId2"/>
          <a:stretch>
            <a:fillRect/>
          </a:stretch>
        </p:blipFill>
        <p:spPr>
          <a:xfrm>
            <a:off x="4974590" y="358140"/>
            <a:ext cx="6141085" cy="614108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文本框 100"/>
          <p:cNvSpPr txBox="1"/>
          <p:nvPr/>
        </p:nvSpPr>
        <p:spPr>
          <a:xfrm>
            <a:off x="312420" y="309880"/>
            <a:ext cx="6677025" cy="1661160"/>
          </a:xfrm>
          <a:prstGeom prst="rect">
            <a:avLst/>
          </a:prstGeom>
          <a:noFill/>
          <a:ln w="9525">
            <a:noFill/>
          </a:ln>
        </p:spPr>
        <p:txBody>
          <a:bodyPr>
            <a:noAutofit/>
          </a:bodyPr>
          <a:p>
            <a:pPr indent="0"/>
            <a:r>
              <a:rPr lang="zh-CN" b="0">
                <a:ea typeface="宋体" panose="02010600030101010101" pitchFamily="2" charset="-122"/>
              </a:rPr>
              <a:t>混淆矩阵：每一行是预测类别。每一列是真实类别。矩阵中Aij的含义是：第j个类别被预测为第i个类别的概率。</a:t>
            </a:r>
            <a:endParaRPr lang="zh-CN" altLang="en-US" b="0">
              <a:ea typeface="宋体" panose="02010600030101010101" pitchFamily="2" charset="-122"/>
            </a:endParaRPr>
          </a:p>
        </p:txBody>
      </p:sp>
      <p:pic>
        <p:nvPicPr>
          <p:cNvPr id="2" name="图片 1"/>
          <p:cNvPicPr/>
          <p:nvPr/>
        </p:nvPicPr>
        <p:blipFill>
          <a:blip r:embed="rId1"/>
          <a:stretch>
            <a:fillRect/>
          </a:stretch>
        </p:blipFill>
        <p:spPr>
          <a:xfrm>
            <a:off x="312420" y="1508760"/>
            <a:ext cx="6235065" cy="510794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文本框 103"/>
          <p:cNvSpPr txBox="1"/>
          <p:nvPr/>
        </p:nvSpPr>
        <p:spPr>
          <a:xfrm>
            <a:off x="603885" y="891222"/>
            <a:ext cx="5080000" cy="922020"/>
          </a:xfrm>
          <a:prstGeom prst="rect">
            <a:avLst/>
          </a:prstGeom>
          <a:noFill/>
          <a:ln w="9525">
            <a:noFill/>
          </a:ln>
        </p:spPr>
        <p:txBody>
          <a:bodyPr>
            <a:spAutoFit/>
          </a:bodyPr>
          <a:p>
            <a:pPr indent="0"/>
            <a:r>
              <a:rPr lang="en-US" altLang="zh-CN">
                <a:ea typeface="宋体" panose="02010600030101010101" pitchFamily="2" charset="-122"/>
                <a:sym typeface="+mn-ea"/>
              </a:rPr>
              <a:t>P</a:t>
            </a:r>
            <a:r>
              <a:rPr lang="zh-CN">
                <a:ea typeface="宋体" panose="02010600030101010101" pitchFamily="2" charset="-122"/>
                <a:sym typeface="+mn-ea"/>
              </a:rPr>
              <a:t>_curve</a:t>
            </a:r>
            <a:r>
              <a:rPr lang="zh-CN" b="0">
                <a:ea typeface="宋体" panose="02010600030101010101" pitchFamily="2" charset="-122"/>
              </a:rPr>
              <a:t>：precision（单一类准确率） : 预测为positive的准确率。</a:t>
            </a:r>
            <a:endParaRPr lang="zh-CN" altLang="en-US" b="0">
              <a:ea typeface="宋体" panose="02010600030101010101" pitchFamily="2" charset="-122"/>
            </a:endParaRPr>
          </a:p>
        </p:txBody>
      </p:sp>
      <p:pic>
        <p:nvPicPr>
          <p:cNvPr id="3" name="图片 2"/>
          <p:cNvPicPr/>
          <p:nvPr/>
        </p:nvPicPr>
        <p:blipFill>
          <a:blip r:embed="rId1"/>
          <a:stretch>
            <a:fillRect/>
          </a:stretch>
        </p:blipFill>
        <p:spPr>
          <a:xfrm>
            <a:off x="272415" y="2271712"/>
            <a:ext cx="5743575" cy="3829050"/>
          </a:xfrm>
          <a:prstGeom prst="rect">
            <a:avLst/>
          </a:prstGeom>
          <a:noFill/>
          <a:ln w="9525">
            <a:noFill/>
          </a:ln>
        </p:spPr>
      </p:pic>
      <p:sp>
        <p:nvSpPr>
          <p:cNvPr id="105" name="文本框 104"/>
          <p:cNvSpPr txBox="1"/>
          <p:nvPr/>
        </p:nvSpPr>
        <p:spPr>
          <a:xfrm>
            <a:off x="6347460" y="-217487"/>
            <a:ext cx="5080000" cy="2030095"/>
          </a:xfrm>
          <a:prstGeom prst="rect">
            <a:avLst/>
          </a:prstGeom>
          <a:noFill/>
          <a:ln w="9525">
            <a:noFill/>
          </a:ln>
        </p:spPr>
        <p:txBody>
          <a:bodyPr>
            <a:spAutoFit/>
          </a:bodyPr>
          <a:p>
            <a:pPr indent="0"/>
            <a:r>
              <a:rPr lang="en-US" b="0">
                <a:latin typeface="仿宋" panose="02010609060101010101" charset="-122"/>
                <a:ea typeface="宋体" panose="02010600030101010101" pitchFamily="2" charset="-122"/>
              </a:rPr>
              <a:t>   </a:t>
            </a:r>
            <a:r>
              <a:rPr lang="zh-CN" b="0">
                <a:ea typeface="宋体" panose="02010600030101010101" pitchFamily="2" charset="-122"/>
              </a:rPr>
              <a:t>R_curve：recall（真实为positive的准确率），即正样本有多少被找出来了（召回了多少）。</a:t>
            </a:r>
            <a:endParaRPr lang="zh-CN" altLang="en-US" b="0">
              <a:ea typeface="宋体" panose="02010600030101010101" pitchFamily="2" charset="-122"/>
            </a:endParaRPr>
          </a:p>
        </p:txBody>
      </p:sp>
      <p:pic>
        <p:nvPicPr>
          <p:cNvPr id="4" name="图片 3"/>
          <p:cNvPicPr/>
          <p:nvPr/>
        </p:nvPicPr>
        <p:blipFill>
          <a:blip r:embed="rId2"/>
          <a:stretch>
            <a:fillRect/>
          </a:stretch>
        </p:blipFill>
        <p:spPr>
          <a:xfrm>
            <a:off x="6015990" y="2271078"/>
            <a:ext cx="5743575" cy="38290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文本框 105"/>
          <p:cNvSpPr txBox="1"/>
          <p:nvPr/>
        </p:nvSpPr>
        <p:spPr>
          <a:xfrm>
            <a:off x="260350" y="114935"/>
            <a:ext cx="7432040" cy="1035050"/>
          </a:xfrm>
          <a:prstGeom prst="rect">
            <a:avLst/>
          </a:prstGeom>
          <a:noFill/>
          <a:ln w="9525">
            <a:noFill/>
          </a:ln>
        </p:spPr>
        <p:txBody>
          <a:bodyPr>
            <a:noAutofit/>
          </a:bodyPr>
          <a:p>
            <a:pPr indent="0"/>
            <a:r>
              <a:rPr lang="zh-CN" b="0">
                <a:ea typeface="宋体" panose="02010600030101010101" pitchFamily="2" charset="-122"/>
              </a:rPr>
              <a:t>F1分数：同时考虑了精度和召回率两个指标。综合考虑漏检和误</a:t>
            </a:r>
            <a:endParaRPr lang="zh-CN" b="0">
              <a:ea typeface="宋体" panose="02010600030101010101" pitchFamily="2" charset="-122"/>
            </a:endParaRPr>
          </a:p>
          <a:p>
            <a:pPr indent="0"/>
            <a:r>
              <a:rPr lang="zh-CN" b="0">
                <a:ea typeface="宋体" panose="02010600030101010101" pitchFamily="2" charset="-122"/>
              </a:rPr>
              <a:t>检情况，定义为精度和召回率的调和平均值</a:t>
            </a:r>
            <a:endParaRPr lang="zh-CN" b="0">
              <a:ea typeface="宋体" panose="02010600030101010101" pitchFamily="2" charset="-122"/>
            </a:endParaRPr>
          </a:p>
        </p:txBody>
      </p:sp>
      <p:pic>
        <p:nvPicPr>
          <p:cNvPr id="3" name="图片 2"/>
          <p:cNvPicPr/>
          <p:nvPr/>
        </p:nvPicPr>
        <p:blipFill>
          <a:blip r:embed="rId1"/>
          <a:stretch>
            <a:fillRect/>
          </a:stretch>
        </p:blipFill>
        <p:spPr>
          <a:xfrm>
            <a:off x="260350" y="2370455"/>
            <a:ext cx="5398770" cy="3948430"/>
          </a:xfrm>
          <a:prstGeom prst="rect">
            <a:avLst/>
          </a:prstGeom>
          <a:noFill/>
          <a:ln w="9525">
            <a:noFill/>
          </a:ln>
        </p:spPr>
      </p:pic>
      <p:pic>
        <p:nvPicPr>
          <p:cNvPr id="4" name="图片 3" descr="PR_curve"/>
          <p:cNvPicPr>
            <a:picLocks noChangeAspect="1"/>
          </p:cNvPicPr>
          <p:nvPr/>
        </p:nvPicPr>
        <p:blipFill>
          <a:blip r:embed="rId2"/>
          <a:stretch>
            <a:fillRect/>
          </a:stretch>
        </p:blipFill>
        <p:spPr>
          <a:xfrm>
            <a:off x="5728335" y="2284095"/>
            <a:ext cx="6388735" cy="4258945"/>
          </a:xfrm>
          <a:prstGeom prst="rect">
            <a:avLst/>
          </a:prstGeom>
        </p:spPr>
      </p:pic>
      <p:sp>
        <p:nvSpPr>
          <p:cNvPr id="5" name="文本框 4"/>
          <p:cNvSpPr txBox="1"/>
          <p:nvPr/>
        </p:nvSpPr>
        <p:spPr>
          <a:xfrm>
            <a:off x="349885" y="1558925"/>
            <a:ext cx="6096000" cy="645160"/>
          </a:xfrm>
          <a:prstGeom prst="rect">
            <a:avLst/>
          </a:prstGeom>
          <a:noFill/>
        </p:spPr>
        <p:txBody>
          <a:bodyPr wrap="square" rtlCol="0" anchor="t">
            <a:spAutoFit/>
          </a:bodyPr>
          <a:p>
            <a:r>
              <a:rPr lang="en-US" altLang="zh-CN"/>
              <a:t>PR</a:t>
            </a:r>
            <a:r>
              <a:rPr lang="zh-CN" altLang="en-US">
                <a:ea typeface="宋体" panose="02010600030101010101" pitchFamily="2" charset="-122"/>
              </a:rPr>
              <a:t>：</a:t>
            </a:r>
            <a:r>
              <a:rPr lang="zh-CN" altLang="en-US"/>
              <a:t>把每个类别所有检测目标进行得分排序，检测目标得分从大到小依次算精准率和召回率，也就获得了PR曲线</a:t>
            </a:r>
            <a:endParaRPr lang="zh-CN" altLang="en-US"/>
          </a:p>
        </p:txBody>
      </p:sp>
      <p:pic>
        <p:nvPicPr>
          <p:cNvPr id="6" name="图片 5"/>
          <p:cNvPicPr>
            <a:picLocks noChangeAspect="1"/>
          </p:cNvPicPr>
          <p:nvPr>
            <p:custDataLst>
              <p:tags r:id="rId3"/>
            </p:custDataLst>
          </p:nvPr>
        </p:nvPicPr>
        <p:blipFill>
          <a:blip r:embed="rId4"/>
          <a:stretch>
            <a:fillRect/>
          </a:stretch>
        </p:blipFill>
        <p:spPr>
          <a:xfrm>
            <a:off x="4361180" y="821055"/>
            <a:ext cx="4619625" cy="5715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591" descr="results"/>
          <p:cNvPicPr>
            <a:picLocks noChangeAspect="1"/>
          </p:cNvPicPr>
          <p:nvPr>
            <p:custDataLst>
              <p:tags r:id="rId1"/>
            </p:custDataLst>
          </p:nvPr>
        </p:nvPicPr>
        <p:blipFill>
          <a:blip r:embed="rId2"/>
          <a:stretch>
            <a:fillRect/>
          </a:stretch>
        </p:blipFill>
        <p:spPr>
          <a:xfrm>
            <a:off x="3489325" y="2327275"/>
            <a:ext cx="8499475" cy="4249420"/>
          </a:xfrm>
          <a:prstGeom prst="rect">
            <a:avLst/>
          </a:prstGeom>
          <a:noFill/>
          <a:ln w="9525">
            <a:noFill/>
          </a:ln>
        </p:spPr>
      </p:pic>
      <p:sp>
        <p:nvSpPr>
          <p:cNvPr id="108" name="文本框 107"/>
          <p:cNvSpPr txBox="1"/>
          <p:nvPr/>
        </p:nvSpPr>
        <p:spPr>
          <a:xfrm>
            <a:off x="187325" y="106680"/>
            <a:ext cx="7571740" cy="1753235"/>
          </a:xfrm>
          <a:prstGeom prst="rect">
            <a:avLst/>
          </a:prstGeom>
          <a:noFill/>
          <a:ln w="9525">
            <a:noFill/>
          </a:ln>
        </p:spPr>
        <p:txBody>
          <a:bodyPr wrap="square">
            <a:spAutoFit/>
          </a:bodyPr>
          <a:p>
            <a:pPr indent="0"/>
            <a:r>
              <a:rPr lang="zh-CN" b="0">
                <a:ea typeface="宋体" panose="02010600030101010101" pitchFamily="2" charset="-122"/>
              </a:rPr>
              <a:t>损失函数是用来衡量模型预测值和真实值不一样的程度，极大程度上决定了模型的性能。</a:t>
            </a:r>
            <a:endParaRPr lang="zh-CN" b="0">
              <a:ea typeface="宋体" panose="02010600030101010101" pitchFamily="2" charset="-122"/>
            </a:endParaRPr>
          </a:p>
          <a:p>
            <a:pPr indent="0"/>
            <a:r>
              <a:rPr lang="zh-CN">
                <a:ea typeface="宋体" panose="02010600030101010101" pitchFamily="2" charset="-122"/>
                <a:sym typeface="+mn-ea"/>
              </a:rPr>
              <a:t>定位损失box_loss：预测框与标定框之间的误差（GIoU）置信度损失obj_loss：计算网络的置信度分类损失cls_loss：计算锚框与对应的标定分类是否正确</a:t>
            </a:r>
            <a:endParaRPr lang="zh-CN" altLang="en-US" b="0">
              <a:ea typeface="宋体" panose="02010600030101010101" pitchFamily="2" charset="-122"/>
            </a:endParaRPr>
          </a:p>
          <a:p>
            <a:pPr indent="0"/>
            <a:endParaRPr lang="zh-CN" altLang="en-US" b="0">
              <a:ea typeface="宋体" panose="02010600030101010101" pitchFamily="2" charset="-122"/>
            </a:endParaRPr>
          </a:p>
        </p:txBody>
      </p:sp>
      <p:sp>
        <p:nvSpPr>
          <p:cNvPr id="4" name="文本框 3"/>
          <p:cNvSpPr txBox="1"/>
          <p:nvPr/>
        </p:nvSpPr>
        <p:spPr>
          <a:xfrm>
            <a:off x="187325" y="1892935"/>
            <a:ext cx="5080000" cy="368300"/>
          </a:xfrm>
          <a:prstGeom prst="rect">
            <a:avLst/>
          </a:prstGeom>
          <a:noFill/>
          <a:ln w="9525">
            <a:noFill/>
          </a:ln>
        </p:spPr>
        <p:txBody>
          <a:bodyPr>
            <a:spAutoFit/>
          </a:bodyPr>
          <a:p>
            <a:pPr indent="0"/>
            <a:r>
              <a:rPr lang="zh-CN" b="0">
                <a:ea typeface="宋体" panose="02010600030101010101" pitchFamily="2" charset="-122"/>
              </a:rPr>
              <a:t>mAP@0.5：表示阈值大于0.5的平均mAP</a:t>
            </a:r>
            <a:endParaRPr lang="zh-CN" altLang="en-US" b="0">
              <a:ea typeface="宋体" panose="02010600030101010101" pitchFamily="2" charset="-122"/>
            </a:endParaRPr>
          </a:p>
        </p:txBody>
      </p:sp>
      <p:sp>
        <p:nvSpPr>
          <p:cNvPr id="5" name="文本框 4"/>
          <p:cNvSpPr txBox="1"/>
          <p:nvPr/>
        </p:nvSpPr>
        <p:spPr>
          <a:xfrm>
            <a:off x="73025" y="2294890"/>
            <a:ext cx="3519805" cy="4260850"/>
          </a:xfrm>
          <a:prstGeom prst="rect">
            <a:avLst/>
          </a:prstGeom>
          <a:noFill/>
        </p:spPr>
        <p:txBody>
          <a:bodyPr wrap="square" rtlCol="0" anchor="t">
            <a:noAutofit/>
          </a:bodyPr>
          <a:p>
            <a:r>
              <a:rPr lang="zh-CN" altLang="en-US"/>
              <a:t>项目里，</a:t>
            </a:r>
            <a:r>
              <a:rPr lang="zh-CN" altLang="en-US"/>
              <a:t>指在固定IoU阈值T2、改变置信度阈值T1的前提下</a:t>
            </a:r>
            <a:endParaRPr lang="zh-CN" altLang="en-US"/>
          </a:p>
          <a:p>
            <a:r>
              <a:rPr lang="zh-CN" altLang="en-US"/>
              <a:t>计算（要求T2 = 0.5）</a:t>
            </a:r>
            <a:endParaRPr lang="zh-CN" altLang="en-US"/>
          </a:p>
          <a:p>
            <a:r>
              <a:rPr lang="zh-CN" altLang="en-US"/>
              <a:t>平均精度（AP@0.5）用来衡量模型的分类性能，定义为在 IoU 阈值设定为</a:t>
            </a:r>
            <a:endParaRPr lang="zh-CN" altLang="en-US"/>
          </a:p>
          <a:p>
            <a:r>
              <a:rPr lang="zh-CN" altLang="en-US"/>
              <a:t>0.5 的前提下，改变置信度阈值得到的 P-R（Precision-Recall）曲线下的面积。</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文本框 6"/>
          <p:cNvSpPr txBox="1">
            <a:spLocks noChangeArrowheads="1"/>
          </p:cNvSpPr>
          <p:nvPr/>
        </p:nvSpPr>
        <p:spPr bwMode="auto">
          <a:xfrm>
            <a:off x="5326381" y="2941545"/>
            <a:ext cx="153924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defTabSz="685800" fontAlgn="base">
              <a:lnSpc>
                <a:spcPct val="130000"/>
              </a:lnSpc>
              <a:spcBef>
                <a:spcPct val="0"/>
              </a:spcBef>
              <a:spcAft>
                <a:spcPct val="0"/>
              </a:spcAft>
              <a:defRPr/>
            </a:pPr>
            <a:r>
              <a:rPr lang="zh-CN" altLang="en-US" sz="2665" dirty="0">
                <a:solidFill>
                  <a:schemeClr val="tx2"/>
                </a:solidFill>
                <a:latin typeface="+mn-lt"/>
                <a:ea typeface="+mn-ea"/>
                <a:cs typeface="+mn-ea"/>
                <a:sym typeface="+mn-lt"/>
              </a:rPr>
              <a:t>项目</a:t>
            </a:r>
            <a:r>
              <a:rPr lang="zh-CN" altLang="en-US" sz="2665" dirty="0">
                <a:solidFill>
                  <a:schemeClr val="tx2"/>
                </a:solidFill>
                <a:latin typeface="+mn-lt"/>
                <a:ea typeface="+mn-ea"/>
                <a:cs typeface="+mn-ea"/>
                <a:sym typeface="+mn-lt"/>
              </a:rPr>
              <a:t>总结</a:t>
            </a:r>
            <a:endParaRPr lang="zh-CN" altLang="en-US" sz="2665" dirty="0">
              <a:solidFill>
                <a:schemeClr val="tx2"/>
              </a:solidFill>
              <a:latin typeface="+mn-lt"/>
              <a:ea typeface="+mn-ea"/>
              <a:cs typeface="+mn-ea"/>
              <a:sym typeface="+mn-lt"/>
            </a:endParaRPr>
          </a:p>
        </p:txBody>
      </p:sp>
      <p:sp>
        <p:nvSpPr>
          <p:cNvPr id="180" name="文本框 6"/>
          <p:cNvSpPr txBox="1">
            <a:spLocks noChangeArrowheads="1"/>
          </p:cNvSpPr>
          <p:nvPr/>
        </p:nvSpPr>
        <p:spPr bwMode="auto">
          <a:xfrm>
            <a:off x="4958080" y="2293434"/>
            <a:ext cx="227584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dist" defTabSz="685800" fontAlgn="base">
              <a:lnSpc>
                <a:spcPct val="130000"/>
              </a:lnSpc>
              <a:spcBef>
                <a:spcPct val="0"/>
              </a:spcBef>
              <a:spcAft>
                <a:spcPct val="0"/>
              </a:spcAft>
              <a:defRPr/>
            </a:pPr>
            <a:r>
              <a:rPr lang="en-US" altLang="zh-CN" sz="2665" dirty="0">
                <a:solidFill>
                  <a:schemeClr val="accent1"/>
                </a:solidFill>
                <a:latin typeface="+mn-lt"/>
                <a:ea typeface="+mn-ea"/>
                <a:cs typeface="+mn-ea"/>
                <a:sym typeface="+mn-lt"/>
              </a:rPr>
              <a:t>/ </a:t>
            </a:r>
            <a:r>
              <a:rPr lang="zh-CN" altLang="en-US" sz="2665" dirty="0">
                <a:solidFill>
                  <a:schemeClr val="accent1"/>
                </a:solidFill>
                <a:latin typeface="+mn-lt"/>
                <a:ea typeface="+mn-ea"/>
                <a:cs typeface="+mn-ea"/>
                <a:sym typeface="+mn-lt"/>
              </a:rPr>
              <a:t>第</a:t>
            </a:r>
            <a:r>
              <a:rPr lang="en-US" altLang="zh-CN" sz="2665" dirty="0">
                <a:solidFill>
                  <a:schemeClr val="accent1"/>
                </a:solidFill>
                <a:latin typeface="+mn-lt"/>
                <a:ea typeface="+mn-ea"/>
                <a:cs typeface="+mn-ea"/>
                <a:sym typeface="+mn-lt"/>
              </a:rPr>
              <a:t>5</a:t>
            </a:r>
            <a:r>
              <a:rPr lang="zh-CN" altLang="en-US" sz="2665" dirty="0">
                <a:solidFill>
                  <a:schemeClr val="accent1"/>
                </a:solidFill>
                <a:latin typeface="+mn-lt"/>
                <a:ea typeface="+mn-ea"/>
                <a:cs typeface="+mn-ea"/>
                <a:sym typeface="+mn-lt"/>
              </a:rPr>
              <a:t>章 </a:t>
            </a:r>
            <a:r>
              <a:rPr lang="en-US" altLang="zh-CN" sz="2665" dirty="0">
                <a:solidFill>
                  <a:schemeClr val="accent1"/>
                </a:solidFill>
                <a:latin typeface="+mn-lt"/>
                <a:ea typeface="+mn-ea"/>
                <a:cs typeface="+mn-ea"/>
                <a:sym typeface="+mn-lt"/>
              </a:rPr>
              <a:t>/</a:t>
            </a:r>
            <a:endParaRPr lang="zh-CN" altLang="en-US" sz="2665" dirty="0">
              <a:solidFill>
                <a:schemeClr val="accent1"/>
              </a:solidFill>
              <a:latin typeface="+mn-lt"/>
              <a:ea typeface="+mn-ea"/>
              <a:cs typeface="+mn-ea"/>
              <a:sym typeface="+mn-lt"/>
            </a:endParaRPr>
          </a:p>
        </p:txBody>
      </p:sp>
      <p:sp>
        <p:nvSpPr>
          <p:cNvPr id="3" name="矩形 2"/>
          <p:cNvSpPr/>
          <p:nvPr/>
        </p:nvSpPr>
        <p:spPr>
          <a:xfrm>
            <a:off x="5326318" y="3677612"/>
            <a:ext cx="1588897" cy="502766"/>
          </a:xfrm>
          <a:prstGeom prst="rect">
            <a:avLst/>
          </a:prstGeom>
        </p:spPr>
        <p:txBody>
          <a:bodyPr wrap="none">
            <a:spAutoFit/>
          </a:bodyPr>
          <a:lstStyle/>
          <a:p>
            <a:pPr lvl="0" algn="ctr"/>
            <a:r>
              <a:rPr lang="en-US" altLang="zh-CN" sz="2665" spc="800" dirty="0">
                <a:solidFill>
                  <a:schemeClr val="accent1"/>
                </a:solidFill>
                <a:cs typeface="+mn-ea"/>
                <a:sym typeface="+mn-lt"/>
              </a:rPr>
              <a:t>//////</a:t>
            </a:r>
            <a:endParaRPr lang="zh-CN" altLang="en-US" sz="2400"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64490" y="965835"/>
            <a:ext cx="8635365" cy="4491355"/>
          </a:xfrm>
          <a:prstGeom prst="rect">
            <a:avLst/>
          </a:prstGeom>
          <a:noFill/>
          <a:ln w="9525">
            <a:noFill/>
          </a:ln>
        </p:spPr>
        <p:txBody>
          <a:bodyPr>
            <a:noAutofit/>
          </a:bodyPr>
          <a:p>
            <a:pPr indent="304800"/>
            <a:r>
              <a:rPr lang="zh-CN" b="0">
                <a:solidFill>
                  <a:srgbClr val="000000"/>
                </a:solidFill>
                <a:ea typeface="宋体" panose="02010600030101010101" pitchFamily="2" charset="-122"/>
              </a:rPr>
              <a:t>本次项目进行了模型选择与训练。选择适合的YOLOv5模型配置文件，根据数据集的特点和要求进行调整。使用数据集进行模型训练，通过迭代优化损失函数，使得模型能够准确地检测结直肠息肉。根据要求进行了模型评估。使用验证集或测试集评估训练好的模型性能。计算常见的目标检测指标，如准确率、召回率、精确率和F1分数，评估模型的检测效果良好。</a:t>
            </a:r>
            <a:endParaRPr lang="zh-CN" b="0">
              <a:solidFill>
                <a:srgbClr val="000000"/>
              </a:solidFill>
              <a:ea typeface="宋体" panose="02010600030101010101" pitchFamily="2" charset="-122"/>
            </a:endParaRPr>
          </a:p>
          <a:p>
            <a:pPr indent="304800"/>
            <a:r>
              <a:rPr lang="zh-CN" b="0">
                <a:solidFill>
                  <a:srgbClr val="000000"/>
                </a:solidFill>
                <a:ea typeface="宋体" panose="02010600030101010101" pitchFamily="2" charset="-122"/>
              </a:rPr>
              <a:t>我使用训练好的模型对新的结直肠图像进行推理和检测。输入结直肠图像到模型中，通过模型的前向传播过程，得到结直肠息肉的位置和类别预测结果。</a:t>
            </a:r>
            <a:r>
              <a:rPr lang="zh-CN" b="0">
                <a:ea typeface="宋体" panose="02010600030101010101" pitchFamily="2" charset="-122"/>
              </a:rPr>
              <a:t>息肉内镜光学图像通过模型后</a:t>
            </a:r>
            <a:r>
              <a:rPr lang="zh-CN" b="0">
                <a:solidFill>
                  <a:srgbClr val="000000"/>
                </a:solidFill>
                <a:ea typeface="宋体" panose="02010600030101010101" pitchFamily="2" charset="-122"/>
              </a:rPr>
              <a:t>根据模型的输出结果，将检测到的结直肠息肉标注在原始图像上，以便医生或用户可以直观地观察检测效果。</a:t>
            </a:r>
            <a:endParaRPr lang="zh-CN" b="0">
              <a:solidFill>
                <a:srgbClr val="000000"/>
              </a:solidFill>
              <a:ea typeface="宋体" panose="02010600030101010101" pitchFamily="2" charset="-122"/>
            </a:endParaRPr>
          </a:p>
          <a:p>
            <a:pPr indent="304800"/>
            <a:r>
              <a:rPr lang="zh-CN" b="0">
                <a:solidFill>
                  <a:srgbClr val="000000"/>
                </a:solidFill>
                <a:ea typeface="宋体" panose="02010600030101010101" pitchFamily="2" charset="-122"/>
              </a:rPr>
              <a:t>当然目前项目尚有不足，模型对图片噪声的抗干扰能力不足，模型鲁棒性有提升空间，对</a:t>
            </a:r>
            <a:r>
              <a:rPr lang="zh-CN" b="0">
                <a:ea typeface="宋体" panose="02010600030101010101" pitchFamily="2" charset="-122"/>
              </a:rPr>
              <a:t>内镜的质量有一定的要求。我仍将</a:t>
            </a:r>
            <a:r>
              <a:rPr lang="zh-CN" b="0">
                <a:solidFill>
                  <a:srgbClr val="000000"/>
                </a:solidFill>
                <a:ea typeface="宋体" panose="02010600030101010101" pitchFamily="2" charset="-122"/>
              </a:rPr>
              <a:t>持续改进和优化通过收集用户反馈和实际应用中的数据，不断改进和优化结直肠息肉智能检测与诊断算法。通过增加数据集的规模、调整模型的参数、优化推理过程等方式提升算法的性能。</a:t>
            </a:r>
            <a:endParaRPr lang="zh-CN" b="0">
              <a:solidFill>
                <a:srgbClr val="000000"/>
              </a:solidFill>
              <a:ea typeface="宋体" panose="02010600030101010101" pitchFamily="2" charset="-122"/>
            </a:endParaRPr>
          </a:p>
          <a:p>
            <a:pPr indent="304800"/>
            <a:r>
              <a:rPr lang="zh-CN" b="0">
                <a:solidFill>
                  <a:srgbClr val="000000"/>
                </a:solidFill>
                <a:ea typeface="宋体" panose="02010600030101010101" pitchFamily="2" charset="-122"/>
              </a:rPr>
              <a:t>基于YOLOv5实现结直肠息肉智能检测与诊断通过数据集准备、模型训练、模型评估、推理与检测、结果可视化与解释等步骤。通过不断的改进和优化，可以实现高效准确的结直肠息肉检测与诊断系统，提高医学影像的分析和诊断效率。</a:t>
            </a:r>
            <a:endParaRPr lang="zh-CN" altLang="en-US" b="0">
              <a:solidFill>
                <a:srgbClr val="00000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835789" y="1968115"/>
            <a:ext cx="1623060" cy="1264920"/>
          </a:xfrm>
          <a:prstGeom prst="rect">
            <a:avLst/>
          </a:prstGeom>
          <a:noFill/>
        </p:spPr>
        <p:txBody>
          <a:bodyPr wrap="none" rtlCol="0">
            <a:spAutoFit/>
          </a:bodyPr>
          <a:lstStyle/>
          <a:p>
            <a:pPr>
              <a:lnSpc>
                <a:spcPct val="130000"/>
              </a:lnSpc>
            </a:pPr>
            <a:r>
              <a:rPr lang="zh-CN" altLang="en-US" sz="5865" spc="-200" dirty="0">
                <a:solidFill>
                  <a:schemeClr val="accent1"/>
                </a:solidFill>
                <a:cs typeface="+mn-ea"/>
                <a:sym typeface="+mn-lt"/>
              </a:rPr>
              <a:t>完毕</a:t>
            </a:r>
            <a:endParaRPr lang="zh-CN" altLang="en-US" sz="5865" spc="-200" dirty="0">
              <a:solidFill>
                <a:schemeClr val="accent1"/>
              </a:solidFill>
              <a:cs typeface="+mn-ea"/>
              <a:sym typeface="+mn-lt"/>
            </a:endParaRPr>
          </a:p>
        </p:txBody>
      </p:sp>
      <p:sp>
        <p:nvSpPr>
          <p:cNvPr id="13" name="Line 21"/>
          <p:cNvSpPr>
            <a:spLocks noChangeShapeType="1"/>
          </p:cNvSpPr>
          <p:nvPr/>
        </p:nvSpPr>
        <p:spPr bwMode="auto">
          <a:xfrm>
            <a:off x="941085" y="3959703"/>
            <a:ext cx="513551" cy="0"/>
          </a:xfrm>
          <a:prstGeom prst="line">
            <a:avLst/>
          </a:prstGeom>
          <a:noFill/>
          <a:ln w="254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lnSpc>
                <a:spcPct val="130000"/>
              </a:lnSpc>
              <a:spcBef>
                <a:spcPct val="0"/>
              </a:spcBef>
              <a:spcAft>
                <a:spcPct val="0"/>
              </a:spcAft>
            </a:pPr>
            <a:endParaRPr lang="zh-CN" altLang="en-US" sz="2400">
              <a:ln>
                <a:solidFill>
                  <a:schemeClr val="tx1">
                    <a:lumMod val="75000"/>
                    <a:lumOff val="25000"/>
                  </a:schemeClr>
                </a:solidFill>
              </a:ln>
              <a:solidFill>
                <a:schemeClr val="tx2"/>
              </a:solidFill>
              <a:cs typeface="+mn-ea"/>
              <a:sym typeface="+mn-lt"/>
            </a:endParaRPr>
          </a:p>
        </p:txBody>
      </p:sp>
      <p:sp>
        <p:nvSpPr>
          <p:cNvPr id="14" name="矩形 13"/>
          <p:cNvSpPr/>
          <p:nvPr/>
        </p:nvSpPr>
        <p:spPr>
          <a:xfrm>
            <a:off x="824818" y="3959704"/>
            <a:ext cx="6258153" cy="400050"/>
          </a:xfrm>
          <a:prstGeom prst="rect">
            <a:avLst/>
          </a:prstGeom>
        </p:spPr>
        <p:txBody>
          <a:bodyPr wrap="square">
            <a:spAutoFit/>
          </a:bodyPr>
          <a:lstStyle/>
          <a:p>
            <a:pPr>
              <a:lnSpc>
                <a:spcPct val="150000"/>
              </a:lnSpc>
            </a:pPr>
            <a:r>
              <a:rPr lang="zh-CN" altLang="en-US" sz="1335" dirty="0">
                <a:solidFill>
                  <a:schemeClr val="tx2"/>
                </a:solidFill>
                <a:cs typeface="+mn-ea"/>
                <a:sym typeface="+mn-lt"/>
              </a:rPr>
              <a:t>陈嘉鸿</a:t>
            </a:r>
            <a:r>
              <a:rPr lang="en-US" altLang="zh-CN" sz="1335" dirty="0">
                <a:solidFill>
                  <a:schemeClr val="tx2"/>
                </a:solidFill>
                <a:cs typeface="+mn-ea"/>
                <a:sym typeface="+mn-lt"/>
              </a:rPr>
              <a:t> 2021220049</a:t>
            </a:r>
            <a:endParaRPr lang="en-US" altLang="zh-CN" sz="1335" dirty="0">
              <a:solidFill>
                <a:schemeClr val="tx2"/>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250" advClick="0" advTm="2000">
        <p:fade/>
      </p:transition>
    </mc:Choice>
    <mc:Fallback>
      <p:transition advClick="0" advTm="2000">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ISPRING_PRESENTATION_TITLE" val="201X清新点线通用模板"/>
  <p:tag name="KSO_WPP_MARK_KEY" val="2724ba7f-a134-4215-a158-c9cb9a1285f4"/>
  <p:tag name="COMMONDATA" val="eyJoZGlkIjoiOWYzNDU2OGY2NmNhNDcwNTNiYWE5MzRmODUwZTA4MmQifQ=="/>
</p:tagLst>
</file>

<file path=ppt/theme/theme1.xml><?xml version="1.0" encoding="utf-8"?>
<a:theme xmlns:a="http://schemas.openxmlformats.org/drawingml/2006/main" name="2_Office 主题​​">
  <a:themeElements>
    <a:clrScheme name="自定义 97">
      <a:dk1>
        <a:srgbClr val="080808"/>
      </a:dk1>
      <a:lt1>
        <a:srgbClr val="FFFFFF"/>
      </a:lt1>
      <a:dk2>
        <a:srgbClr val="080808"/>
      </a:dk2>
      <a:lt2>
        <a:srgbClr val="FFFFFF"/>
      </a:lt2>
      <a:accent1>
        <a:srgbClr val="087AB4"/>
      </a:accent1>
      <a:accent2>
        <a:srgbClr val="454545"/>
      </a:accent2>
      <a:accent3>
        <a:srgbClr val="087AB4"/>
      </a:accent3>
      <a:accent4>
        <a:srgbClr val="454545"/>
      </a:accent4>
      <a:accent5>
        <a:srgbClr val="087AB4"/>
      </a:accent5>
      <a:accent6>
        <a:srgbClr val="454545"/>
      </a:accent6>
      <a:hlink>
        <a:srgbClr val="8064A1"/>
      </a:hlink>
      <a:folHlink>
        <a:srgbClr val="9BBB58"/>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3A3A3A"/>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bstrac Blue">
      <a:dk1>
        <a:srgbClr val="3F3F3F"/>
      </a:dk1>
      <a:lt1>
        <a:srgbClr val="FFFFFF"/>
      </a:lt1>
      <a:dk2>
        <a:srgbClr val="313C41"/>
      </a:dk2>
      <a:lt2>
        <a:srgbClr val="FFFFFF"/>
      </a:lt2>
      <a:accent1>
        <a:srgbClr val="0D7AB5"/>
      </a:accent1>
      <a:accent2>
        <a:srgbClr val="1E8ACA"/>
      </a:accent2>
      <a:accent3>
        <a:srgbClr val="209BD3"/>
      </a:accent3>
      <a:accent4>
        <a:srgbClr val="2EA2DB"/>
      </a:accent4>
      <a:accent5>
        <a:srgbClr val="3FB5E8"/>
      </a:accent5>
      <a:accent6>
        <a:srgbClr val="39C2F2"/>
      </a:accent6>
      <a:hlink>
        <a:srgbClr val="0563C1"/>
      </a:hlink>
      <a:folHlink>
        <a:srgbClr val="954F72"/>
      </a:folHlink>
    </a:clrScheme>
    <a:fontScheme name="Maxpoint">
      <a:majorFont>
        <a:latin typeface="Lato"/>
        <a:ea typeface=""/>
        <a:cs typeface=""/>
      </a:majorFont>
      <a:minorFont>
        <a:latin typeface="Merriweath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3150</Words>
  <Application>WPS 演示</Application>
  <PresentationFormat>宽屏</PresentationFormat>
  <Paragraphs>195</Paragraphs>
  <Slides>19</Slides>
  <Notes>22</Notes>
  <HiddenSlides>0</HiddenSlides>
  <MMClips>1</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19</vt:i4>
      </vt:variant>
    </vt:vector>
  </HeadingPairs>
  <TitlesOfParts>
    <vt:vector size="38" baseType="lpstr">
      <vt:lpstr>Arial</vt:lpstr>
      <vt:lpstr>宋体</vt:lpstr>
      <vt:lpstr>Wingdings</vt:lpstr>
      <vt:lpstr>Calibri Light</vt:lpstr>
      <vt:lpstr>方正宋刻本秀楷简体</vt:lpstr>
      <vt:lpstr>Lato</vt:lpstr>
      <vt:lpstr>Segoe Print</vt:lpstr>
      <vt:lpstr>Arvo</vt:lpstr>
      <vt:lpstr>Merriweather</vt:lpstr>
      <vt:lpstr>Lato</vt:lpstr>
      <vt:lpstr>Calibri</vt:lpstr>
      <vt:lpstr>Source Sans Pro Light</vt:lpstr>
      <vt:lpstr>仿宋</vt:lpstr>
      <vt:lpstr>微软雅黑</vt:lpstr>
      <vt:lpstr>Arial Unicode MS</vt:lpstr>
      <vt:lpstr>等线</vt:lpstr>
      <vt:lpstr>Merriweather</vt:lpstr>
      <vt:lpstr>2_Office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201X清新点线通用模板</dc:title>
  <dc:creator>Eric羊</dc:creator>
  <cp:lastModifiedBy>北路终南山</cp:lastModifiedBy>
  <cp:revision>84</cp:revision>
  <dcterms:created xsi:type="dcterms:W3CDTF">2017-05-02T06:39:00Z</dcterms:created>
  <dcterms:modified xsi:type="dcterms:W3CDTF">2023-06-12T06:42:21Z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B3BD7F2E5CBD4AEDA97C0BE961170EB6_12</vt:lpwstr>
  </property>
  <property fmtid="{D5CDD505-2E9C-101B-9397-08002B2CF9AE}" pid="3" name="KSOProductBuildVer">
    <vt:lpwstr>2052-11.1.0.14309</vt:lpwstr>
  </property>
</Properties>
</file>